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0" r:id="rId5"/>
    <p:sldId id="261" r:id="rId6"/>
    <p:sldId id="258" r:id="rId7"/>
    <p:sldId id="271" r:id="rId8"/>
    <p:sldId id="262" r:id="rId9"/>
    <p:sldId id="269" r:id="rId10"/>
    <p:sldId id="272" r:id="rId11"/>
    <p:sldId id="263" r:id="rId12"/>
    <p:sldId id="270" r:id="rId13"/>
    <p:sldId id="265" r:id="rId14"/>
    <p:sldId id="266" r:id="rId15"/>
    <p:sldId id="267" r:id="rId16"/>
    <p:sldId id="26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93" d="100"/>
          <a:sy n="93" d="100"/>
        </p:scale>
        <p:origin x="77" y="1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presProps" Target="presProps.xml" /><Relationship Id="rId3" Type="http://schemas.openxmlformats.org/officeDocument/2006/relationships/slide" Target="slides/slide2.xml" /><Relationship Id="rId21" Type="http://schemas.openxmlformats.org/officeDocument/2006/relationships/tableStyles" Target="tableStyle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hyperlink" Target="https://archives.esac.esa.int/hsa/whsa/" TargetMode="External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 /><Relationship Id="rId2" Type="http://schemas.openxmlformats.org/officeDocument/2006/relationships/video" Target="../media/media1.mp4" /><Relationship Id="rId1" Type="http://schemas.microsoft.com/office/2007/relationships/media" Target="../media/media1.mp4" /><Relationship Id="rId5" Type="http://schemas.openxmlformats.org/officeDocument/2006/relationships/image" Target="../media/image7.jpeg" /><Relationship Id="rId4" Type="http://schemas.openxmlformats.org/officeDocument/2006/relationships/image" Target="../media/image6.png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 /><Relationship Id="rId2" Type="http://schemas.openxmlformats.org/officeDocument/2006/relationships/hyperlink" Target="https://www.astro.princeton.edu/~draine/Kernels.html" TargetMode="External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10.png" /><Relationship Id="rId4" Type="http://schemas.openxmlformats.org/officeDocument/2006/relationships/image" Target="../media/image90.png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 /><Relationship Id="rId2" Type="http://schemas.openxmlformats.org/officeDocument/2006/relationships/image" Target="../media/image13.jpeg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 /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 /><Relationship Id="rId2" Type="http://schemas.openxmlformats.org/officeDocument/2006/relationships/image" Target="../media/image16.png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19.png" /><Relationship Id="rId4" Type="http://schemas.openxmlformats.org/officeDocument/2006/relationships/image" Target="../media/image18.png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 /><Relationship Id="rId2" Type="http://schemas.openxmlformats.org/officeDocument/2006/relationships/image" Target="../media/image20.jpeg" /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 /><Relationship Id="rId2" Type="http://schemas.openxmlformats.org/officeDocument/2006/relationships/image" Target="../media/image22.png" /><Relationship Id="rId1" Type="http://schemas.openxmlformats.org/officeDocument/2006/relationships/slideLayout" Target="../slideLayouts/slideLayout2.xml" /><Relationship Id="rId5" Type="http://schemas.openxmlformats.org/officeDocument/2006/relationships/hyperlink" Target="https://acesse.one/G-drive" TargetMode="External" /><Relationship Id="rId4" Type="http://schemas.openxmlformats.org/officeDocument/2006/relationships/hyperlink" Target="https://l1nk.dev/dust-temp" TargetMode="External" 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Herschel data links mysterious quasar winds to furious starbursts">
            <a:extLst>
              <a:ext uri="{FF2B5EF4-FFF2-40B4-BE49-F238E27FC236}">
                <a16:creationId xmlns:a16="http://schemas.microsoft.com/office/drawing/2014/main" id="{DD3E1CDD-288A-553B-7C6C-B351DE0B7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15" y="-452"/>
            <a:ext cx="12195626" cy="685890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3123" y="1813122"/>
            <a:ext cx="10585622" cy="2014821"/>
          </a:xfrm>
          <a:ln>
            <a:noFill/>
          </a:ln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C0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From Herschel data to Temperature and column density maps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037467"/>
            <a:ext cx="914400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solidFill>
                  <a:srgbClr val="FFC0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-Rohit Chaudhary</a:t>
            </a:r>
          </a:p>
          <a:p>
            <a:r>
              <a:rPr lang="en-US" b="1" dirty="0">
                <a:solidFill>
                  <a:srgbClr val="FFC0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IISER Tirupati</a:t>
            </a:r>
          </a:p>
        </p:txBody>
      </p:sp>
      <p:pic>
        <p:nvPicPr>
          <p:cNvPr id="5" name="Picture 4" descr="A blue and grey logo&#10;&#10;AI-generated content may be incorrect.">
            <a:extLst>
              <a:ext uri="{FF2B5EF4-FFF2-40B4-BE49-F238E27FC236}">
                <a16:creationId xmlns:a16="http://schemas.microsoft.com/office/drawing/2014/main" id="{DEF40A93-6D3F-6D7B-A8C4-7249DF9198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5925" y="373289"/>
            <a:ext cx="1200150" cy="108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96A71-1C87-295B-7C40-1EF0514E4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EB042-4255-7193-A1AD-5F4A98A552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Downloading Herchel Data</a:t>
            </a:r>
            <a:endParaRPr lang="en-US" dirty="0"/>
          </a:p>
          <a:p>
            <a:r>
              <a:rPr lang="en-US"/>
              <a:t>Common Physical Unit</a:t>
            </a:r>
          </a:p>
          <a:p>
            <a:r>
              <a:rPr lang="en-US" err="1"/>
              <a:t>Convolut</a:t>
            </a:r>
            <a:r>
              <a:rPr lang="en-US"/>
              <a:t>ion to common beam size</a:t>
            </a:r>
          </a:p>
          <a:p>
            <a:r>
              <a:rPr lang="en-US"/>
              <a:t>Reprojection (regirding)</a:t>
            </a:r>
            <a:endParaRPr lang="en-US" dirty="0"/>
          </a:p>
          <a:p>
            <a:r>
              <a:rPr lang="en-US" dirty="0"/>
              <a:t>Cropping to </a:t>
            </a:r>
            <a:r>
              <a:rPr lang="en-US"/>
              <a:t>same physical area</a:t>
            </a:r>
          </a:p>
          <a:p>
            <a:r>
              <a:rPr lang="en-US"/>
              <a:t>SED fitting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59466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A4E76-5931-A245-10FD-10C747C36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Downloading</a:t>
            </a:r>
            <a:r>
              <a:rPr lang="en-US" dirty="0"/>
              <a:t> Herschel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F35D7-5E03-5247-9C2A-E9DB8CB567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3343" y="6325053"/>
            <a:ext cx="7694386" cy="63205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Link: </a:t>
            </a:r>
            <a:r>
              <a:rPr lang="en-US" dirty="0">
                <a:ea typeface="+mn-lt"/>
                <a:cs typeface="+mn-lt"/>
                <a:hlinkClick r:id="rId2"/>
              </a:rPr>
              <a:t>https://archives.esac.esa.int/hsa/whsa/</a:t>
            </a:r>
            <a:r>
              <a:rPr lang="en-US" dirty="0">
                <a:ea typeface="+mn-lt"/>
                <a:cs typeface="+mn-lt"/>
              </a:rPr>
              <a:t> </a:t>
            </a:r>
            <a:endParaRPr lang="en-US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1A7EF31-1664-370B-8A3D-E841C0A151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3784" y="1503156"/>
            <a:ext cx="8944428" cy="4831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356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5084A-7B1C-6B48-D0D8-46264CE05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Unit Conversion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0A2578-15A0-0DCF-B0B6-895D1B8F52EB}"/>
              </a:ext>
            </a:extLst>
          </p:cNvPr>
          <p:cNvSpPr txBox="1"/>
          <p:nvPr/>
        </p:nvSpPr>
        <p:spPr>
          <a:xfrm>
            <a:off x="834572" y="1895928"/>
            <a:ext cx="9470570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0" i="0" u="none" strike="noStrike" dirty="0">
                <a:solidFill>
                  <a:srgbClr val="000000"/>
                </a:solidFill>
                <a:latin typeface="Aptos"/>
                <a:ea typeface="+mn-lt"/>
                <a:cs typeface="Arial"/>
              </a:rPr>
              <a:t>All maps are converted to </a:t>
            </a:r>
            <a:r>
              <a:rPr lang="en-US" sz="2800" b="1" i="0" u="none" strike="noStrike" dirty="0">
                <a:solidFill>
                  <a:srgbClr val="000000"/>
                </a:solidFill>
                <a:latin typeface="Aptos"/>
                <a:ea typeface="+mn-lt"/>
                <a:cs typeface="Arial"/>
              </a:rPr>
              <a:t>surface brightness units (Jy/</a:t>
            </a:r>
            <a:r>
              <a:rPr lang="en-US" sz="2800" b="1" i="0" u="none" strike="noStrike" dirty="0" err="1">
                <a:solidFill>
                  <a:srgbClr val="000000"/>
                </a:solidFill>
                <a:latin typeface="Aptos"/>
                <a:ea typeface="+mn-lt"/>
                <a:cs typeface="Arial"/>
              </a:rPr>
              <a:t>sr</a:t>
            </a:r>
            <a:r>
              <a:rPr lang="en-US" sz="2800" b="1" i="0" u="none" strike="noStrike" dirty="0">
                <a:solidFill>
                  <a:srgbClr val="000000"/>
                </a:solidFill>
                <a:latin typeface="Aptos"/>
                <a:ea typeface="+mn-lt"/>
                <a:cs typeface="Arial"/>
              </a:rPr>
              <a:t>)</a:t>
            </a:r>
            <a:r>
              <a:rPr lang="en-US" sz="2800" b="0" i="0" u="none" strike="noStrike" dirty="0">
                <a:solidFill>
                  <a:srgbClr val="000000"/>
                </a:solidFill>
                <a:latin typeface="Aptos"/>
                <a:ea typeface="+mn-lt"/>
                <a:cs typeface="Arial"/>
              </a:rPr>
              <a:t>.</a:t>
            </a:r>
            <a:endParaRPr lang="en-US" sz="2800">
              <a:latin typeface="Aptos"/>
              <a:ea typeface="+mn-lt"/>
              <a:cs typeface="Arial"/>
            </a:endParaRPr>
          </a:p>
          <a:p>
            <a:r>
              <a:rPr lang="en-US" sz="2800" b="0" i="0" u="none" strike="noStrike">
                <a:solidFill>
                  <a:srgbClr val="000000"/>
                </a:solidFill>
                <a:latin typeface="Aptos"/>
                <a:ea typeface="+mn-lt"/>
                <a:cs typeface="Arial"/>
              </a:rPr>
              <a:t>This is essential because:</a:t>
            </a:r>
            <a:endParaRPr lang="en-US" sz="2800">
              <a:latin typeface="Aptos"/>
              <a:ea typeface="+mn-lt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Aptos"/>
                <a:ea typeface="+mn-lt"/>
                <a:cs typeface="Arial"/>
              </a:rPr>
              <a:t>SED fitting compares intensities across wavelengths</a:t>
            </a:r>
            <a:endParaRPr lang="en-US" sz="2800">
              <a:latin typeface="Aptos"/>
              <a:ea typeface="+mn-lt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Aptos"/>
                <a:ea typeface="+mn-lt"/>
                <a:cs typeface="Arial"/>
              </a:rPr>
              <a:t>Jy/beam values depend on beam size and are not directly comparable</a:t>
            </a:r>
            <a:endParaRPr lang="en-US" sz="2800">
              <a:latin typeface="Aptos"/>
              <a:ea typeface="+mn-lt"/>
              <a:cs typeface="Arial"/>
            </a:endParaRPr>
          </a:p>
          <a:p>
            <a:r>
              <a:rPr lang="en-US" sz="2800" b="0" i="0" u="none" strike="noStrike">
                <a:solidFill>
                  <a:srgbClr val="000000"/>
                </a:solidFill>
                <a:latin typeface="Aptos"/>
                <a:ea typeface="+mn-lt"/>
                <a:cs typeface="Arial"/>
              </a:rPr>
              <a:t>Conversion:</a:t>
            </a:r>
            <a:endParaRPr lang="en-US" sz="2800">
              <a:latin typeface="Aptos"/>
              <a:ea typeface="+mn-lt"/>
              <a:cs typeface="Arial"/>
            </a:endParaRPr>
          </a:p>
          <a:p>
            <a:endParaRPr lang="en-US" sz="2800" dirty="0">
              <a:latin typeface="Aptos" panose="020B0004020202020204"/>
              <a:cs typeface="Arial"/>
            </a:endParaRPr>
          </a:p>
          <a:p>
            <a:pPr algn="ctr"/>
            <a:endParaRPr lang="en-US" sz="2800" dirty="0">
              <a:latin typeface="Aptos" panose="020B0004020202020204"/>
              <a:cs typeface="Arial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3808AED-D6D4-E172-2AC0-6564B49DCD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85960" y="4684146"/>
            <a:ext cx="3422649" cy="747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977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4B575-E569-9D81-3ED2-956B974D3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Beam matching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18F6984-3B13-635F-A0FF-88FC26D38E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3370665"/>
              </p:ext>
            </p:extLst>
          </p:nvPr>
        </p:nvGraphicFramePr>
        <p:xfrm>
          <a:off x="1746422" y="1824548"/>
          <a:ext cx="8073081" cy="2434415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3020904">
                  <a:extLst>
                    <a:ext uri="{9D8B030D-6E8A-4147-A177-3AD203B41FA5}">
                      <a16:colId xmlns:a16="http://schemas.microsoft.com/office/drawing/2014/main" val="4225845882"/>
                    </a:ext>
                  </a:extLst>
                </a:gridCol>
                <a:gridCol w="2679626">
                  <a:extLst>
                    <a:ext uri="{9D8B030D-6E8A-4147-A177-3AD203B41FA5}">
                      <a16:colId xmlns:a16="http://schemas.microsoft.com/office/drawing/2014/main" val="265993716"/>
                    </a:ext>
                  </a:extLst>
                </a:gridCol>
                <a:gridCol w="2372551">
                  <a:extLst>
                    <a:ext uri="{9D8B030D-6E8A-4147-A177-3AD203B41FA5}">
                      <a16:colId xmlns:a16="http://schemas.microsoft.com/office/drawing/2014/main" val="4203686462"/>
                    </a:ext>
                  </a:extLst>
                </a:gridCol>
              </a:tblGrid>
              <a:tr h="486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Band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Wavelength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Beam FWHM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2641176"/>
                  </a:ext>
                </a:extLst>
              </a:tr>
              <a:tr h="48688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0"/>
                        <a:t>PACS (Red Channel)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160 µm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0"/>
                        <a:t>~12"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9229788"/>
                  </a:ext>
                </a:extLst>
              </a:tr>
              <a:tr h="486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PSW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250 µm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~18″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0053808"/>
                  </a:ext>
                </a:extLst>
              </a:tr>
              <a:tr h="486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PMW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350 µm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~25″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1588761"/>
                  </a:ext>
                </a:extLst>
              </a:tr>
              <a:tr h="486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PLW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500 µm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~36–37"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167374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8F2DF18-B57A-A879-56B5-563356B50DFF}"/>
                  </a:ext>
                </a:extLst>
              </p:cNvPr>
              <p:cNvSpPr txBox="1"/>
              <p:nvPr/>
            </p:nvSpPr>
            <p:spPr>
              <a:xfrm>
                <a:off x="5068170" y="4856737"/>
                <a:ext cx="1489510" cy="6183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b="0" i="1" smtClean="0"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 1.220 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IN" b="0" i="1" smtClean="0">
                              <a:latin typeface="Cambria Math" panose="02040503050406030204" pitchFamily="18" charset="0"/>
                            </a:rPr>
                            <m:t>λ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IN" b="0" i="1" smtClean="0">
                              <a:latin typeface="Cambria Math" panose="02040503050406030204" pitchFamily="18" charset="0"/>
                            </a:rPr>
                            <m:t>d</m:t>
                          </m:r>
                        </m:den>
                      </m:f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8F2DF18-B57A-A879-56B5-563356B50D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8170" y="4856737"/>
                <a:ext cx="1489510" cy="61837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658E894E-6453-6A10-A6ED-A6F35CD5E422}"/>
              </a:ext>
            </a:extLst>
          </p:cNvPr>
          <p:cNvSpPr txBox="1"/>
          <p:nvPr/>
        </p:nvSpPr>
        <p:spPr>
          <a:xfrm>
            <a:off x="1720169" y="4606323"/>
            <a:ext cx="37371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Herschel telescope diameter: 3.5 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F7A3EE-5030-3A1B-3E16-C9E8749F703E}"/>
              </a:ext>
            </a:extLst>
          </p:cNvPr>
          <p:cNvSpPr txBox="1"/>
          <p:nvPr/>
        </p:nvSpPr>
        <p:spPr>
          <a:xfrm>
            <a:off x="1806347" y="5572057"/>
            <a:ext cx="80131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Substituting for different values of </a:t>
            </a:r>
            <a:r>
              <a:rPr lang="el-GR" dirty="0"/>
              <a:t>λ</a:t>
            </a:r>
            <a:r>
              <a:rPr lang="en-IN" dirty="0"/>
              <a:t>, we can get the corresponding beam size (</a:t>
            </a:r>
            <a:r>
              <a:rPr lang="el-GR" dirty="0"/>
              <a:t>θ</a:t>
            </a:r>
            <a:r>
              <a:rPr lang="en-I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67854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F2A3B-8A76-7722-75B0-60E05FF33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Convolution</a:t>
            </a:r>
          </a:p>
        </p:txBody>
      </p:sp>
      <p:pic>
        <p:nvPicPr>
          <p:cNvPr id="7" name="607_653__But what is a convolution_">
            <a:hlinkClick r:id="" action="ppaction://media"/>
            <a:extLst>
              <a:ext uri="{FF2B5EF4-FFF2-40B4-BE49-F238E27FC236}">
                <a16:creationId xmlns:a16="http://schemas.microsoft.com/office/drawing/2014/main" id="{FA0FCB3D-29E3-B65E-5553-5FAAA7D21C7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035627" y="1411513"/>
            <a:ext cx="9046029" cy="50509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70B9397-582D-A374-F313-BB949B2F9B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1543" y="6493329"/>
            <a:ext cx="420914" cy="37555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0795F4F-F2AE-4ECB-2EFA-154F3FFBC64E}"/>
              </a:ext>
            </a:extLst>
          </p:cNvPr>
          <p:cNvSpPr txBox="1"/>
          <p:nvPr/>
        </p:nvSpPr>
        <p:spPr>
          <a:xfrm>
            <a:off x="9855697" y="6495142"/>
            <a:ext cx="233498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Credit: 3Blue1Brown</a:t>
            </a:r>
          </a:p>
        </p:txBody>
      </p:sp>
    </p:spTree>
    <p:extLst>
      <p:ext uri="{BB962C8B-B14F-4D97-AF65-F5344CB8AC3E}">
        <p14:creationId xmlns:p14="http://schemas.microsoft.com/office/powerpoint/2010/main" val="1039472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6057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mute="1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C76F4-6540-0A4A-3941-24AD1C7A4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Image Processing: Convolution filters and Calculation of ...">
            <a:extLst>
              <a:ext uri="{FF2B5EF4-FFF2-40B4-BE49-F238E27FC236}">
                <a16:creationId xmlns:a16="http://schemas.microsoft.com/office/drawing/2014/main" id="{265B12FE-EFD5-37B4-D2CF-07407C07AB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42974" y="1857262"/>
            <a:ext cx="6706053" cy="4777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7602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73344-62E3-11B1-E906-335E275F5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Kernel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4989B19-307E-F9A9-9EDD-B1DBDB232D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54" y="6120535"/>
            <a:ext cx="7764484" cy="58092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400">
                <a:solidFill>
                  <a:srgbClr val="000000"/>
                </a:solidFill>
                <a:ea typeface="+mn-lt"/>
                <a:cs typeface="+mn-lt"/>
                <a:hlinkClick r:id="rId2"/>
              </a:rPr>
              <a:t>https://www.astro.princeton.edu/~draine/Kernels.html</a:t>
            </a: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 </a:t>
            </a:r>
            <a:endParaRPr lang="en-US" sz="2400">
              <a:solidFill>
                <a:srgbClr val="000000"/>
              </a:solidFill>
            </a:endParaRPr>
          </a:p>
        </p:txBody>
      </p:sp>
      <p:pic>
        <p:nvPicPr>
          <p:cNvPr id="10" name="Picture 9" descr="A graph of a graph&#10;&#10;AI-generated content may be incorrect.">
            <a:extLst>
              <a:ext uri="{FF2B5EF4-FFF2-40B4-BE49-F238E27FC236}">
                <a16:creationId xmlns:a16="http://schemas.microsoft.com/office/drawing/2014/main" id="{AE2BD122-63CF-7F2F-92CB-5120E80A74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628" y="2135206"/>
            <a:ext cx="3524745" cy="28053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81C5297-86AC-C3CD-45BC-92D1D456A6AE}"/>
                  </a:ext>
                </a:extLst>
              </p:cNvPr>
              <p:cNvSpPr txBox="1"/>
              <p:nvPr/>
            </p:nvSpPr>
            <p:spPr>
              <a:xfrm>
                <a:off x="6356294" y="4195947"/>
                <a:ext cx="4687330" cy="656013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b="0" i="1" smtClean="0">
                              <a:latin typeface="Cambria Math" panose="02040503050406030204" pitchFamily="18" charset="0"/>
                            </a:rPr>
                            <m:t>FWHM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b="0" i="1" smtClean="0">
                              <a:latin typeface="Cambria Math" panose="02040503050406030204" pitchFamily="18" charset="0"/>
                            </a:rPr>
                            <m:t>kernel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= </m:t>
                      </m:r>
                      <m:rad>
                        <m:radPr>
                          <m:degHide m:val="on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Sup>
                            <m:sSubSup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FWHM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target</m:t>
                              </m:r>
                            </m:sub>
                            <m:sup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FWHM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initial</m:t>
                              </m:r>
                            </m:sub>
                            <m:sup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ra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81C5297-86AC-C3CD-45BC-92D1D456A6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6294" y="4195947"/>
                <a:ext cx="4687330" cy="65601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3E839413-4D62-5796-39BD-F506D24DF25D}"/>
              </a:ext>
            </a:extLst>
          </p:cNvPr>
          <p:cNvSpPr txBox="1"/>
          <p:nvPr/>
        </p:nvSpPr>
        <p:spPr>
          <a:xfrm>
            <a:off x="1890155" y="5086597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Spire 250 to 500 Kernel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E75CF1-0A4D-BCAB-EAC1-30937D362498}"/>
              </a:ext>
            </a:extLst>
          </p:cNvPr>
          <p:cNvSpPr txBox="1"/>
          <p:nvPr/>
        </p:nvSpPr>
        <p:spPr>
          <a:xfrm>
            <a:off x="7105403" y="1425038"/>
            <a:ext cx="330727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If gaussian kernel is assumed: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12E0D6-6BDB-3FA7-4E7F-CEE65F32C5AE}"/>
              </a:ext>
            </a:extLst>
          </p:cNvPr>
          <p:cNvSpPr txBox="1"/>
          <p:nvPr/>
        </p:nvSpPr>
        <p:spPr>
          <a:xfrm>
            <a:off x="6264234" y="4962897"/>
            <a:ext cx="545275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"/>
              <a:buChar char="•"/>
            </a:pPr>
            <a:r>
              <a:rPr lang="en-US" b="1" err="1"/>
              <a:t>FWHM_initial</a:t>
            </a:r>
            <a:r>
              <a:rPr lang="en-US"/>
              <a:t> → your current resolution </a:t>
            </a:r>
          </a:p>
          <a:p>
            <a:pPr>
              <a:buFont typeface=""/>
              <a:buChar char="•"/>
            </a:pPr>
            <a:r>
              <a:rPr lang="en-US" b="1" err="1"/>
              <a:t>FWHM_target</a:t>
            </a:r>
            <a:r>
              <a:rPr lang="en-US"/>
              <a:t> → desired (larger) beam </a:t>
            </a:r>
          </a:p>
          <a:p>
            <a:pPr>
              <a:buFont typeface=""/>
              <a:buChar char="•"/>
            </a:pPr>
            <a:r>
              <a:rPr lang="en-US" b="1" err="1"/>
              <a:t>FWHM_kernel</a:t>
            </a:r>
            <a:r>
              <a:rPr lang="en-US"/>
              <a:t> → Gaussian you must convolve with</a:t>
            </a:r>
          </a:p>
        </p:txBody>
      </p:sp>
      <p:pic>
        <p:nvPicPr>
          <p:cNvPr id="7" name="Picture 6" descr="Python - Gaussian fit - GeeksforGeeks">
            <a:extLst>
              <a:ext uri="{FF2B5EF4-FFF2-40B4-BE49-F238E27FC236}">
                <a16:creationId xmlns:a16="http://schemas.microsoft.com/office/drawing/2014/main" id="{EC3B72F8-A429-77C1-8EB8-F0F2822BEB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0712" y="1885868"/>
            <a:ext cx="3426030" cy="224509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01E34E6-8A80-C3D0-2E4A-8EADE95FF6AC}"/>
              </a:ext>
            </a:extLst>
          </p:cNvPr>
          <p:cNvSpPr txBox="1"/>
          <p:nvPr/>
        </p:nvSpPr>
        <p:spPr>
          <a:xfrm>
            <a:off x="1058883" y="1524000"/>
            <a:ext cx="4742212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solidFill>
                  <a:srgbClr val="C586C0"/>
                </a:solidFill>
                <a:highlight>
                  <a:srgbClr val="1F1F1F"/>
                </a:highlight>
                <a:ea typeface="+mn-lt"/>
                <a:cs typeface="+mn-lt"/>
              </a:rPr>
              <a:t>from</a:t>
            </a:r>
            <a:r>
              <a:rPr lang="en-US" sz="1600">
                <a:solidFill>
                  <a:srgbClr val="CCCCCC"/>
                </a:solidFill>
                <a:highlight>
                  <a:srgbClr val="1F1F1F"/>
                </a:highlight>
                <a:ea typeface="+mn-lt"/>
                <a:cs typeface="+mn-lt"/>
              </a:rPr>
              <a:t> </a:t>
            </a:r>
            <a:r>
              <a:rPr lang="en-US" sz="1600" err="1">
                <a:solidFill>
                  <a:srgbClr val="4EC9B0"/>
                </a:solidFill>
                <a:highlight>
                  <a:srgbClr val="1F1F1F"/>
                </a:highlight>
                <a:ea typeface="+mn-lt"/>
                <a:cs typeface="+mn-lt"/>
              </a:rPr>
              <a:t>astropy</a:t>
            </a:r>
            <a:r>
              <a:rPr lang="en-US" sz="1600" err="1">
                <a:solidFill>
                  <a:srgbClr val="CCCCCC"/>
                </a:solidFill>
                <a:highlight>
                  <a:srgbClr val="1F1F1F"/>
                </a:highlight>
                <a:ea typeface="+mn-lt"/>
                <a:cs typeface="+mn-lt"/>
              </a:rPr>
              <a:t>.</a:t>
            </a:r>
            <a:r>
              <a:rPr lang="en-US" sz="1600" err="1">
                <a:solidFill>
                  <a:srgbClr val="4EC9B0"/>
                </a:solidFill>
                <a:highlight>
                  <a:srgbClr val="1F1F1F"/>
                </a:highlight>
                <a:ea typeface="+mn-lt"/>
                <a:cs typeface="+mn-lt"/>
              </a:rPr>
              <a:t>convolution</a:t>
            </a:r>
            <a:r>
              <a:rPr lang="en-US" sz="1600">
                <a:solidFill>
                  <a:srgbClr val="CCCCCC"/>
                </a:solidFill>
                <a:highlight>
                  <a:srgbClr val="1F1F1F"/>
                </a:highlight>
                <a:ea typeface="+mn-lt"/>
                <a:cs typeface="+mn-lt"/>
              </a:rPr>
              <a:t> </a:t>
            </a:r>
            <a:r>
              <a:rPr lang="en-US" sz="1600">
                <a:solidFill>
                  <a:srgbClr val="C586C0"/>
                </a:solidFill>
                <a:highlight>
                  <a:srgbClr val="1F1F1F"/>
                </a:highlight>
                <a:ea typeface="+mn-lt"/>
                <a:cs typeface="+mn-lt"/>
              </a:rPr>
              <a:t>import</a:t>
            </a:r>
            <a:r>
              <a:rPr lang="en-US" sz="1600">
                <a:solidFill>
                  <a:srgbClr val="CCCCCC"/>
                </a:solidFill>
                <a:highlight>
                  <a:srgbClr val="1F1F1F"/>
                </a:highlight>
                <a:ea typeface="+mn-lt"/>
                <a:cs typeface="+mn-lt"/>
              </a:rPr>
              <a:t> </a:t>
            </a:r>
            <a:r>
              <a:rPr lang="en-US" sz="1600" err="1">
                <a:solidFill>
                  <a:srgbClr val="DCDCAA"/>
                </a:solidFill>
                <a:highlight>
                  <a:srgbClr val="1F1F1F"/>
                </a:highlight>
                <a:ea typeface="+mn-lt"/>
                <a:cs typeface="+mn-lt"/>
              </a:rPr>
              <a:t>convolve_fft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3769060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7E519-DC3F-A229-83B9-A3C53D43F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Original images</a:t>
            </a:r>
          </a:p>
        </p:txBody>
      </p:sp>
      <p:pic>
        <p:nvPicPr>
          <p:cNvPr id="4" name="Content Placeholder 3" descr="A collage of images of a moon&#10;&#10;AI-generated content may be incorrect.">
            <a:extLst>
              <a:ext uri="{FF2B5EF4-FFF2-40B4-BE49-F238E27FC236}">
                <a16:creationId xmlns:a16="http://schemas.microsoft.com/office/drawing/2014/main" id="{8E19C1C1-8941-F40D-89DB-42B2005B17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01869" y="1526268"/>
            <a:ext cx="7477261" cy="5331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3063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F49ED-D095-EB6F-2CAD-D01B1FD4E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After Convolution</a:t>
            </a:r>
          </a:p>
        </p:txBody>
      </p:sp>
      <p:pic>
        <p:nvPicPr>
          <p:cNvPr id="4" name="Content Placeholder 3" descr="A collage of images of a dog&#10;&#10;AI-generated content may be incorrect.">
            <a:extLst>
              <a:ext uri="{FF2B5EF4-FFF2-40B4-BE49-F238E27FC236}">
                <a16:creationId xmlns:a16="http://schemas.microsoft.com/office/drawing/2014/main" id="{4D806D8B-A5B6-2B3E-6A3B-F562675964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5379" y="1716768"/>
            <a:ext cx="6600169" cy="4768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579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D1F8A-A128-856A-587C-969E148B0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Reprojection (Binning) and cropping</a:t>
            </a:r>
            <a:endParaRPr lang="en-US"/>
          </a:p>
        </p:txBody>
      </p:sp>
      <p:pic>
        <p:nvPicPr>
          <p:cNvPr id="4" name="Content Placeholder 3" descr="CCD Cameras | Boyce Astro">
            <a:extLst>
              <a:ext uri="{FF2B5EF4-FFF2-40B4-BE49-F238E27FC236}">
                <a16:creationId xmlns:a16="http://schemas.microsoft.com/office/drawing/2014/main" id="{55ADB6A4-7D8D-A59D-ECED-2B9C1B5ADF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7916" r="-148" b="16312"/>
          <a:stretch>
            <a:fillRect/>
          </a:stretch>
        </p:blipFill>
        <p:spPr>
          <a:xfrm>
            <a:off x="1348228" y="2802571"/>
            <a:ext cx="6163861" cy="25278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BC6D565-FC44-99FE-8B3B-075A208B5C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2271" y="1510022"/>
            <a:ext cx="3409950" cy="51244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627260-1360-4C88-2E56-F5733B87E260}"/>
              </a:ext>
            </a:extLst>
          </p:cNvPr>
          <p:cNvSpPr txBox="1"/>
          <p:nvPr/>
        </p:nvSpPr>
        <p:spPr>
          <a:xfrm>
            <a:off x="1088571" y="1712025"/>
            <a:ext cx="441564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rgbClr val="C586C0"/>
                </a:solidFill>
                <a:highlight>
                  <a:srgbClr val="1F1F1F"/>
                </a:highlight>
                <a:ea typeface="+mn-lt"/>
                <a:cs typeface="+mn-lt"/>
              </a:rPr>
              <a:t>from</a:t>
            </a:r>
            <a:r>
              <a:rPr lang="en-US" sz="2000">
                <a:solidFill>
                  <a:srgbClr val="CCCCCC"/>
                </a:solidFill>
                <a:highlight>
                  <a:srgbClr val="1F1F1F"/>
                </a:highlight>
                <a:ea typeface="+mn-lt"/>
                <a:cs typeface="+mn-lt"/>
              </a:rPr>
              <a:t> reproject </a:t>
            </a:r>
            <a:r>
              <a:rPr lang="en-US" sz="2000">
                <a:solidFill>
                  <a:srgbClr val="C586C0"/>
                </a:solidFill>
                <a:highlight>
                  <a:srgbClr val="1F1F1F"/>
                </a:highlight>
                <a:ea typeface="+mn-lt"/>
                <a:cs typeface="+mn-lt"/>
              </a:rPr>
              <a:t>import</a:t>
            </a:r>
            <a:r>
              <a:rPr lang="en-US" sz="2000">
                <a:solidFill>
                  <a:srgbClr val="CCCCCC"/>
                </a:solidFill>
                <a:highlight>
                  <a:srgbClr val="1F1F1F"/>
                </a:highlight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CCCCCC"/>
                </a:solidFill>
                <a:highlight>
                  <a:srgbClr val="1F1F1F"/>
                </a:highlight>
                <a:ea typeface="+mn-lt"/>
                <a:cs typeface="+mn-lt"/>
              </a:rPr>
              <a:t>reproject_interp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6154437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A196F-D26D-B753-9F05-7B0C34CFA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After reprojection and cropping</a:t>
            </a:r>
          </a:p>
        </p:txBody>
      </p:sp>
      <p:pic>
        <p:nvPicPr>
          <p:cNvPr id="4" name="Content Placeholder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8B4A8B72-C01D-22D6-2096-1B6D6F3225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63713" y="1689554"/>
            <a:ext cx="7227861" cy="5340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197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91F5879-B20C-AA58-6556-2927A42AD1BD}"/>
              </a:ext>
            </a:extLst>
          </p:cNvPr>
          <p:cNvSpPr txBox="1"/>
          <p:nvPr/>
        </p:nvSpPr>
        <p:spPr>
          <a:xfrm>
            <a:off x="879928" y="3510643"/>
            <a:ext cx="7774214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0" i="0" u="none" strike="noStrike">
                <a:solidFill>
                  <a:srgbClr val="000000"/>
                </a:solidFill>
                <a:latin typeface="Aptos"/>
                <a:ea typeface="Arial"/>
                <a:cs typeface="Arial"/>
              </a:rPr>
              <a:t>Plank Function: 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br>
              <a:rPr lang="en-US"/>
            </a:br>
            <a:r>
              <a:rPr lang="en-US" b="0" i="0" u="none" strike="noStrike">
                <a:solidFill>
                  <a:srgbClr val="000000"/>
                </a:solidFill>
                <a:latin typeface="Aptos"/>
                <a:ea typeface="Arial"/>
                <a:cs typeface="Arial"/>
              </a:rPr>
              <a:t>where the amplitude </a:t>
            </a:r>
            <a:r>
              <a:rPr lang="en-US" b="1" i="0" u="none" strike="noStrike">
                <a:solidFill>
                  <a:srgbClr val="000000"/>
                </a:solidFill>
                <a:latin typeface="Aptos"/>
                <a:ea typeface="Arial"/>
                <a:cs typeface="Arial"/>
              </a:rPr>
              <a:t>A</a:t>
            </a:r>
            <a:r>
              <a:rPr lang="en-US" b="0" i="0" u="none" strike="noStrike">
                <a:solidFill>
                  <a:srgbClr val="000000"/>
                </a:solidFill>
                <a:latin typeface="Aptos"/>
                <a:ea typeface="Arial"/>
                <a:cs typeface="Arial"/>
              </a:rPr>
              <a:t> </a:t>
            </a:r>
            <a:r>
              <a:rPr lang="en-US">
                <a:solidFill>
                  <a:srgbClr val="000000"/>
                </a:solidFill>
                <a:latin typeface="Aptos"/>
                <a:ea typeface="Arial"/>
                <a:cs typeface="Arial"/>
              </a:rPr>
              <a:t>contains</a:t>
            </a:r>
            <a:r>
              <a:rPr lang="en-US" b="0" i="0" u="none" strike="noStrike">
                <a:solidFill>
                  <a:srgbClr val="000000"/>
                </a:solidFill>
                <a:latin typeface="Aptos"/>
                <a:ea typeface="Arial"/>
                <a:cs typeface="Arial"/>
              </a:rPr>
              <a:t> all the column density and opacity terms:</a:t>
            </a:r>
            <a:endParaRPr lang="en-US"/>
          </a:p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7E132A-B577-582A-5D16-950FB1FBC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Modified Blackbody (</a:t>
            </a:r>
            <a:r>
              <a:rPr lang="en-US" err="1">
                <a:ea typeface="+mj-lt"/>
                <a:cs typeface="+mj-lt"/>
              </a:rPr>
              <a:t>Greybody</a:t>
            </a:r>
            <a:r>
              <a:rPr lang="en-US">
                <a:ea typeface="+mj-lt"/>
                <a:cs typeface="+mj-lt"/>
              </a:rPr>
              <a:t>)</a:t>
            </a:r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87798B-E4F7-1AD5-A241-63D3CE300E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5181" y="2190750"/>
            <a:ext cx="2149929" cy="7674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C6C41A1-A879-8ABA-B26E-5B2AA888D3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2910" y="5345339"/>
            <a:ext cx="1828800" cy="400050"/>
          </a:xfrm>
          <a:prstGeom prst="rect">
            <a:avLst/>
          </a:prstGeom>
        </p:spPr>
      </p:pic>
      <p:pic>
        <p:nvPicPr>
          <p:cNvPr id="5" name="Content Placeholder 4" descr="A black and white image of a mathematical equation&#10;&#10;AI-generated content may be incorrect.">
            <a:extLst>
              <a:ext uri="{FF2B5EF4-FFF2-40B4-BE49-F238E27FC236}">
                <a16:creationId xmlns:a16="http://schemas.microsoft.com/office/drawing/2014/main" id="{10D414E3-2176-7A5A-3631-7BA340D212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2243816" y="4039620"/>
            <a:ext cx="2152650" cy="485775"/>
          </a:xfrm>
          <a:prstGeom prst="rect">
            <a:avLst/>
          </a:prstGeom>
        </p:spPr>
      </p:pic>
      <p:pic>
        <p:nvPicPr>
          <p:cNvPr id="9" name="Picture 8" descr="A graph with a red line and blue dots&#10;&#10;AI-generated content may be incorrect.">
            <a:extLst>
              <a:ext uri="{FF2B5EF4-FFF2-40B4-BE49-F238E27FC236}">
                <a16:creationId xmlns:a16="http://schemas.microsoft.com/office/drawing/2014/main" id="{C3F04936-174C-817E-192C-7D5A34683A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8196" y="1880280"/>
            <a:ext cx="3306537" cy="272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0733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8E3A9-FF3D-8E04-5431-A2C1F3469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Resultant map</a:t>
            </a:r>
          </a:p>
        </p:txBody>
      </p:sp>
      <p:pic>
        <p:nvPicPr>
          <p:cNvPr id="7" name="Content Placeholder 6" descr="A map of the world&#10;&#10;AI-generated content may be incorrect.">
            <a:extLst>
              <a:ext uri="{FF2B5EF4-FFF2-40B4-BE49-F238E27FC236}">
                <a16:creationId xmlns:a16="http://schemas.microsoft.com/office/drawing/2014/main" id="{2AEC9C9D-97F5-3732-800E-1F14E12C4D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38912" y="1987209"/>
            <a:ext cx="4829175" cy="4010025"/>
          </a:xfrm>
          <a:prstGeom prst="rect">
            <a:avLst/>
          </a:prstGeom>
        </p:spPr>
      </p:pic>
      <p:pic>
        <p:nvPicPr>
          <p:cNvPr id="8" name="Picture 7" descr="A map of the world&#10;&#10;AI-generated content may be incorrect.">
            <a:extLst>
              <a:ext uri="{FF2B5EF4-FFF2-40B4-BE49-F238E27FC236}">
                <a16:creationId xmlns:a16="http://schemas.microsoft.com/office/drawing/2014/main" id="{9895F8CE-1576-FE4B-2382-857FB32660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107" y="1991179"/>
            <a:ext cx="4810125" cy="401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0248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1129C-0583-610F-0DB7-463685360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Let's Try!</a:t>
            </a:r>
          </a:p>
        </p:txBody>
      </p:sp>
      <p:pic>
        <p:nvPicPr>
          <p:cNvPr id="7" name="Content Placeholder 6" descr="A qr code with dots">
            <a:extLst>
              <a:ext uri="{FF2B5EF4-FFF2-40B4-BE49-F238E27FC236}">
                <a16:creationId xmlns:a16="http://schemas.microsoft.com/office/drawing/2014/main" id="{82F0D9C6-17C0-834D-D4F7-A52073BAC9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-123" b="13100"/>
          <a:stretch>
            <a:fillRect/>
          </a:stretch>
        </p:blipFill>
        <p:spPr>
          <a:xfrm>
            <a:off x="922638" y="1445307"/>
            <a:ext cx="4227399" cy="404933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C7FA4A6-7129-8914-0448-0B8F4E72F90B}"/>
              </a:ext>
            </a:extLst>
          </p:cNvPr>
          <p:cNvSpPr txBox="1"/>
          <p:nvPr/>
        </p:nvSpPr>
        <p:spPr>
          <a:xfrm>
            <a:off x="1450012" y="5626412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 err="1"/>
              <a:t>Colab</a:t>
            </a:r>
            <a:r>
              <a:rPr lang="en-US" b="1" dirty="0"/>
              <a:t> notebook</a:t>
            </a:r>
            <a:endParaRPr lang="en-US" dirty="0"/>
          </a:p>
        </p:txBody>
      </p:sp>
      <p:pic>
        <p:nvPicPr>
          <p:cNvPr id="9" name="Picture 8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BC862D96-9F6F-5A30-AB6F-8D1F8D38F7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3020"/>
          <a:stretch>
            <a:fillRect/>
          </a:stretch>
        </p:blipFill>
        <p:spPr>
          <a:xfrm>
            <a:off x="6786594" y="1445307"/>
            <a:ext cx="4280551" cy="418110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7CC92F8-4D39-4F95-DB95-A66E7E36FD3B}"/>
              </a:ext>
            </a:extLst>
          </p:cNvPr>
          <p:cNvSpPr txBox="1"/>
          <p:nvPr/>
        </p:nvSpPr>
        <p:spPr>
          <a:xfrm>
            <a:off x="7622722" y="5631361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 err="1"/>
              <a:t>Gdrive</a:t>
            </a:r>
            <a:r>
              <a:rPr lang="en-US" b="1" dirty="0"/>
              <a:t> link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C5CE59-5586-4641-7686-CEDDD0505E64}"/>
              </a:ext>
            </a:extLst>
          </p:cNvPr>
          <p:cNvSpPr txBox="1"/>
          <p:nvPr/>
        </p:nvSpPr>
        <p:spPr>
          <a:xfrm>
            <a:off x="1496916" y="6205489"/>
            <a:ext cx="307884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+mn-lt"/>
                <a:cs typeface="+mn-lt"/>
                <a:hlinkClick r:id="rId4"/>
              </a:rPr>
              <a:t>https://l1nk.dev/dust-temp</a:t>
            </a:r>
            <a:r>
              <a:rPr lang="en-US" dirty="0">
                <a:ea typeface="+mn-lt"/>
                <a:cs typeface="+mn-lt"/>
              </a:rPr>
              <a:t> 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1F66E1-A93E-BA7C-40D6-3A4612ADED93}"/>
              </a:ext>
            </a:extLst>
          </p:cNvPr>
          <p:cNvSpPr txBox="1"/>
          <p:nvPr/>
        </p:nvSpPr>
        <p:spPr>
          <a:xfrm>
            <a:off x="7501247" y="6209805"/>
            <a:ext cx="298862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hlinkClick r:id="rId5"/>
              </a:rPr>
              <a:t>https://acesse.one/G-drive</a:t>
            </a:r>
            <a:r>
              <a:rPr lang="en-US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5237156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EBD4508-6FF4-29A2-ADEA-8085616831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Thank you!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E71E7D62-9DB9-1353-A1F0-84C9CA8E0E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11388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251</TotalTime>
  <Words>294</Words>
  <Application>Microsoft Office PowerPoint</Application>
  <PresentationFormat>Widescreen</PresentationFormat>
  <Paragraphs>66</Paragraphs>
  <Slides>16</Slides>
  <Notes>0</Notes>
  <HiddenSlides>0</HiddenSlides>
  <MMClips>1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From Herschel data to Temperature and column density maps</vt:lpstr>
      <vt:lpstr>Workflow</vt:lpstr>
      <vt:lpstr>Downloading Herschel Data</vt:lpstr>
      <vt:lpstr>Unit Conversion</vt:lpstr>
      <vt:lpstr>Beam matching</vt:lpstr>
      <vt:lpstr>Convolution</vt:lpstr>
      <vt:lpstr>PowerPoint Presentation</vt:lpstr>
      <vt:lpstr>Kernel</vt:lpstr>
      <vt:lpstr>Original images</vt:lpstr>
      <vt:lpstr>After Convolution</vt:lpstr>
      <vt:lpstr>Reprojection (Binning) and cropping</vt:lpstr>
      <vt:lpstr>After reprojection and cropping</vt:lpstr>
      <vt:lpstr>Modified Blackbody (Greybody)</vt:lpstr>
      <vt:lpstr>Resultant map</vt:lpstr>
      <vt:lpstr>Let's Try!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Herschel data to Temperature and column density maps</dc:title>
  <dc:creator/>
  <cp:lastModifiedBy>Rohit Chaudhary</cp:lastModifiedBy>
  <cp:revision>75</cp:revision>
  <dcterms:created xsi:type="dcterms:W3CDTF">2026-03-26T16:22:37Z</dcterms:created>
  <dcterms:modified xsi:type="dcterms:W3CDTF">2026-03-30T05:57:49Z</dcterms:modified>
</cp:coreProperties>
</file>