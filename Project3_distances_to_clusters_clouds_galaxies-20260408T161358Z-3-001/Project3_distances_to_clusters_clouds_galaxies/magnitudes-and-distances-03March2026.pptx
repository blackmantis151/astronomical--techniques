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_rels/presentation.xml.rels" ContentType="application/vnd.openxmlformats-package.relationships+xml"/>
  <Override PartName="/ppt/slideLayouts/_rels/slideLayout19.xml.rels" ContentType="application/vnd.openxmlformats-package.relationships+xml"/>
  <Override PartName="/ppt/slideLayouts/_rels/slideLayout13.xml.rels" ContentType="application/vnd.openxmlformats-package.relationships+xml"/>
  <Override PartName="/ppt/slideLayouts/_rels/slideLayout23.xml.rels" ContentType="application/vnd.openxmlformats-package.relationships+xml"/>
  <Override PartName="/ppt/slideLayouts/_rels/slideLayout30.xml.rels" ContentType="application/vnd.openxmlformats-package.relationships+xml"/>
  <Override PartName="/ppt/slideLayouts/_rels/slideLayout14.xml.rels" ContentType="application/vnd.openxmlformats-package.relationships+xml"/>
  <Override PartName="/ppt/slideLayouts/_rels/slideLayout29.xml.rels" ContentType="application/vnd.openxmlformats-package.relationships+xml"/>
  <Override PartName="/ppt/slideLayouts/_rels/slideLayout10.xml.rels" ContentType="application/vnd.openxmlformats-package.relationships+xml"/>
  <Override PartName="/ppt/slideLayouts/_rels/slideLayout25.xml.rels" ContentType="application/vnd.openxmlformats-package.relationships+xml"/>
  <Override PartName="/ppt/slideLayouts/_rels/slideLayout16.xml.rels" ContentType="application/vnd.openxmlformats-package.relationships+xml"/>
  <Override PartName="/ppt/slideLayouts/_rels/slideLayout32.xml.rels" ContentType="application/vnd.openxmlformats-package.relationships+xml"/>
  <Override PartName="/ppt/slideLayouts/_rels/slideLayout34.xml.rels" ContentType="application/vnd.openxmlformats-package.relationships+xml"/>
  <Override PartName="/ppt/slideLayouts/_rels/slideLayout20.xml.rels" ContentType="application/vnd.openxmlformats-package.relationships+xml"/>
  <Override PartName="/ppt/slideLayouts/_rels/slideLayout35.xml.rels" ContentType="application/vnd.openxmlformats-package.relationships+xml"/>
  <Override PartName="/ppt/slideLayouts/_rels/slideLayout33.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4.xml.rels" ContentType="application/vnd.openxmlformats-package.relationships+xml"/>
  <Override PartName="/ppt/slideLayouts/_rels/slideLayout15.xml.rels" ContentType="application/vnd.openxmlformats-package.relationships+xml"/>
  <Override PartName="/ppt/slideLayouts/_rels/slideLayout31.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22.xml.rels" ContentType="application/vnd.openxmlformats-package.relationships+xml"/>
  <Override PartName="/ppt/slideLayouts/_rels/slideLayout28.xml.rels" ContentType="application/vnd.openxmlformats-package.relationships+xml"/>
  <Override PartName="/ppt/slideLayouts/_rels/slideLayout7.xml.rels" ContentType="application/vnd.openxmlformats-package.relationships+xml"/>
  <Override PartName="/ppt/slideLayouts/_rels/slideLayout1.xml.rels" ContentType="application/vnd.openxmlformats-package.relationships+xml"/>
  <Override PartName="/ppt/slideLayouts/_rels/slideLayout6.xml.rels" ContentType="application/vnd.openxmlformats-package.relationships+xml"/>
  <Override PartName="/ppt/slideLayouts/_rels/slideLayout36.xml.rels" ContentType="application/vnd.openxmlformats-package.relationships+xml"/>
  <Override PartName="/ppt/slideLayouts/_rels/slideLayout21.xml.rels" ContentType="application/vnd.openxmlformats-package.relationships+xml"/>
  <Override PartName="/ppt/slideLayouts/_rels/slideLayout27.xml.rels" ContentType="application/vnd.openxmlformats-package.relationships+xml"/>
  <Override PartName="/ppt/slideLayouts/_rels/slideLayout5.xml.rels" ContentType="application/vnd.openxmlformats-package.relationships+xml"/>
  <Override PartName="/ppt/slideLayouts/_rels/slideLayout1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1.xml.rels" ContentType="application/vnd.openxmlformats-package.relationships+xml"/>
  <Override PartName="/ppt/slideLayouts/_rels/slideLayout26.xml.rels" ContentType="application/vnd.openxmlformats-package.relationships+xml"/>
  <Override PartName="/ppt/slideLayouts/slideLayout29.xml" ContentType="application/vnd.openxmlformats-officedocument.presentationml.slideLayout+xml"/>
  <Override PartName="/ppt/slideLayouts/slideLayout9.xml" ContentType="application/vnd.openxmlformats-officedocument.presentationml.slideLayout+xml"/>
  <Override PartName="/ppt/slideLayouts/slideLayout28.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27.xml" ContentType="application/vnd.openxmlformats-officedocument.presentationml.slideLayout+xml"/>
  <Override PartName="/ppt/slideLayouts/slideLayout7.xml" ContentType="application/vnd.openxmlformats-officedocument.presentationml.slideLayout+xml"/>
  <Override PartName="/ppt/slideLayouts/slideLayout33.xml" ContentType="application/vnd.openxmlformats-officedocument.presentationml.slideLayout+xml"/>
  <Override PartName="/ppt/slideLayouts/slideLayout10.xml" ContentType="application/vnd.openxmlformats-officedocument.presentationml.slideLayout+xml"/>
  <Override PartName="/ppt/slideLayouts/slideLayout34.xml" ContentType="application/vnd.openxmlformats-officedocument.presentationml.slideLayout+xml"/>
  <Override PartName="/ppt/slideLayouts/slideLayout11.xml" ContentType="application/vnd.openxmlformats-officedocument.presentationml.slideLayout+xml"/>
  <Override PartName="/ppt/slideLayouts/slideLayout35.xml" ContentType="application/vnd.openxmlformats-officedocument.presentationml.slideLayout+xml"/>
  <Override PartName="/ppt/slideLayouts/slideLayout12.xml" ContentType="application/vnd.openxmlformats-officedocument.presentationml.slideLayout+xml"/>
  <Override PartName="/ppt/slideLayouts/slideLayout36.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5.xml" ContentType="application/vnd.openxmlformats-officedocument.presentationml.slideLayout+xml"/>
  <Override PartName="/ppt/slideLayouts/slideLayout24.xml" ContentType="application/vnd.openxmlformats-officedocument.presentationml.slideLayout+xml"/>
  <Override PartName="/ppt/slideLayouts/slideLayout4.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19.xml" ContentType="application/vnd.openxmlformats-officedocument.presentationml.slideLayout+xml"/>
  <Override PartName="/ppt/slideLayouts/slideLayout22.xml" ContentType="application/vnd.openxmlformats-officedocument.presentationml.slideLayout+xml"/>
  <Override PartName="/ppt/slideLayouts/slideLayout2.xml" ContentType="application/vnd.openxmlformats-officedocument.presentationml.slideLayout+xml"/>
  <Override PartName="/ppt/slideLayouts/slideLayout18.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media/image58.png" ContentType="image/png"/>
  <Override PartName="/ppt/media/image46.jpeg" ContentType="image/jpeg"/>
  <Override PartName="/ppt/media/image57.png" ContentType="image/png"/>
  <Override PartName="/ppt/media/image55.jpeg" ContentType="image/jpeg"/>
  <Override PartName="/ppt/media/image43.png" ContentType="image/png"/>
  <Override PartName="/ppt/media/image40.gif" ContentType="image/gif"/>
  <Override PartName="/ppt/media/image54.jpeg" ContentType="image/jpeg"/>
  <Override PartName="/ppt/media/image53.png" ContentType="image/png"/>
  <Override PartName="/ppt/media/image52.jpeg" ContentType="image/jpeg"/>
  <Override PartName="/ppt/media/image1.png" ContentType="image/png"/>
  <Override PartName="/ppt/media/image45.jpeg" ContentType="image/jpeg"/>
  <Override PartName="/ppt/media/image48.png" ContentType="image/png"/>
  <Override PartName="/ppt/media/image44.jpeg" ContentType="image/jpeg"/>
  <Override PartName="/ppt/media/image38.png" ContentType="image/png"/>
  <Override PartName="/ppt/media/image41.png" ContentType="image/png"/>
  <Override PartName="/ppt/media/image33.jpeg" ContentType="image/jpeg"/>
  <Override PartName="/ppt/media/image30.jpeg" ContentType="image/jpeg"/>
  <Override PartName="/ppt/media/image2.png" ContentType="image/png"/>
  <Override PartName="/ppt/media/image32.png" ContentType="image/png"/>
  <Override PartName="/ppt/media/image25.png" ContentType="image/png"/>
  <Override PartName="/ppt/media/image19.jpeg" ContentType="image/jpeg"/>
  <Override PartName="/ppt/media/image24.jpeg" ContentType="image/jpeg"/>
  <Override PartName="/ppt/media/image20.jpeg" ContentType="image/jpeg"/>
  <Override PartName="/ppt/media/image60.png" ContentType="image/png"/>
  <Override PartName="/ppt/media/image21.jpeg" ContentType="image/jpeg"/>
  <Override PartName="/ppt/media/image63.jpeg" ContentType="image/jpeg"/>
  <Override PartName="/ppt/media/image29.png" ContentType="image/png"/>
  <Override PartName="/ppt/media/image71.png" ContentType="image/png"/>
  <Override PartName="/ppt/media/image31.png" ContentType="image/png"/>
  <Override PartName="/ppt/media/image68.jpeg" ContentType="image/jpeg"/>
  <Override PartName="/ppt/media/image11.png" ContentType="image/png"/>
  <Override PartName="/ppt/media/image76.png" ContentType="image/png"/>
  <Override PartName="/ppt/media/image18.jpeg" ContentType="image/jpeg"/>
  <Override PartName="/ppt/media/image73.png" ContentType="image/png"/>
  <Override PartName="/ppt/media/image26.jpeg" ContentType="image/jpeg"/>
  <Override PartName="/ppt/media/image72.png" ContentType="image/png"/>
  <Override PartName="/ppt/media/image65.jpeg" ContentType="image/jpeg"/>
  <Override PartName="/ppt/media/image49.png" ContentType="image/png"/>
  <Override PartName="/ppt/media/image59.png" ContentType="image/png"/>
  <Override PartName="/ppt/media/image66.jpeg" ContentType="image/jpeg"/>
  <Override PartName="/ppt/media/image56.gif" ContentType="image/gif"/>
  <Override PartName="/ppt/media/image8.png" ContentType="image/png"/>
  <Override PartName="/ppt/media/image23.jpeg" ContentType="image/jpeg"/>
  <Override PartName="/ppt/media/image69.png" ContentType="image/png"/>
  <Override PartName="/ppt/media/image67.jpeg" ContentType="image/jpeg"/>
  <Override PartName="/ppt/media/image70.png" ContentType="image/png"/>
  <Override PartName="/ppt/media/image51.jpeg" ContentType="image/jpeg"/>
  <Override PartName="/ppt/media/image28.jpeg" ContentType="image/jpeg"/>
  <Override PartName="/ppt/media/image61.jpeg" ContentType="image/jpeg"/>
  <Override PartName="/ppt/media/image74.png" ContentType="image/png"/>
  <Override PartName="/ppt/media/image16.jpeg" ContentType="image/jpeg"/>
  <Override PartName="/ppt/media/image15.png" ContentType="image/png"/>
  <Override PartName="/ppt/media/image3.png" ContentType="image/png"/>
  <Override PartName="/ppt/media/image12.jpeg" ContentType="image/jpeg"/>
  <Override PartName="/ppt/media/image17.png" ContentType="image/png"/>
  <Override PartName="/ppt/media/image5.png" ContentType="image/png"/>
  <Override PartName="/ppt/media/image27.jpeg" ContentType="image/jpeg"/>
  <Override PartName="/ppt/media/image50.jpeg" ContentType="image/jpeg"/>
  <Override PartName="/ppt/media/image10.png" ContentType="image/png"/>
  <Override PartName="/ppt/media/image35.jpeg" ContentType="image/jpeg"/>
  <Override PartName="/ppt/media/image47.png" ContentType="image/png"/>
  <Override PartName="/ppt/media/image42.jpeg" ContentType="image/jpeg"/>
  <Override PartName="/ppt/media/image6.png" ContentType="image/png"/>
  <Override PartName="/ppt/media/image36.png" ContentType="image/png"/>
  <Override PartName="/ppt/media/image75.png" ContentType="image/png"/>
  <Override PartName="/ppt/media/image22.jpeg" ContentType="image/jpeg"/>
  <Override PartName="/ppt/media/image9.png" ContentType="image/png"/>
  <Override PartName="/ppt/media/image64.jpeg" ContentType="image/jpeg"/>
  <Override PartName="/ppt/media/image39.png" ContentType="image/png"/>
  <Override PartName="/ppt/media/image62.jpeg" ContentType="image/jpeg"/>
  <Override PartName="/ppt/media/image7.png" ContentType="image/png"/>
  <Override PartName="/ppt/media/image34.jpeg" ContentType="image/jpeg"/>
  <Override PartName="/ppt/media/image37.png" ContentType="image/png"/>
  <Override PartName="/ppt/media/image14.jpeg" ContentType="image/jpeg"/>
  <Override PartName="/ppt/media/image4.png" ContentType="image/png"/>
  <Override PartName="/ppt/media/image13.gif" ContentType="image/gif"/>
  <Override PartName="/ppt/presProps.xml" ContentType="application/vnd.openxmlformats-officedocument.presentationml.presProps+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5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57.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40.xml" ContentType="application/vnd.openxmlformats-officedocument.presentationml.slide+xml"/>
  <Override PartName="/ppt/slides/slide6.xml" ContentType="application/vnd.openxmlformats-officedocument.presentationml.slide+xml"/>
  <Override PartName="/ppt/slides/slide41.xml" ContentType="application/vnd.openxmlformats-officedocument.presentationml.slide+xml"/>
  <Override PartName="/ppt/slides/slide7.xml" ContentType="application/vnd.openxmlformats-officedocument.presentationml.slide+xml"/>
  <Override PartName="/ppt/slides/slide42.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39.xml" ContentType="application/vnd.openxmlformats-officedocument.presentationml.slide+xml"/>
  <Override PartName="/ppt/slides/slide50.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48.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_rels/slide47.xml.rels" ContentType="application/vnd.openxmlformats-package.relationships+xml"/>
  <Override PartName="/ppt/slides/_rels/slide54.xml.rels" ContentType="application/vnd.openxmlformats-package.relationships+xml"/>
  <Override PartName="/ppt/slides/_rels/slide4.xml.rels" ContentType="application/vnd.openxmlformats-package.relationships+xml"/>
  <Override PartName="/ppt/slides/_rels/slide8.xml.rels" ContentType="application/vnd.openxmlformats-package.relationships+xml"/>
  <Override PartName="/ppt/slides/_rels/slide43.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21.xml.rels" ContentType="application/vnd.openxmlformats-package.relationships+xml"/>
  <Override PartName="/ppt/slides/_rels/slide27.xml.rels" ContentType="application/vnd.openxmlformats-package.relationships+xml"/>
  <Override PartName="/ppt/slides/_rels/slide11.xml.rels" ContentType="application/vnd.openxmlformats-package.relationships+xml"/>
  <Override PartName="/ppt/slides/_rels/slide17.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44.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22.xml.rels" ContentType="application/vnd.openxmlformats-package.relationships+xml"/>
  <Override PartName="/ppt/slides/_rels/slide28.xml.rels" ContentType="application/vnd.openxmlformats-package.relationships+xml"/>
  <Override PartName="/ppt/slides/_rels/slide12.xml.rels" ContentType="application/vnd.openxmlformats-package.relationships+xml"/>
  <Override PartName="/ppt/slides/_rels/slide18.xml.rels" ContentType="application/vnd.openxmlformats-package.relationships+xml"/>
  <Override PartName="/ppt/slides/_rels/slide13.xml.rels" ContentType="application/vnd.openxmlformats-package.relationships+xml"/>
  <Override PartName="/ppt/slides/_rels/slide19.xml.rels" ContentType="application/vnd.openxmlformats-package.relationships+xml"/>
  <Override PartName="/ppt/slides/_rels/slide31.xml.rels" ContentType="application/vnd.openxmlformats-package.relationships+xml"/>
  <Override PartName="/ppt/slides/_rels/slide39.xml.rels" ContentType="application/vnd.openxmlformats-package.relationships+xml"/>
  <Override PartName="/ppt/slides/_rels/slide15.xml.rels" ContentType="application/vnd.openxmlformats-package.relationships+xml"/>
  <Override PartName="/ppt/slides/_rels/slide24.xml.rels" ContentType="application/vnd.openxmlformats-package.relationships+xml"/>
  <Override PartName="/ppt/slides/_rels/slide53.xml.rels" ContentType="application/vnd.openxmlformats-package.relationships+xml"/>
  <Override PartName="/ppt/slides/_rels/slide46.xml.rels" ContentType="application/vnd.openxmlformats-package.relationships+xml"/>
  <Override PartName="/ppt/slides/_rels/slide45.xml.rels" ContentType="application/vnd.openxmlformats-package.relationships+xml"/>
  <Override PartName="/ppt/slides/_rels/slide14.xml.rels" ContentType="application/vnd.openxmlformats-package.relationships+xml"/>
  <Override PartName="/ppt/slides/_rels/slide30.xml.rels" ContentType="application/vnd.openxmlformats-package.relationships+xml"/>
  <Override PartName="/ppt/slides/_rels/slide29.xml.rels" ContentType="application/vnd.openxmlformats-package.relationships+xml"/>
  <Override PartName="/ppt/slides/_rels/slide38.xml.rels" ContentType="application/vnd.openxmlformats-package.relationships+xml"/>
  <Override PartName="/ppt/slides/_rels/slide23.xml.rels" ContentType="application/vnd.openxmlformats-package.relationships+xml"/>
  <Override PartName="/ppt/slides/_rels/slide52.xml.rels" ContentType="application/vnd.openxmlformats-package.relationships+xml"/>
  <Override PartName="/ppt/slides/_rels/slide58.xml.rels" ContentType="application/vnd.openxmlformats-package.relationships+xml"/>
  <Override PartName="/ppt/slides/_rels/slide1.xml.rels" ContentType="application/vnd.openxmlformats-package.relationships+xml"/>
  <Override PartName="/ppt/slides/_rels/slide20.xml.rels" ContentType="application/vnd.openxmlformats-package.relationships+xml"/>
  <Override PartName="/ppt/slides/_rels/slide51.xml.rels" ContentType="application/vnd.openxmlformats-package.relationships+xml"/>
  <Override PartName="/ppt/slides/_rels/slide35.xml.rels" ContentType="application/vnd.openxmlformats-package.relationships+xml"/>
  <Override PartName="/ppt/slides/_rels/slide57.xml.rels" ContentType="application/vnd.openxmlformats-package.relationships+xml"/>
  <Override PartName="/ppt/slides/_rels/slide42.xml.rels" ContentType="application/vnd.openxmlformats-package.relationships+xml"/>
  <Override PartName="/ppt/slides/_rels/slide7.xml.rels" ContentType="application/vnd.openxmlformats-package.relationships+xml"/>
  <Override PartName="/ppt/slides/_rels/slide50.xml.rels" ContentType="application/vnd.openxmlformats-package.relationships+xml"/>
  <Override PartName="/ppt/slides/_rels/slide34.xml.rels" ContentType="application/vnd.openxmlformats-package.relationships+xml"/>
  <Override PartName="/ppt/slides/_rels/slide49.xml.rels" ContentType="application/vnd.openxmlformats-package.relationships+xml"/>
  <Override PartName="/ppt/slides/_rels/slide41.xml.rels" ContentType="application/vnd.openxmlformats-package.relationships+xml"/>
  <Override PartName="/ppt/slides/_rels/slide56.xml.rels" ContentType="application/vnd.openxmlformats-package.relationships+xml"/>
  <Override PartName="/ppt/slides/_rels/slide6.xml.rels" ContentType="application/vnd.openxmlformats-package.relationships+xml"/>
  <Override PartName="/ppt/slides/_rels/slide40.xml.rels" ContentType="application/vnd.openxmlformats-package.relationships+xml"/>
  <Override PartName="/ppt/slides/_rels/slide55.xml.rels" ContentType="application/vnd.openxmlformats-package.relationships+xml"/>
  <Override PartName="/ppt/slides/_rels/slide5.xml.rels" ContentType="application/vnd.openxmlformats-package.relationships+xml"/>
  <Override PartName="/ppt/slides/_rels/slide33.xml.rels" ContentType="application/vnd.openxmlformats-package.relationships+xml"/>
  <Override PartName="/ppt/slides/_rels/slide48.xml.rels" ContentType="application/vnd.openxmlformats-package.relationships+xml"/>
  <Override PartName="/ppt/slides/_rels/slide32.xml.rels" ContentType="application/vnd.openxmlformats-package.relationships+xml"/>
  <Override PartName="/ppt/slides/_rels/slide10.xml.rels" ContentType="application/vnd.openxmlformats-package.relationships+xml"/>
  <Override PartName="/ppt/slides/_rels/slide16.xml.rels" ContentType="application/vnd.openxmlformats-package.relationships+xml"/>
  <Override PartName="/ppt/slides/_rels/slide25.xml.rels" ContentType="application/vnd.openxmlformats-package.relationships+xml"/>
  <Override PartName="/ppt/slides/slide30.xml" ContentType="application/vnd.openxmlformats-officedocument.presentationml.slide+xml"/>
  <Override PartName="/ppt/slides/slide49.xml" ContentType="application/vnd.openxmlformats-officedocument.presentationml.slide+xml"/>
  <Override PartName="/ppt/slides/slide12.xml" ContentType="application/vnd.openxmlformats-officedocument.presentationml.slide+xml"/>
  <Override PartName="/ppt/slides/slide10.xml" ContentType="application/vnd.openxmlformats-officedocument.presentationml.slide+xml"/>
  <Override PartName="/ppt/slides/slide47.xml" ContentType="application/vnd.openxmlformats-officedocument.presentationml.slide+xml"/>
  <Override PartName="/ppt/slides/slide9.xml" ContentType="application/vnd.openxmlformats-officedocument.presentationml.slide+xml"/>
  <Override PartName="/ppt/slides/slide44.xml" ContentType="application/vnd.openxmlformats-officedocument.presentationml.slide+xml"/>
  <Override PartName="/ppt/slides/slide8.xml" ContentType="application/vnd.openxmlformats-officedocument.presentationml.slide+xml"/>
  <Override PartName="/ppt/slides/slide43.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Lst>
  <p:sldSz cx="13004800" cy="97536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slide" Target="slides/slide52.xml"/><Relationship Id="rId57" Type="http://schemas.openxmlformats.org/officeDocument/2006/relationships/slide" Target="slides/slide53.xml"/><Relationship Id="rId58" Type="http://schemas.openxmlformats.org/officeDocument/2006/relationships/slide" Target="slides/slide54.xml"/><Relationship Id="rId59" Type="http://schemas.openxmlformats.org/officeDocument/2006/relationships/slide" Target="slides/slide55.xml"/><Relationship Id="rId60" Type="http://schemas.openxmlformats.org/officeDocument/2006/relationships/slide" Target="slides/slide56.xml"/><Relationship Id="rId61" Type="http://schemas.openxmlformats.org/officeDocument/2006/relationships/slide" Target="slides/slide57.xml"/><Relationship Id="rId62" Type="http://schemas.openxmlformats.org/officeDocument/2006/relationships/slide" Target="slides/slide58.xml"/><Relationship Id="rId6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50160" y="389160"/>
            <a:ext cx="11703600" cy="162828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 name="PlaceHolder 2"/>
          <p:cNvSpPr>
            <a:spLocks noGrp="1"/>
          </p:cNvSpPr>
          <p:nvPr>
            <p:ph type="subTitle"/>
          </p:nvPr>
        </p:nvSpPr>
        <p:spPr>
          <a:xfrm>
            <a:off x="650160" y="2282040"/>
            <a:ext cx="11703600" cy="565632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50160" y="389160"/>
            <a:ext cx="11703600" cy="162828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5" name="PlaceHolder 2"/>
          <p:cNvSpPr>
            <a:spLocks noGrp="1"/>
          </p:cNvSpPr>
          <p:nvPr>
            <p:ph/>
          </p:nvPr>
        </p:nvSpPr>
        <p:spPr>
          <a:xfrm>
            <a:off x="650160" y="2282040"/>
            <a:ext cx="11703600" cy="565632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50160" y="389160"/>
            <a:ext cx="11703600" cy="162828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7" name="PlaceHolder 2"/>
          <p:cNvSpPr>
            <a:spLocks noGrp="1"/>
          </p:cNvSpPr>
          <p:nvPr>
            <p:ph/>
          </p:nvPr>
        </p:nvSpPr>
        <p:spPr>
          <a:xfrm>
            <a:off x="650160" y="2282040"/>
            <a:ext cx="5711040" cy="5656320"/>
          </a:xfrm>
          <a:prstGeom prst="rect">
            <a:avLst/>
          </a:prstGeom>
          <a:noFill/>
          <a:ln w="0">
            <a:noFill/>
          </a:ln>
        </p:spPr>
        <p:txBody>
          <a:bodyPr lIns="0" rIns="0" tIns="0" bIns="0" anchor="t">
            <a:normAutofit/>
          </a:bodyPr>
          <a:p>
            <a:endParaRPr b="0" lang="en-IN" sz="3200" spc="-1" strike="noStrike">
              <a:latin typeface="Arial"/>
            </a:endParaRPr>
          </a:p>
        </p:txBody>
      </p:sp>
      <p:sp>
        <p:nvSpPr>
          <p:cNvPr id="8" name="PlaceHolder 3"/>
          <p:cNvSpPr>
            <a:spLocks noGrp="1"/>
          </p:cNvSpPr>
          <p:nvPr>
            <p:ph/>
          </p:nvPr>
        </p:nvSpPr>
        <p:spPr>
          <a:xfrm>
            <a:off x="6647040" y="2282040"/>
            <a:ext cx="5711040" cy="565632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50160" y="389160"/>
            <a:ext cx="11703600" cy="1628280"/>
          </a:xfrm>
          <a:prstGeom prst="rect">
            <a:avLst/>
          </a:prstGeom>
          <a:noFill/>
          <a:ln w="0">
            <a:noFill/>
          </a:ln>
        </p:spPr>
        <p:txBody>
          <a:bodyPr lIns="0" rIns="0" tIns="0" bIns="0" anchor="ctr">
            <a:noAutofit/>
          </a:bodyPr>
          <a:p>
            <a:pPr algn="ctr">
              <a:buNone/>
            </a:pPr>
            <a:endParaRPr b="0" lang="en-IN"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50160" y="389160"/>
            <a:ext cx="11703600" cy="754920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50160" y="389160"/>
            <a:ext cx="11703600" cy="162828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2" name="PlaceHolder 2"/>
          <p:cNvSpPr>
            <a:spLocks noGrp="1"/>
          </p:cNvSpPr>
          <p:nvPr>
            <p:ph/>
          </p:nvPr>
        </p:nvSpPr>
        <p:spPr>
          <a:xfrm>
            <a:off x="650160" y="2282040"/>
            <a:ext cx="5711040" cy="2697840"/>
          </a:xfrm>
          <a:prstGeom prst="rect">
            <a:avLst/>
          </a:prstGeom>
          <a:noFill/>
          <a:ln w="0">
            <a:noFill/>
          </a:ln>
        </p:spPr>
        <p:txBody>
          <a:bodyPr lIns="0" rIns="0" tIns="0" bIns="0" anchor="t">
            <a:normAutofit/>
          </a:bodyPr>
          <a:p>
            <a:endParaRPr b="0" lang="en-IN" sz="3200" spc="-1" strike="noStrike">
              <a:latin typeface="Arial"/>
            </a:endParaRPr>
          </a:p>
        </p:txBody>
      </p:sp>
      <p:sp>
        <p:nvSpPr>
          <p:cNvPr id="13" name="PlaceHolder 3"/>
          <p:cNvSpPr>
            <a:spLocks noGrp="1"/>
          </p:cNvSpPr>
          <p:nvPr>
            <p:ph/>
          </p:nvPr>
        </p:nvSpPr>
        <p:spPr>
          <a:xfrm>
            <a:off x="6647040" y="2282040"/>
            <a:ext cx="5711040" cy="5656320"/>
          </a:xfrm>
          <a:prstGeom prst="rect">
            <a:avLst/>
          </a:prstGeom>
          <a:noFill/>
          <a:ln w="0">
            <a:noFill/>
          </a:ln>
        </p:spPr>
        <p:txBody>
          <a:bodyPr lIns="0" rIns="0" tIns="0" bIns="0" anchor="t">
            <a:normAutofit/>
          </a:bodyPr>
          <a:p>
            <a:endParaRPr b="0" lang="en-IN" sz="3200" spc="-1" strike="noStrike">
              <a:latin typeface="Arial"/>
            </a:endParaRPr>
          </a:p>
        </p:txBody>
      </p:sp>
      <p:sp>
        <p:nvSpPr>
          <p:cNvPr id="14" name="PlaceHolder 4"/>
          <p:cNvSpPr>
            <a:spLocks noGrp="1"/>
          </p:cNvSpPr>
          <p:nvPr>
            <p:ph/>
          </p:nvPr>
        </p:nvSpPr>
        <p:spPr>
          <a:xfrm>
            <a:off x="650160" y="5236560"/>
            <a:ext cx="5711040" cy="26978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50160" y="389160"/>
            <a:ext cx="11703600" cy="162828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6" name="PlaceHolder 2"/>
          <p:cNvSpPr>
            <a:spLocks noGrp="1"/>
          </p:cNvSpPr>
          <p:nvPr>
            <p:ph/>
          </p:nvPr>
        </p:nvSpPr>
        <p:spPr>
          <a:xfrm>
            <a:off x="650160" y="2282040"/>
            <a:ext cx="5711040" cy="5656320"/>
          </a:xfrm>
          <a:prstGeom prst="rect">
            <a:avLst/>
          </a:prstGeom>
          <a:noFill/>
          <a:ln w="0">
            <a:noFill/>
          </a:ln>
        </p:spPr>
        <p:txBody>
          <a:bodyPr lIns="0" rIns="0" tIns="0" bIns="0" anchor="t">
            <a:normAutofit/>
          </a:bodyPr>
          <a:p>
            <a:endParaRPr b="0" lang="en-IN" sz="3200" spc="-1" strike="noStrike">
              <a:latin typeface="Arial"/>
            </a:endParaRPr>
          </a:p>
        </p:txBody>
      </p:sp>
      <p:sp>
        <p:nvSpPr>
          <p:cNvPr id="17" name="PlaceHolder 3"/>
          <p:cNvSpPr>
            <a:spLocks noGrp="1"/>
          </p:cNvSpPr>
          <p:nvPr>
            <p:ph/>
          </p:nvPr>
        </p:nvSpPr>
        <p:spPr>
          <a:xfrm>
            <a:off x="6647040" y="2282040"/>
            <a:ext cx="5711040" cy="2697840"/>
          </a:xfrm>
          <a:prstGeom prst="rect">
            <a:avLst/>
          </a:prstGeom>
          <a:noFill/>
          <a:ln w="0">
            <a:noFill/>
          </a:ln>
        </p:spPr>
        <p:txBody>
          <a:bodyPr lIns="0" rIns="0" tIns="0" bIns="0" anchor="t">
            <a:normAutofit/>
          </a:bodyPr>
          <a:p>
            <a:endParaRPr b="0" lang="en-IN" sz="3200" spc="-1" strike="noStrike">
              <a:latin typeface="Arial"/>
            </a:endParaRPr>
          </a:p>
        </p:txBody>
      </p:sp>
      <p:sp>
        <p:nvSpPr>
          <p:cNvPr id="18" name="PlaceHolder 4"/>
          <p:cNvSpPr>
            <a:spLocks noGrp="1"/>
          </p:cNvSpPr>
          <p:nvPr>
            <p:ph/>
          </p:nvPr>
        </p:nvSpPr>
        <p:spPr>
          <a:xfrm>
            <a:off x="6647040" y="5236560"/>
            <a:ext cx="5711040" cy="26978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50160" y="389160"/>
            <a:ext cx="11703600" cy="162828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0" name="PlaceHolder 2"/>
          <p:cNvSpPr>
            <a:spLocks noGrp="1"/>
          </p:cNvSpPr>
          <p:nvPr>
            <p:ph/>
          </p:nvPr>
        </p:nvSpPr>
        <p:spPr>
          <a:xfrm>
            <a:off x="650160" y="2282040"/>
            <a:ext cx="5711040" cy="2697840"/>
          </a:xfrm>
          <a:prstGeom prst="rect">
            <a:avLst/>
          </a:prstGeom>
          <a:noFill/>
          <a:ln w="0">
            <a:noFill/>
          </a:ln>
        </p:spPr>
        <p:txBody>
          <a:bodyPr lIns="0" rIns="0" tIns="0" bIns="0" anchor="t">
            <a:normAutofit/>
          </a:bodyPr>
          <a:p>
            <a:endParaRPr b="0" lang="en-IN" sz="3200" spc="-1" strike="noStrike">
              <a:latin typeface="Arial"/>
            </a:endParaRPr>
          </a:p>
        </p:txBody>
      </p:sp>
      <p:sp>
        <p:nvSpPr>
          <p:cNvPr id="21" name="PlaceHolder 3"/>
          <p:cNvSpPr>
            <a:spLocks noGrp="1"/>
          </p:cNvSpPr>
          <p:nvPr>
            <p:ph/>
          </p:nvPr>
        </p:nvSpPr>
        <p:spPr>
          <a:xfrm>
            <a:off x="6647040" y="2282040"/>
            <a:ext cx="5711040" cy="2697840"/>
          </a:xfrm>
          <a:prstGeom prst="rect">
            <a:avLst/>
          </a:prstGeom>
          <a:noFill/>
          <a:ln w="0">
            <a:noFill/>
          </a:ln>
        </p:spPr>
        <p:txBody>
          <a:bodyPr lIns="0" rIns="0" tIns="0" bIns="0" anchor="t">
            <a:normAutofit/>
          </a:bodyPr>
          <a:p>
            <a:endParaRPr b="0" lang="en-IN" sz="3200" spc="-1" strike="noStrike">
              <a:latin typeface="Arial"/>
            </a:endParaRPr>
          </a:p>
        </p:txBody>
      </p:sp>
      <p:sp>
        <p:nvSpPr>
          <p:cNvPr id="22" name="PlaceHolder 4"/>
          <p:cNvSpPr>
            <a:spLocks noGrp="1"/>
          </p:cNvSpPr>
          <p:nvPr>
            <p:ph/>
          </p:nvPr>
        </p:nvSpPr>
        <p:spPr>
          <a:xfrm>
            <a:off x="650160" y="5236560"/>
            <a:ext cx="11703600" cy="26978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50160" y="389160"/>
            <a:ext cx="11703600" cy="162828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4" name="PlaceHolder 2"/>
          <p:cNvSpPr>
            <a:spLocks noGrp="1"/>
          </p:cNvSpPr>
          <p:nvPr>
            <p:ph/>
          </p:nvPr>
        </p:nvSpPr>
        <p:spPr>
          <a:xfrm>
            <a:off x="650160" y="2282040"/>
            <a:ext cx="11703600" cy="2697840"/>
          </a:xfrm>
          <a:prstGeom prst="rect">
            <a:avLst/>
          </a:prstGeom>
          <a:noFill/>
          <a:ln w="0">
            <a:noFill/>
          </a:ln>
        </p:spPr>
        <p:txBody>
          <a:bodyPr lIns="0" rIns="0" tIns="0" bIns="0" anchor="t">
            <a:normAutofit/>
          </a:bodyPr>
          <a:p>
            <a:endParaRPr b="0" lang="en-IN" sz="3200" spc="-1" strike="noStrike">
              <a:latin typeface="Arial"/>
            </a:endParaRPr>
          </a:p>
        </p:txBody>
      </p:sp>
      <p:sp>
        <p:nvSpPr>
          <p:cNvPr id="25" name="PlaceHolder 3"/>
          <p:cNvSpPr>
            <a:spLocks noGrp="1"/>
          </p:cNvSpPr>
          <p:nvPr>
            <p:ph/>
          </p:nvPr>
        </p:nvSpPr>
        <p:spPr>
          <a:xfrm>
            <a:off x="650160" y="5236560"/>
            <a:ext cx="11703600" cy="26978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50160" y="389160"/>
            <a:ext cx="11703600" cy="162828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7" name="PlaceHolder 2"/>
          <p:cNvSpPr>
            <a:spLocks noGrp="1"/>
          </p:cNvSpPr>
          <p:nvPr>
            <p:ph/>
          </p:nvPr>
        </p:nvSpPr>
        <p:spPr>
          <a:xfrm>
            <a:off x="650160" y="2282040"/>
            <a:ext cx="5711040" cy="2697840"/>
          </a:xfrm>
          <a:prstGeom prst="rect">
            <a:avLst/>
          </a:prstGeom>
          <a:noFill/>
          <a:ln w="0">
            <a:noFill/>
          </a:ln>
        </p:spPr>
        <p:txBody>
          <a:bodyPr lIns="0" rIns="0" tIns="0" bIns="0" anchor="t">
            <a:normAutofit/>
          </a:bodyPr>
          <a:p>
            <a:endParaRPr b="0" lang="en-IN" sz="3200" spc="-1" strike="noStrike">
              <a:latin typeface="Arial"/>
            </a:endParaRPr>
          </a:p>
        </p:txBody>
      </p:sp>
      <p:sp>
        <p:nvSpPr>
          <p:cNvPr id="28" name="PlaceHolder 3"/>
          <p:cNvSpPr>
            <a:spLocks noGrp="1"/>
          </p:cNvSpPr>
          <p:nvPr>
            <p:ph/>
          </p:nvPr>
        </p:nvSpPr>
        <p:spPr>
          <a:xfrm>
            <a:off x="6647040" y="2282040"/>
            <a:ext cx="5711040" cy="2697840"/>
          </a:xfrm>
          <a:prstGeom prst="rect">
            <a:avLst/>
          </a:prstGeom>
          <a:noFill/>
          <a:ln w="0">
            <a:noFill/>
          </a:ln>
        </p:spPr>
        <p:txBody>
          <a:bodyPr lIns="0" rIns="0" tIns="0" bIns="0" anchor="t">
            <a:normAutofit/>
          </a:bodyPr>
          <a:p>
            <a:endParaRPr b="0" lang="en-IN" sz="3200" spc="-1" strike="noStrike">
              <a:latin typeface="Arial"/>
            </a:endParaRPr>
          </a:p>
        </p:txBody>
      </p:sp>
      <p:sp>
        <p:nvSpPr>
          <p:cNvPr id="29" name="PlaceHolder 4"/>
          <p:cNvSpPr>
            <a:spLocks noGrp="1"/>
          </p:cNvSpPr>
          <p:nvPr>
            <p:ph/>
          </p:nvPr>
        </p:nvSpPr>
        <p:spPr>
          <a:xfrm>
            <a:off x="650160" y="5236560"/>
            <a:ext cx="5711040" cy="2697840"/>
          </a:xfrm>
          <a:prstGeom prst="rect">
            <a:avLst/>
          </a:prstGeom>
          <a:noFill/>
          <a:ln w="0">
            <a:noFill/>
          </a:ln>
        </p:spPr>
        <p:txBody>
          <a:bodyPr lIns="0" rIns="0" tIns="0" bIns="0" anchor="t">
            <a:normAutofit/>
          </a:bodyPr>
          <a:p>
            <a:endParaRPr b="0" lang="en-IN" sz="3200" spc="-1" strike="noStrike">
              <a:latin typeface="Arial"/>
            </a:endParaRPr>
          </a:p>
        </p:txBody>
      </p:sp>
      <p:sp>
        <p:nvSpPr>
          <p:cNvPr id="30" name="PlaceHolder 5"/>
          <p:cNvSpPr>
            <a:spLocks noGrp="1"/>
          </p:cNvSpPr>
          <p:nvPr>
            <p:ph/>
          </p:nvPr>
        </p:nvSpPr>
        <p:spPr>
          <a:xfrm>
            <a:off x="6647040" y="5236560"/>
            <a:ext cx="5711040" cy="26978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50160" y="389160"/>
            <a:ext cx="11703600" cy="162828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2" name="PlaceHolder 2"/>
          <p:cNvSpPr>
            <a:spLocks noGrp="1"/>
          </p:cNvSpPr>
          <p:nvPr>
            <p:ph/>
          </p:nvPr>
        </p:nvSpPr>
        <p:spPr>
          <a:xfrm>
            <a:off x="650160" y="2282040"/>
            <a:ext cx="3768480" cy="2697840"/>
          </a:xfrm>
          <a:prstGeom prst="rect">
            <a:avLst/>
          </a:prstGeom>
          <a:noFill/>
          <a:ln w="0">
            <a:noFill/>
          </a:ln>
        </p:spPr>
        <p:txBody>
          <a:bodyPr lIns="0" rIns="0" tIns="0" bIns="0" anchor="t">
            <a:normAutofit/>
          </a:bodyPr>
          <a:p>
            <a:endParaRPr b="0" lang="en-IN" sz="3200" spc="-1" strike="noStrike">
              <a:latin typeface="Arial"/>
            </a:endParaRPr>
          </a:p>
        </p:txBody>
      </p:sp>
      <p:sp>
        <p:nvSpPr>
          <p:cNvPr id="33" name="PlaceHolder 3"/>
          <p:cNvSpPr>
            <a:spLocks noGrp="1"/>
          </p:cNvSpPr>
          <p:nvPr>
            <p:ph/>
          </p:nvPr>
        </p:nvSpPr>
        <p:spPr>
          <a:xfrm>
            <a:off x="4607280" y="2282040"/>
            <a:ext cx="3768480" cy="2697840"/>
          </a:xfrm>
          <a:prstGeom prst="rect">
            <a:avLst/>
          </a:prstGeom>
          <a:noFill/>
          <a:ln w="0">
            <a:noFill/>
          </a:ln>
        </p:spPr>
        <p:txBody>
          <a:bodyPr lIns="0" rIns="0" tIns="0" bIns="0" anchor="t">
            <a:normAutofit/>
          </a:bodyPr>
          <a:p>
            <a:endParaRPr b="0" lang="en-IN" sz="3200" spc="-1" strike="noStrike">
              <a:latin typeface="Arial"/>
            </a:endParaRPr>
          </a:p>
        </p:txBody>
      </p:sp>
      <p:sp>
        <p:nvSpPr>
          <p:cNvPr id="34" name="PlaceHolder 4"/>
          <p:cNvSpPr>
            <a:spLocks noGrp="1"/>
          </p:cNvSpPr>
          <p:nvPr>
            <p:ph/>
          </p:nvPr>
        </p:nvSpPr>
        <p:spPr>
          <a:xfrm>
            <a:off x="8564760" y="2282040"/>
            <a:ext cx="3768480" cy="2697840"/>
          </a:xfrm>
          <a:prstGeom prst="rect">
            <a:avLst/>
          </a:prstGeom>
          <a:noFill/>
          <a:ln w="0">
            <a:noFill/>
          </a:ln>
        </p:spPr>
        <p:txBody>
          <a:bodyPr lIns="0" rIns="0" tIns="0" bIns="0" anchor="t">
            <a:normAutofit/>
          </a:bodyPr>
          <a:p>
            <a:endParaRPr b="0" lang="en-IN" sz="3200" spc="-1" strike="noStrike">
              <a:latin typeface="Arial"/>
            </a:endParaRPr>
          </a:p>
        </p:txBody>
      </p:sp>
      <p:sp>
        <p:nvSpPr>
          <p:cNvPr id="35" name="PlaceHolder 5"/>
          <p:cNvSpPr>
            <a:spLocks noGrp="1"/>
          </p:cNvSpPr>
          <p:nvPr>
            <p:ph/>
          </p:nvPr>
        </p:nvSpPr>
        <p:spPr>
          <a:xfrm>
            <a:off x="650160" y="5236560"/>
            <a:ext cx="3768480" cy="2697840"/>
          </a:xfrm>
          <a:prstGeom prst="rect">
            <a:avLst/>
          </a:prstGeom>
          <a:noFill/>
          <a:ln w="0">
            <a:noFill/>
          </a:ln>
        </p:spPr>
        <p:txBody>
          <a:bodyPr lIns="0" rIns="0" tIns="0" bIns="0" anchor="t">
            <a:normAutofit/>
          </a:bodyPr>
          <a:p>
            <a:endParaRPr b="0" lang="en-IN" sz="3200" spc="-1" strike="noStrike">
              <a:latin typeface="Arial"/>
            </a:endParaRPr>
          </a:p>
        </p:txBody>
      </p:sp>
      <p:sp>
        <p:nvSpPr>
          <p:cNvPr id="36" name="PlaceHolder 6"/>
          <p:cNvSpPr>
            <a:spLocks noGrp="1"/>
          </p:cNvSpPr>
          <p:nvPr>
            <p:ph/>
          </p:nvPr>
        </p:nvSpPr>
        <p:spPr>
          <a:xfrm>
            <a:off x="4607280" y="5236560"/>
            <a:ext cx="3768480" cy="2697840"/>
          </a:xfrm>
          <a:prstGeom prst="rect">
            <a:avLst/>
          </a:prstGeom>
          <a:noFill/>
          <a:ln w="0">
            <a:noFill/>
          </a:ln>
        </p:spPr>
        <p:txBody>
          <a:bodyPr lIns="0" rIns="0" tIns="0" bIns="0" anchor="t">
            <a:normAutofit/>
          </a:bodyPr>
          <a:p>
            <a:endParaRPr b="0" lang="en-IN" sz="3200" spc="-1" strike="noStrike">
              <a:latin typeface="Arial"/>
            </a:endParaRPr>
          </a:p>
        </p:txBody>
      </p:sp>
      <p:sp>
        <p:nvSpPr>
          <p:cNvPr id="37" name="PlaceHolder 7"/>
          <p:cNvSpPr>
            <a:spLocks noGrp="1"/>
          </p:cNvSpPr>
          <p:nvPr>
            <p:ph/>
          </p:nvPr>
        </p:nvSpPr>
        <p:spPr>
          <a:xfrm>
            <a:off x="8564760" y="5236560"/>
            <a:ext cx="3768480" cy="26978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0" name="PlaceHolder 1"/>
          <p:cNvSpPr>
            <a:spLocks noGrp="1"/>
          </p:cNvSpPr>
          <p:nvPr>
            <p:ph type="title"/>
          </p:nvPr>
        </p:nvSpPr>
        <p:spPr>
          <a:xfrm>
            <a:off x="650160" y="389160"/>
            <a:ext cx="11703600" cy="162828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41" name="PlaceHolder 2"/>
          <p:cNvSpPr>
            <a:spLocks noGrp="1"/>
          </p:cNvSpPr>
          <p:nvPr>
            <p:ph type="subTitle"/>
          </p:nvPr>
        </p:nvSpPr>
        <p:spPr>
          <a:xfrm>
            <a:off x="650160" y="2282040"/>
            <a:ext cx="11703600" cy="565632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650160" y="389160"/>
            <a:ext cx="11703600" cy="162828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43" name="PlaceHolder 2"/>
          <p:cNvSpPr>
            <a:spLocks noGrp="1"/>
          </p:cNvSpPr>
          <p:nvPr>
            <p:ph/>
          </p:nvPr>
        </p:nvSpPr>
        <p:spPr>
          <a:xfrm>
            <a:off x="650160" y="2282040"/>
            <a:ext cx="11703600" cy="565632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650160" y="389160"/>
            <a:ext cx="11703600" cy="162828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45" name="PlaceHolder 2"/>
          <p:cNvSpPr>
            <a:spLocks noGrp="1"/>
          </p:cNvSpPr>
          <p:nvPr>
            <p:ph/>
          </p:nvPr>
        </p:nvSpPr>
        <p:spPr>
          <a:xfrm>
            <a:off x="650160" y="2282040"/>
            <a:ext cx="5711040" cy="5656320"/>
          </a:xfrm>
          <a:prstGeom prst="rect">
            <a:avLst/>
          </a:prstGeom>
          <a:noFill/>
          <a:ln w="0">
            <a:noFill/>
          </a:ln>
        </p:spPr>
        <p:txBody>
          <a:bodyPr lIns="0" rIns="0" tIns="0" bIns="0" anchor="t">
            <a:normAutofit/>
          </a:bodyPr>
          <a:p>
            <a:endParaRPr b="0" lang="en-IN" sz="3200" spc="-1" strike="noStrike">
              <a:latin typeface="Arial"/>
            </a:endParaRPr>
          </a:p>
        </p:txBody>
      </p:sp>
      <p:sp>
        <p:nvSpPr>
          <p:cNvPr id="46" name="PlaceHolder 3"/>
          <p:cNvSpPr>
            <a:spLocks noGrp="1"/>
          </p:cNvSpPr>
          <p:nvPr>
            <p:ph/>
          </p:nvPr>
        </p:nvSpPr>
        <p:spPr>
          <a:xfrm>
            <a:off x="6647040" y="2282040"/>
            <a:ext cx="5711040" cy="565632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7" name="PlaceHolder 1"/>
          <p:cNvSpPr>
            <a:spLocks noGrp="1"/>
          </p:cNvSpPr>
          <p:nvPr>
            <p:ph type="title"/>
          </p:nvPr>
        </p:nvSpPr>
        <p:spPr>
          <a:xfrm>
            <a:off x="650160" y="389160"/>
            <a:ext cx="11703600" cy="1628280"/>
          </a:xfrm>
          <a:prstGeom prst="rect">
            <a:avLst/>
          </a:prstGeom>
          <a:noFill/>
          <a:ln w="0">
            <a:noFill/>
          </a:ln>
        </p:spPr>
        <p:txBody>
          <a:bodyPr lIns="0" rIns="0" tIns="0" bIns="0" anchor="ctr">
            <a:noAutofit/>
          </a:bodyPr>
          <a:p>
            <a:pPr algn="ctr">
              <a:buNone/>
            </a:pPr>
            <a:endParaRPr b="0" lang="en-IN" sz="4400" spc="-1" strike="noStrike">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48" name="PlaceHolder 1"/>
          <p:cNvSpPr>
            <a:spLocks noGrp="1"/>
          </p:cNvSpPr>
          <p:nvPr>
            <p:ph type="subTitle"/>
          </p:nvPr>
        </p:nvSpPr>
        <p:spPr>
          <a:xfrm>
            <a:off x="650160" y="389160"/>
            <a:ext cx="11703600" cy="754920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650160" y="389160"/>
            <a:ext cx="11703600" cy="162828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50" name="PlaceHolder 2"/>
          <p:cNvSpPr>
            <a:spLocks noGrp="1"/>
          </p:cNvSpPr>
          <p:nvPr>
            <p:ph/>
          </p:nvPr>
        </p:nvSpPr>
        <p:spPr>
          <a:xfrm>
            <a:off x="650160" y="2282040"/>
            <a:ext cx="5711040" cy="2697840"/>
          </a:xfrm>
          <a:prstGeom prst="rect">
            <a:avLst/>
          </a:prstGeom>
          <a:noFill/>
          <a:ln w="0">
            <a:noFill/>
          </a:ln>
        </p:spPr>
        <p:txBody>
          <a:bodyPr lIns="0" rIns="0" tIns="0" bIns="0" anchor="t">
            <a:normAutofit/>
          </a:bodyPr>
          <a:p>
            <a:endParaRPr b="0" lang="en-IN" sz="3200" spc="-1" strike="noStrike">
              <a:latin typeface="Arial"/>
            </a:endParaRPr>
          </a:p>
        </p:txBody>
      </p:sp>
      <p:sp>
        <p:nvSpPr>
          <p:cNvPr id="51" name="PlaceHolder 3"/>
          <p:cNvSpPr>
            <a:spLocks noGrp="1"/>
          </p:cNvSpPr>
          <p:nvPr>
            <p:ph/>
          </p:nvPr>
        </p:nvSpPr>
        <p:spPr>
          <a:xfrm>
            <a:off x="6647040" y="2282040"/>
            <a:ext cx="5711040" cy="5656320"/>
          </a:xfrm>
          <a:prstGeom prst="rect">
            <a:avLst/>
          </a:prstGeom>
          <a:noFill/>
          <a:ln w="0">
            <a:noFill/>
          </a:ln>
        </p:spPr>
        <p:txBody>
          <a:bodyPr lIns="0" rIns="0" tIns="0" bIns="0" anchor="t">
            <a:normAutofit/>
          </a:bodyPr>
          <a:p>
            <a:endParaRPr b="0" lang="en-IN" sz="3200" spc="-1" strike="noStrike">
              <a:latin typeface="Arial"/>
            </a:endParaRPr>
          </a:p>
        </p:txBody>
      </p:sp>
      <p:sp>
        <p:nvSpPr>
          <p:cNvPr id="52" name="PlaceHolder 4"/>
          <p:cNvSpPr>
            <a:spLocks noGrp="1"/>
          </p:cNvSpPr>
          <p:nvPr>
            <p:ph/>
          </p:nvPr>
        </p:nvSpPr>
        <p:spPr>
          <a:xfrm>
            <a:off x="650160" y="5236560"/>
            <a:ext cx="5711040" cy="26978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650160" y="389160"/>
            <a:ext cx="11703600" cy="162828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54" name="PlaceHolder 2"/>
          <p:cNvSpPr>
            <a:spLocks noGrp="1"/>
          </p:cNvSpPr>
          <p:nvPr>
            <p:ph/>
          </p:nvPr>
        </p:nvSpPr>
        <p:spPr>
          <a:xfrm>
            <a:off x="650160" y="2282040"/>
            <a:ext cx="5711040" cy="5656320"/>
          </a:xfrm>
          <a:prstGeom prst="rect">
            <a:avLst/>
          </a:prstGeom>
          <a:noFill/>
          <a:ln w="0">
            <a:noFill/>
          </a:ln>
        </p:spPr>
        <p:txBody>
          <a:bodyPr lIns="0" rIns="0" tIns="0" bIns="0" anchor="t">
            <a:normAutofit/>
          </a:bodyPr>
          <a:p>
            <a:endParaRPr b="0" lang="en-IN" sz="3200" spc="-1" strike="noStrike">
              <a:latin typeface="Arial"/>
            </a:endParaRPr>
          </a:p>
        </p:txBody>
      </p:sp>
      <p:sp>
        <p:nvSpPr>
          <p:cNvPr id="55" name="PlaceHolder 3"/>
          <p:cNvSpPr>
            <a:spLocks noGrp="1"/>
          </p:cNvSpPr>
          <p:nvPr>
            <p:ph/>
          </p:nvPr>
        </p:nvSpPr>
        <p:spPr>
          <a:xfrm>
            <a:off x="6647040" y="2282040"/>
            <a:ext cx="5711040" cy="2697840"/>
          </a:xfrm>
          <a:prstGeom prst="rect">
            <a:avLst/>
          </a:prstGeom>
          <a:noFill/>
          <a:ln w="0">
            <a:noFill/>
          </a:ln>
        </p:spPr>
        <p:txBody>
          <a:bodyPr lIns="0" rIns="0" tIns="0" bIns="0" anchor="t">
            <a:normAutofit/>
          </a:bodyPr>
          <a:p>
            <a:endParaRPr b="0" lang="en-IN" sz="3200" spc="-1" strike="noStrike">
              <a:latin typeface="Arial"/>
            </a:endParaRPr>
          </a:p>
        </p:txBody>
      </p:sp>
      <p:sp>
        <p:nvSpPr>
          <p:cNvPr id="56" name="PlaceHolder 4"/>
          <p:cNvSpPr>
            <a:spLocks noGrp="1"/>
          </p:cNvSpPr>
          <p:nvPr>
            <p:ph/>
          </p:nvPr>
        </p:nvSpPr>
        <p:spPr>
          <a:xfrm>
            <a:off x="6647040" y="5236560"/>
            <a:ext cx="5711040" cy="26978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50160" y="389160"/>
            <a:ext cx="11703600" cy="162828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58" name="PlaceHolder 2"/>
          <p:cNvSpPr>
            <a:spLocks noGrp="1"/>
          </p:cNvSpPr>
          <p:nvPr>
            <p:ph/>
          </p:nvPr>
        </p:nvSpPr>
        <p:spPr>
          <a:xfrm>
            <a:off x="650160" y="2282040"/>
            <a:ext cx="5711040" cy="2697840"/>
          </a:xfrm>
          <a:prstGeom prst="rect">
            <a:avLst/>
          </a:prstGeom>
          <a:noFill/>
          <a:ln w="0">
            <a:noFill/>
          </a:ln>
        </p:spPr>
        <p:txBody>
          <a:bodyPr lIns="0" rIns="0" tIns="0" bIns="0" anchor="t">
            <a:normAutofit/>
          </a:bodyPr>
          <a:p>
            <a:endParaRPr b="0" lang="en-IN" sz="3200" spc="-1" strike="noStrike">
              <a:latin typeface="Arial"/>
            </a:endParaRPr>
          </a:p>
        </p:txBody>
      </p:sp>
      <p:sp>
        <p:nvSpPr>
          <p:cNvPr id="59" name="PlaceHolder 3"/>
          <p:cNvSpPr>
            <a:spLocks noGrp="1"/>
          </p:cNvSpPr>
          <p:nvPr>
            <p:ph/>
          </p:nvPr>
        </p:nvSpPr>
        <p:spPr>
          <a:xfrm>
            <a:off x="6647040" y="2282040"/>
            <a:ext cx="5711040" cy="2697840"/>
          </a:xfrm>
          <a:prstGeom prst="rect">
            <a:avLst/>
          </a:prstGeom>
          <a:noFill/>
          <a:ln w="0">
            <a:noFill/>
          </a:ln>
        </p:spPr>
        <p:txBody>
          <a:bodyPr lIns="0" rIns="0" tIns="0" bIns="0" anchor="t">
            <a:normAutofit/>
          </a:bodyPr>
          <a:p>
            <a:endParaRPr b="0" lang="en-IN" sz="3200" spc="-1" strike="noStrike">
              <a:latin typeface="Arial"/>
            </a:endParaRPr>
          </a:p>
        </p:txBody>
      </p:sp>
      <p:sp>
        <p:nvSpPr>
          <p:cNvPr id="60" name="PlaceHolder 4"/>
          <p:cNvSpPr>
            <a:spLocks noGrp="1"/>
          </p:cNvSpPr>
          <p:nvPr>
            <p:ph/>
          </p:nvPr>
        </p:nvSpPr>
        <p:spPr>
          <a:xfrm>
            <a:off x="650160" y="5236560"/>
            <a:ext cx="11703600" cy="26978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50160" y="389160"/>
            <a:ext cx="11703600" cy="162828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62" name="PlaceHolder 2"/>
          <p:cNvSpPr>
            <a:spLocks noGrp="1"/>
          </p:cNvSpPr>
          <p:nvPr>
            <p:ph/>
          </p:nvPr>
        </p:nvSpPr>
        <p:spPr>
          <a:xfrm>
            <a:off x="650160" y="2282040"/>
            <a:ext cx="11703600" cy="2697840"/>
          </a:xfrm>
          <a:prstGeom prst="rect">
            <a:avLst/>
          </a:prstGeom>
          <a:noFill/>
          <a:ln w="0">
            <a:noFill/>
          </a:ln>
        </p:spPr>
        <p:txBody>
          <a:bodyPr lIns="0" rIns="0" tIns="0" bIns="0" anchor="t">
            <a:normAutofit/>
          </a:bodyPr>
          <a:p>
            <a:endParaRPr b="0" lang="en-IN" sz="3200" spc="-1" strike="noStrike">
              <a:latin typeface="Arial"/>
            </a:endParaRPr>
          </a:p>
        </p:txBody>
      </p:sp>
      <p:sp>
        <p:nvSpPr>
          <p:cNvPr id="63" name="PlaceHolder 3"/>
          <p:cNvSpPr>
            <a:spLocks noGrp="1"/>
          </p:cNvSpPr>
          <p:nvPr>
            <p:ph/>
          </p:nvPr>
        </p:nvSpPr>
        <p:spPr>
          <a:xfrm>
            <a:off x="650160" y="5236560"/>
            <a:ext cx="11703600" cy="26978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50160" y="389160"/>
            <a:ext cx="11703600" cy="162828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65" name="PlaceHolder 2"/>
          <p:cNvSpPr>
            <a:spLocks noGrp="1"/>
          </p:cNvSpPr>
          <p:nvPr>
            <p:ph/>
          </p:nvPr>
        </p:nvSpPr>
        <p:spPr>
          <a:xfrm>
            <a:off x="650160" y="2282040"/>
            <a:ext cx="5711040" cy="2697840"/>
          </a:xfrm>
          <a:prstGeom prst="rect">
            <a:avLst/>
          </a:prstGeom>
          <a:noFill/>
          <a:ln w="0">
            <a:noFill/>
          </a:ln>
        </p:spPr>
        <p:txBody>
          <a:bodyPr lIns="0" rIns="0" tIns="0" bIns="0" anchor="t">
            <a:normAutofit/>
          </a:bodyPr>
          <a:p>
            <a:endParaRPr b="0" lang="en-IN" sz="3200" spc="-1" strike="noStrike">
              <a:latin typeface="Arial"/>
            </a:endParaRPr>
          </a:p>
        </p:txBody>
      </p:sp>
      <p:sp>
        <p:nvSpPr>
          <p:cNvPr id="66" name="PlaceHolder 3"/>
          <p:cNvSpPr>
            <a:spLocks noGrp="1"/>
          </p:cNvSpPr>
          <p:nvPr>
            <p:ph/>
          </p:nvPr>
        </p:nvSpPr>
        <p:spPr>
          <a:xfrm>
            <a:off x="6647040" y="2282040"/>
            <a:ext cx="5711040" cy="2697840"/>
          </a:xfrm>
          <a:prstGeom prst="rect">
            <a:avLst/>
          </a:prstGeom>
          <a:noFill/>
          <a:ln w="0">
            <a:noFill/>
          </a:ln>
        </p:spPr>
        <p:txBody>
          <a:bodyPr lIns="0" rIns="0" tIns="0" bIns="0" anchor="t">
            <a:normAutofit/>
          </a:bodyPr>
          <a:p>
            <a:endParaRPr b="0" lang="en-IN" sz="3200" spc="-1" strike="noStrike">
              <a:latin typeface="Arial"/>
            </a:endParaRPr>
          </a:p>
        </p:txBody>
      </p:sp>
      <p:sp>
        <p:nvSpPr>
          <p:cNvPr id="67" name="PlaceHolder 4"/>
          <p:cNvSpPr>
            <a:spLocks noGrp="1"/>
          </p:cNvSpPr>
          <p:nvPr>
            <p:ph/>
          </p:nvPr>
        </p:nvSpPr>
        <p:spPr>
          <a:xfrm>
            <a:off x="650160" y="5236560"/>
            <a:ext cx="5711040" cy="2697840"/>
          </a:xfrm>
          <a:prstGeom prst="rect">
            <a:avLst/>
          </a:prstGeom>
          <a:noFill/>
          <a:ln w="0">
            <a:noFill/>
          </a:ln>
        </p:spPr>
        <p:txBody>
          <a:bodyPr lIns="0" rIns="0" tIns="0" bIns="0" anchor="t">
            <a:normAutofit/>
          </a:bodyPr>
          <a:p>
            <a:endParaRPr b="0" lang="en-IN" sz="3200" spc="-1" strike="noStrike">
              <a:latin typeface="Arial"/>
            </a:endParaRPr>
          </a:p>
        </p:txBody>
      </p:sp>
      <p:sp>
        <p:nvSpPr>
          <p:cNvPr id="68" name="PlaceHolder 5"/>
          <p:cNvSpPr>
            <a:spLocks noGrp="1"/>
          </p:cNvSpPr>
          <p:nvPr>
            <p:ph/>
          </p:nvPr>
        </p:nvSpPr>
        <p:spPr>
          <a:xfrm>
            <a:off x="6647040" y="5236560"/>
            <a:ext cx="5711040" cy="26978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650160" y="389160"/>
            <a:ext cx="11703600" cy="162828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70" name="PlaceHolder 2"/>
          <p:cNvSpPr>
            <a:spLocks noGrp="1"/>
          </p:cNvSpPr>
          <p:nvPr>
            <p:ph/>
          </p:nvPr>
        </p:nvSpPr>
        <p:spPr>
          <a:xfrm>
            <a:off x="650160" y="2282040"/>
            <a:ext cx="3768480" cy="2697840"/>
          </a:xfrm>
          <a:prstGeom prst="rect">
            <a:avLst/>
          </a:prstGeom>
          <a:noFill/>
          <a:ln w="0">
            <a:noFill/>
          </a:ln>
        </p:spPr>
        <p:txBody>
          <a:bodyPr lIns="0" rIns="0" tIns="0" bIns="0" anchor="t">
            <a:normAutofit/>
          </a:bodyPr>
          <a:p>
            <a:endParaRPr b="0" lang="en-IN" sz="3200" spc="-1" strike="noStrike">
              <a:latin typeface="Arial"/>
            </a:endParaRPr>
          </a:p>
        </p:txBody>
      </p:sp>
      <p:sp>
        <p:nvSpPr>
          <p:cNvPr id="71" name="PlaceHolder 3"/>
          <p:cNvSpPr>
            <a:spLocks noGrp="1"/>
          </p:cNvSpPr>
          <p:nvPr>
            <p:ph/>
          </p:nvPr>
        </p:nvSpPr>
        <p:spPr>
          <a:xfrm>
            <a:off x="4607280" y="2282040"/>
            <a:ext cx="3768480" cy="2697840"/>
          </a:xfrm>
          <a:prstGeom prst="rect">
            <a:avLst/>
          </a:prstGeom>
          <a:noFill/>
          <a:ln w="0">
            <a:noFill/>
          </a:ln>
        </p:spPr>
        <p:txBody>
          <a:bodyPr lIns="0" rIns="0" tIns="0" bIns="0" anchor="t">
            <a:normAutofit/>
          </a:bodyPr>
          <a:p>
            <a:endParaRPr b="0" lang="en-IN" sz="3200" spc="-1" strike="noStrike">
              <a:latin typeface="Arial"/>
            </a:endParaRPr>
          </a:p>
        </p:txBody>
      </p:sp>
      <p:sp>
        <p:nvSpPr>
          <p:cNvPr id="72" name="PlaceHolder 4"/>
          <p:cNvSpPr>
            <a:spLocks noGrp="1"/>
          </p:cNvSpPr>
          <p:nvPr>
            <p:ph/>
          </p:nvPr>
        </p:nvSpPr>
        <p:spPr>
          <a:xfrm>
            <a:off x="8564760" y="2282040"/>
            <a:ext cx="3768480" cy="2697840"/>
          </a:xfrm>
          <a:prstGeom prst="rect">
            <a:avLst/>
          </a:prstGeom>
          <a:noFill/>
          <a:ln w="0">
            <a:noFill/>
          </a:ln>
        </p:spPr>
        <p:txBody>
          <a:bodyPr lIns="0" rIns="0" tIns="0" bIns="0" anchor="t">
            <a:normAutofit/>
          </a:bodyPr>
          <a:p>
            <a:endParaRPr b="0" lang="en-IN" sz="3200" spc="-1" strike="noStrike">
              <a:latin typeface="Arial"/>
            </a:endParaRPr>
          </a:p>
        </p:txBody>
      </p:sp>
      <p:sp>
        <p:nvSpPr>
          <p:cNvPr id="73" name="PlaceHolder 5"/>
          <p:cNvSpPr>
            <a:spLocks noGrp="1"/>
          </p:cNvSpPr>
          <p:nvPr>
            <p:ph/>
          </p:nvPr>
        </p:nvSpPr>
        <p:spPr>
          <a:xfrm>
            <a:off x="650160" y="5236560"/>
            <a:ext cx="3768480" cy="2697840"/>
          </a:xfrm>
          <a:prstGeom prst="rect">
            <a:avLst/>
          </a:prstGeom>
          <a:noFill/>
          <a:ln w="0">
            <a:noFill/>
          </a:ln>
        </p:spPr>
        <p:txBody>
          <a:bodyPr lIns="0" rIns="0" tIns="0" bIns="0" anchor="t">
            <a:normAutofit/>
          </a:bodyPr>
          <a:p>
            <a:endParaRPr b="0" lang="en-IN" sz="3200" spc="-1" strike="noStrike">
              <a:latin typeface="Arial"/>
            </a:endParaRPr>
          </a:p>
        </p:txBody>
      </p:sp>
      <p:sp>
        <p:nvSpPr>
          <p:cNvPr id="74" name="PlaceHolder 6"/>
          <p:cNvSpPr>
            <a:spLocks noGrp="1"/>
          </p:cNvSpPr>
          <p:nvPr>
            <p:ph/>
          </p:nvPr>
        </p:nvSpPr>
        <p:spPr>
          <a:xfrm>
            <a:off x="4607280" y="5236560"/>
            <a:ext cx="3768480" cy="2697840"/>
          </a:xfrm>
          <a:prstGeom prst="rect">
            <a:avLst/>
          </a:prstGeom>
          <a:noFill/>
          <a:ln w="0">
            <a:noFill/>
          </a:ln>
        </p:spPr>
        <p:txBody>
          <a:bodyPr lIns="0" rIns="0" tIns="0" bIns="0" anchor="t">
            <a:normAutofit/>
          </a:bodyPr>
          <a:p>
            <a:endParaRPr b="0" lang="en-IN" sz="3200" spc="-1" strike="noStrike">
              <a:latin typeface="Arial"/>
            </a:endParaRPr>
          </a:p>
        </p:txBody>
      </p:sp>
      <p:sp>
        <p:nvSpPr>
          <p:cNvPr id="75" name="PlaceHolder 7"/>
          <p:cNvSpPr>
            <a:spLocks noGrp="1"/>
          </p:cNvSpPr>
          <p:nvPr>
            <p:ph/>
          </p:nvPr>
        </p:nvSpPr>
        <p:spPr>
          <a:xfrm>
            <a:off x="8564760" y="5236560"/>
            <a:ext cx="3768480" cy="26978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78" name="PlaceHolder 1"/>
          <p:cNvSpPr>
            <a:spLocks noGrp="1"/>
          </p:cNvSpPr>
          <p:nvPr>
            <p:ph type="title"/>
          </p:nvPr>
        </p:nvSpPr>
        <p:spPr>
          <a:xfrm>
            <a:off x="650160" y="389160"/>
            <a:ext cx="11703600" cy="162828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79" name="PlaceHolder 2"/>
          <p:cNvSpPr>
            <a:spLocks noGrp="1"/>
          </p:cNvSpPr>
          <p:nvPr>
            <p:ph type="subTitle"/>
          </p:nvPr>
        </p:nvSpPr>
        <p:spPr>
          <a:xfrm>
            <a:off x="650160" y="2282040"/>
            <a:ext cx="11703600" cy="565632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650160" y="389160"/>
            <a:ext cx="11703600" cy="162828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81" name="PlaceHolder 2"/>
          <p:cNvSpPr>
            <a:spLocks noGrp="1"/>
          </p:cNvSpPr>
          <p:nvPr>
            <p:ph/>
          </p:nvPr>
        </p:nvSpPr>
        <p:spPr>
          <a:xfrm>
            <a:off x="650160" y="2282040"/>
            <a:ext cx="11703600" cy="565632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650160" y="389160"/>
            <a:ext cx="11703600" cy="162828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83" name="PlaceHolder 2"/>
          <p:cNvSpPr>
            <a:spLocks noGrp="1"/>
          </p:cNvSpPr>
          <p:nvPr>
            <p:ph/>
          </p:nvPr>
        </p:nvSpPr>
        <p:spPr>
          <a:xfrm>
            <a:off x="650160" y="2282040"/>
            <a:ext cx="5711040" cy="5656320"/>
          </a:xfrm>
          <a:prstGeom prst="rect">
            <a:avLst/>
          </a:prstGeom>
          <a:noFill/>
          <a:ln w="0">
            <a:noFill/>
          </a:ln>
        </p:spPr>
        <p:txBody>
          <a:bodyPr lIns="0" rIns="0" tIns="0" bIns="0" anchor="t">
            <a:normAutofit/>
          </a:bodyPr>
          <a:p>
            <a:endParaRPr b="0" lang="en-IN" sz="3200" spc="-1" strike="noStrike">
              <a:latin typeface="Arial"/>
            </a:endParaRPr>
          </a:p>
        </p:txBody>
      </p:sp>
      <p:sp>
        <p:nvSpPr>
          <p:cNvPr id="84" name="PlaceHolder 3"/>
          <p:cNvSpPr>
            <a:spLocks noGrp="1"/>
          </p:cNvSpPr>
          <p:nvPr>
            <p:ph/>
          </p:nvPr>
        </p:nvSpPr>
        <p:spPr>
          <a:xfrm>
            <a:off x="6647040" y="2282040"/>
            <a:ext cx="5711040" cy="565632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85" name="PlaceHolder 1"/>
          <p:cNvSpPr>
            <a:spLocks noGrp="1"/>
          </p:cNvSpPr>
          <p:nvPr>
            <p:ph type="title"/>
          </p:nvPr>
        </p:nvSpPr>
        <p:spPr>
          <a:xfrm>
            <a:off x="650160" y="389160"/>
            <a:ext cx="11703600" cy="1628280"/>
          </a:xfrm>
          <a:prstGeom prst="rect">
            <a:avLst/>
          </a:prstGeom>
          <a:noFill/>
          <a:ln w="0">
            <a:noFill/>
          </a:ln>
        </p:spPr>
        <p:txBody>
          <a:bodyPr lIns="0" rIns="0" tIns="0" bIns="0" anchor="ctr">
            <a:noAutofit/>
          </a:bodyPr>
          <a:p>
            <a:pPr algn="ctr">
              <a:buNone/>
            </a:pPr>
            <a:endParaRPr b="0" lang="en-IN" sz="4400" spc="-1" strike="noStrike">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86" name="PlaceHolder 1"/>
          <p:cNvSpPr>
            <a:spLocks noGrp="1"/>
          </p:cNvSpPr>
          <p:nvPr>
            <p:ph type="subTitle"/>
          </p:nvPr>
        </p:nvSpPr>
        <p:spPr>
          <a:xfrm>
            <a:off x="650160" y="389160"/>
            <a:ext cx="11703600" cy="754920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650160" y="389160"/>
            <a:ext cx="11703600" cy="162828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88" name="PlaceHolder 2"/>
          <p:cNvSpPr>
            <a:spLocks noGrp="1"/>
          </p:cNvSpPr>
          <p:nvPr>
            <p:ph/>
          </p:nvPr>
        </p:nvSpPr>
        <p:spPr>
          <a:xfrm>
            <a:off x="650160" y="2282040"/>
            <a:ext cx="5711040" cy="2697840"/>
          </a:xfrm>
          <a:prstGeom prst="rect">
            <a:avLst/>
          </a:prstGeom>
          <a:noFill/>
          <a:ln w="0">
            <a:noFill/>
          </a:ln>
        </p:spPr>
        <p:txBody>
          <a:bodyPr lIns="0" rIns="0" tIns="0" bIns="0" anchor="t">
            <a:normAutofit/>
          </a:bodyPr>
          <a:p>
            <a:endParaRPr b="0" lang="en-IN" sz="3200" spc="-1" strike="noStrike">
              <a:latin typeface="Arial"/>
            </a:endParaRPr>
          </a:p>
        </p:txBody>
      </p:sp>
      <p:sp>
        <p:nvSpPr>
          <p:cNvPr id="89" name="PlaceHolder 3"/>
          <p:cNvSpPr>
            <a:spLocks noGrp="1"/>
          </p:cNvSpPr>
          <p:nvPr>
            <p:ph/>
          </p:nvPr>
        </p:nvSpPr>
        <p:spPr>
          <a:xfrm>
            <a:off x="6647040" y="2282040"/>
            <a:ext cx="5711040" cy="5656320"/>
          </a:xfrm>
          <a:prstGeom prst="rect">
            <a:avLst/>
          </a:prstGeom>
          <a:noFill/>
          <a:ln w="0">
            <a:noFill/>
          </a:ln>
        </p:spPr>
        <p:txBody>
          <a:bodyPr lIns="0" rIns="0" tIns="0" bIns="0" anchor="t">
            <a:normAutofit/>
          </a:bodyPr>
          <a:p>
            <a:endParaRPr b="0" lang="en-IN" sz="3200" spc="-1" strike="noStrike">
              <a:latin typeface="Arial"/>
            </a:endParaRPr>
          </a:p>
        </p:txBody>
      </p:sp>
      <p:sp>
        <p:nvSpPr>
          <p:cNvPr id="90" name="PlaceHolder 4"/>
          <p:cNvSpPr>
            <a:spLocks noGrp="1"/>
          </p:cNvSpPr>
          <p:nvPr>
            <p:ph/>
          </p:nvPr>
        </p:nvSpPr>
        <p:spPr>
          <a:xfrm>
            <a:off x="650160" y="5236560"/>
            <a:ext cx="5711040" cy="26978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650160" y="389160"/>
            <a:ext cx="11703600" cy="162828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92" name="PlaceHolder 2"/>
          <p:cNvSpPr>
            <a:spLocks noGrp="1"/>
          </p:cNvSpPr>
          <p:nvPr>
            <p:ph/>
          </p:nvPr>
        </p:nvSpPr>
        <p:spPr>
          <a:xfrm>
            <a:off x="650160" y="2282040"/>
            <a:ext cx="5711040" cy="5656320"/>
          </a:xfrm>
          <a:prstGeom prst="rect">
            <a:avLst/>
          </a:prstGeom>
          <a:noFill/>
          <a:ln w="0">
            <a:noFill/>
          </a:ln>
        </p:spPr>
        <p:txBody>
          <a:bodyPr lIns="0" rIns="0" tIns="0" bIns="0" anchor="t">
            <a:normAutofit/>
          </a:bodyPr>
          <a:p>
            <a:endParaRPr b="0" lang="en-IN" sz="3200" spc="-1" strike="noStrike">
              <a:latin typeface="Arial"/>
            </a:endParaRPr>
          </a:p>
        </p:txBody>
      </p:sp>
      <p:sp>
        <p:nvSpPr>
          <p:cNvPr id="93" name="PlaceHolder 3"/>
          <p:cNvSpPr>
            <a:spLocks noGrp="1"/>
          </p:cNvSpPr>
          <p:nvPr>
            <p:ph/>
          </p:nvPr>
        </p:nvSpPr>
        <p:spPr>
          <a:xfrm>
            <a:off x="6647040" y="2282040"/>
            <a:ext cx="5711040" cy="2697840"/>
          </a:xfrm>
          <a:prstGeom prst="rect">
            <a:avLst/>
          </a:prstGeom>
          <a:noFill/>
          <a:ln w="0">
            <a:noFill/>
          </a:ln>
        </p:spPr>
        <p:txBody>
          <a:bodyPr lIns="0" rIns="0" tIns="0" bIns="0" anchor="t">
            <a:normAutofit/>
          </a:bodyPr>
          <a:p>
            <a:endParaRPr b="0" lang="en-IN" sz="3200" spc="-1" strike="noStrike">
              <a:latin typeface="Arial"/>
            </a:endParaRPr>
          </a:p>
        </p:txBody>
      </p:sp>
      <p:sp>
        <p:nvSpPr>
          <p:cNvPr id="94" name="PlaceHolder 4"/>
          <p:cNvSpPr>
            <a:spLocks noGrp="1"/>
          </p:cNvSpPr>
          <p:nvPr>
            <p:ph/>
          </p:nvPr>
        </p:nvSpPr>
        <p:spPr>
          <a:xfrm>
            <a:off x="6647040" y="5236560"/>
            <a:ext cx="5711040" cy="26978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650160" y="389160"/>
            <a:ext cx="11703600" cy="162828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96" name="PlaceHolder 2"/>
          <p:cNvSpPr>
            <a:spLocks noGrp="1"/>
          </p:cNvSpPr>
          <p:nvPr>
            <p:ph/>
          </p:nvPr>
        </p:nvSpPr>
        <p:spPr>
          <a:xfrm>
            <a:off x="650160" y="2282040"/>
            <a:ext cx="5711040" cy="2697840"/>
          </a:xfrm>
          <a:prstGeom prst="rect">
            <a:avLst/>
          </a:prstGeom>
          <a:noFill/>
          <a:ln w="0">
            <a:noFill/>
          </a:ln>
        </p:spPr>
        <p:txBody>
          <a:bodyPr lIns="0" rIns="0" tIns="0" bIns="0" anchor="t">
            <a:normAutofit/>
          </a:bodyPr>
          <a:p>
            <a:endParaRPr b="0" lang="en-IN" sz="3200" spc="-1" strike="noStrike">
              <a:latin typeface="Arial"/>
            </a:endParaRPr>
          </a:p>
        </p:txBody>
      </p:sp>
      <p:sp>
        <p:nvSpPr>
          <p:cNvPr id="97" name="PlaceHolder 3"/>
          <p:cNvSpPr>
            <a:spLocks noGrp="1"/>
          </p:cNvSpPr>
          <p:nvPr>
            <p:ph/>
          </p:nvPr>
        </p:nvSpPr>
        <p:spPr>
          <a:xfrm>
            <a:off x="6647040" y="2282040"/>
            <a:ext cx="5711040" cy="2697840"/>
          </a:xfrm>
          <a:prstGeom prst="rect">
            <a:avLst/>
          </a:prstGeom>
          <a:noFill/>
          <a:ln w="0">
            <a:noFill/>
          </a:ln>
        </p:spPr>
        <p:txBody>
          <a:bodyPr lIns="0" rIns="0" tIns="0" bIns="0" anchor="t">
            <a:normAutofit/>
          </a:bodyPr>
          <a:p>
            <a:endParaRPr b="0" lang="en-IN" sz="3200" spc="-1" strike="noStrike">
              <a:latin typeface="Arial"/>
            </a:endParaRPr>
          </a:p>
        </p:txBody>
      </p:sp>
      <p:sp>
        <p:nvSpPr>
          <p:cNvPr id="98" name="PlaceHolder 4"/>
          <p:cNvSpPr>
            <a:spLocks noGrp="1"/>
          </p:cNvSpPr>
          <p:nvPr>
            <p:ph/>
          </p:nvPr>
        </p:nvSpPr>
        <p:spPr>
          <a:xfrm>
            <a:off x="650160" y="5236560"/>
            <a:ext cx="11703600" cy="26978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650160" y="389160"/>
            <a:ext cx="11703600" cy="162828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00" name="PlaceHolder 2"/>
          <p:cNvSpPr>
            <a:spLocks noGrp="1"/>
          </p:cNvSpPr>
          <p:nvPr>
            <p:ph/>
          </p:nvPr>
        </p:nvSpPr>
        <p:spPr>
          <a:xfrm>
            <a:off x="650160" y="2282040"/>
            <a:ext cx="11703600" cy="2697840"/>
          </a:xfrm>
          <a:prstGeom prst="rect">
            <a:avLst/>
          </a:prstGeom>
          <a:noFill/>
          <a:ln w="0">
            <a:noFill/>
          </a:ln>
        </p:spPr>
        <p:txBody>
          <a:bodyPr lIns="0" rIns="0" tIns="0" bIns="0" anchor="t">
            <a:normAutofit/>
          </a:bodyPr>
          <a:p>
            <a:endParaRPr b="0" lang="en-IN" sz="3200" spc="-1" strike="noStrike">
              <a:latin typeface="Arial"/>
            </a:endParaRPr>
          </a:p>
        </p:txBody>
      </p:sp>
      <p:sp>
        <p:nvSpPr>
          <p:cNvPr id="101" name="PlaceHolder 3"/>
          <p:cNvSpPr>
            <a:spLocks noGrp="1"/>
          </p:cNvSpPr>
          <p:nvPr>
            <p:ph/>
          </p:nvPr>
        </p:nvSpPr>
        <p:spPr>
          <a:xfrm>
            <a:off x="650160" y="5236560"/>
            <a:ext cx="11703600" cy="26978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650160" y="389160"/>
            <a:ext cx="11703600" cy="162828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03" name="PlaceHolder 2"/>
          <p:cNvSpPr>
            <a:spLocks noGrp="1"/>
          </p:cNvSpPr>
          <p:nvPr>
            <p:ph/>
          </p:nvPr>
        </p:nvSpPr>
        <p:spPr>
          <a:xfrm>
            <a:off x="650160" y="2282040"/>
            <a:ext cx="5711040" cy="2697840"/>
          </a:xfrm>
          <a:prstGeom prst="rect">
            <a:avLst/>
          </a:prstGeom>
          <a:noFill/>
          <a:ln w="0">
            <a:noFill/>
          </a:ln>
        </p:spPr>
        <p:txBody>
          <a:bodyPr lIns="0" rIns="0" tIns="0" bIns="0" anchor="t">
            <a:normAutofit/>
          </a:bodyPr>
          <a:p>
            <a:endParaRPr b="0" lang="en-IN" sz="3200" spc="-1" strike="noStrike">
              <a:latin typeface="Arial"/>
            </a:endParaRPr>
          </a:p>
        </p:txBody>
      </p:sp>
      <p:sp>
        <p:nvSpPr>
          <p:cNvPr id="104" name="PlaceHolder 3"/>
          <p:cNvSpPr>
            <a:spLocks noGrp="1"/>
          </p:cNvSpPr>
          <p:nvPr>
            <p:ph/>
          </p:nvPr>
        </p:nvSpPr>
        <p:spPr>
          <a:xfrm>
            <a:off x="6647040" y="2282040"/>
            <a:ext cx="5711040" cy="2697840"/>
          </a:xfrm>
          <a:prstGeom prst="rect">
            <a:avLst/>
          </a:prstGeom>
          <a:noFill/>
          <a:ln w="0">
            <a:noFill/>
          </a:ln>
        </p:spPr>
        <p:txBody>
          <a:bodyPr lIns="0" rIns="0" tIns="0" bIns="0" anchor="t">
            <a:normAutofit/>
          </a:bodyPr>
          <a:p>
            <a:endParaRPr b="0" lang="en-IN" sz="3200" spc="-1" strike="noStrike">
              <a:latin typeface="Arial"/>
            </a:endParaRPr>
          </a:p>
        </p:txBody>
      </p:sp>
      <p:sp>
        <p:nvSpPr>
          <p:cNvPr id="105" name="PlaceHolder 4"/>
          <p:cNvSpPr>
            <a:spLocks noGrp="1"/>
          </p:cNvSpPr>
          <p:nvPr>
            <p:ph/>
          </p:nvPr>
        </p:nvSpPr>
        <p:spPr>
          <a:xfrm>
            <a:off x="650160" y="5236560"/>
            <a:ext cx="5711040" cy="2697840"/>
          </a:xfrm>
          <a:prstGeom prst="rect">
            <a:avLst/>
          </a:prstGeom>
          <a:noFill/>
          <a:ln w="0">
            <a:noFill/>
          </a:ln>
        </p:spPr>
        <p:txBody>
          <a:bodyPr lIns="0" rIns="0" tIns="0" bIns="0" anchor="t">
            <a:normAutofit/>
          </a:bodyPr>
          <a:p>
            <a:endParaRPr b="0" lang="en-IN" sz="3200" spc="-1" strike="noStrike">
              <a:latin typeface="Arial"/>
            </a:endParaRPr>
          </a:p>
        </p:txBody>
      </p:sp>
      <p:sp>
        <p:nvSpPr>
          <p:cNvPr id="106" name="PlaceHolder 5"/>
          <p:cNvSpPr>
            <a:spLocks noGrp="1"/>
          </p:cNvSpPr>
          <p:nvPr>
            <p:ph/>
          </p:nvPr>
        </p:nvSpPr>
        <p:spPr>
          <a:xfrm>
            <a:off x="6647040" y="5236560"/>
            <a:ext cx="5711040" cy="26978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650160" y="389160"/>
            <a:ext cx="11703600" cy="162828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08" name="PlaceHolder 2"/>
          <p:cNvSpPr>
            <a:spLocks noGrp="1"/>
          </p:cNvSpPr>
          <p:nvPr>
            <p:ph/>
          </p:nvPr>
        </p:nvSpPr>
        <p:spPr>
          <a:xfrm>
            <a:off x="650160" y="2282040"/>
            <a:ext cx="3768480" cy="2697840"/>
          </a:xfrm>
          <a:prstGeom prst="rect">
            <a:avLst/>
          </a:prstGeom>
          <a:noFill/>
          <a:ln w="0">
            <a:noFill/>
          </a:ln>
        </p:spPr>
        <p:txBody>
          <a:bodyPr lIns="0" rIns="0" tIns="0" bIns="0" anchor="t">
            <a:normAutofit/>
          </a:bodyPr>
          <a:p>
            <a:endParaRPr b="0" lang="en-IN" sz="3200" spc="-1" strike="noStrike">
              <a:latin typeface="Arial"/>
            </a:endParaRPr>
          </a:p>
        </p:txBody>
      </p:sp>
      <p:sp>
        <p:nvSpPr>
          <p:cNvPr id="109" name="PlaceHolder 3"/>
          <p:cNvSpPr>
            <a:spLocks noGrp="1"/>
          </p:cNvSpPr>
          <p:nvPr>
            <p:ph/>
          </p:nvPr>
        </p:nvSpPr>
        <p:spPr>
          <a:xfrm>
            <a:off x="4607280" y="2282040"/>
            <a:ext cx="3768480" cy="2697840"/>
          </a:xfrm>
          <a:prstGeom prst="rect">
            <a:avLst/>
          </a:prstGeom>
          <a:noFill/>
          <a:ln w="0">
            <a:noFill/>
          </a:ln>
        </p:spPr>
        <p:txBody>
          <a:bodyPr lIns="0" rIns="0" tIns="0" bIns="0" anchor="t">
            <a:normAutofit/>
          </a:bodyPr>
          <a:p>
            <a:endParaRPr b="0" lang="en-IN" sz="3200" spc="-1" strike="noStrike">
              <a:latin typeface="Arial"/>
            </a:endParaRPr>
          </a:p>
        </p:txBody>
      </p:sp>
      <p:sp>
        <p:nvSpPr>
          <p:cNvPr id="110" name="PlaceHolder 4"/>
          <p:cNvSpPr>
            <a:spLocks noGrp="1"/>
          </p:cNvSpPr>
          <p:nvPr>
            <p:ph/>
          </p:nvPr>
        </p:nvSpPr>
        <p:spPr>
          <a:xfrm>
            <a:off x="8564760" y="2282040"/>
            <a:ext cx="3768480" cy="2697840"/>
          </a:xfrm>
          <a:prstGeom prst="rect">
            <a:avLst/>
          </a:prstGeom>
          <a:noFill/>
          <a:ln w="0">
            <a:noFill/>
          </a:ln>
        </p:spPr>
        <p:txBody>
          <a:bodyPr lIns="0" rIns="0" tIns="0" bIns="0" anchor="t">
            <a:normAutofit/>
          </a:bodyPr>
          <a:p>
            <a:endParaRPr b="0" lang="en-IN" sz="3200" spc="-1" strike="noStrike">
              <a:latin typeface="Arial"/>
            </a:endParaRPr>
          </a:p>
        </p:txBody>
      </p:sp>
      <p:sp>
        <p:nvSpPr>
          <p:cNvPr id="111" name="PlaceHolder 5"/>
          <p:cNvSpPr>
            <a:spLocks noGrp="1"/>
          </p:cNvSpPr>
          <p:nvPr>
            <p:ph/>
          </p:nvPr>
        </p:nvSpPr>
        <p:spPr>
          <a:xfrm>
            <a:off x="650160" y="5236560"/>
            <a:ext cx="3768480" cy="2697840"/>
          </a:xfrm>
          <a:prstGeom prst="rect">
            <a:avLst/>
          </a:prstGeom>
          <a:noFill/>
          <a:ln w="0">
            <a:noFill/>
          </a:ln>
        </p:spPr>
        <p:txBody>
          <a:bodyPr lIns="0" rIns="0" tIns="0" bIns="0" anchor="t">
            <a:normAutofit/>
          </a:bodyPr>
          <a:p>
            <a:endParaRPr b="0" lang="en-IN" sz="3200" spc="-1" strike="noStrike">
              <a:latin typeface="Arial"/>
            </a:endParaRPr>
          </a:p>
        </p:txBody>
      </p:sp>
      <p:sp>
        <p:nvSpPr>
          <p:cNvPr id="112" name="PlaceHolder 6"/>
          <p:cNvSpPr>
            <a:spLocks noGrp="1"/>
          </p:cNvSpPr>
          <p:nvPr>
            <p:ph/>
          </p:nvPr>
        </p:nvSpPr>
        <p:spPr>
          <a:xfrm>
            <a:off x="4607280" y="5236560"/>
            <a:ext cx="3768480" cy="2697840"/>
          </a:xfrm>
          <a:prstGeom prst="rect">
            <a:avLst/>
          </a:prstGeom>
          <a:noFill/>
          <a:ln w="0">
            <a:noFill/>
          </a:ln>
        </p:spPr>
        <p:txBody>
          <a:bodyPr lIns="0" rIns="0" tIns="0" bIns="0" anchor="t">
            <a:normAutofit/>
          </a:bodyPr>
          <a:p>
            <a:endParaRPr b="0" lang="en-IN" sz="3200" spc="-1" strike="noStrike">
              <a:latin typeface="Arial"/>
            </a:endParaRPr>
          </a:p>
        </p:txBody>
      </p:sp>
      <p:sp>
        <p:nvSpPr>
          <p:cNvPr id="113" name="PlaceHolder 7"/>
          <p:cNvSpPr>
            <a:spLocks noGrp="1"/>
          </p:cNvSpPr>
          <p:nvPr>
            <p:ph/>
          </p:nvPr>
        </p:nvSpPr>
        <p:spPr>
          <a:xfrm>
            <a:off x="8564760" y="5236560"/>
            <a:ext cx="3768480" cy="2697840"/>
          </a:xfrm>
          <a:prstGeom prst="rect">
            <a:avLst/>
          </a:prstGeom>
          <a:noFill/>
          <a:ln w="0">
            <a:noFill/>
          </a:ln>
        </p:spPr>
        <p:txBody>
          <a:bodyPr lIns="0" rIns="0" tIns="0" bIns="0" anchor="t">
            <a:normAutofit/>
          </a:bodyPr>
          <a:p>
            <a:endParaRPr b="0" lang="en-IN"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50160" y="389160"/>
            <a:ext cx="11703600" cy="1628280"/>
          </a:xfrm>
          <a:prstGeom prst="rect">
            <a:avLst/>
          </a:prstGeom>
          <a:noFill/>
          <a:ln w="0">
            <a:noFill/>
          </a:ln>
        </p:spPr>
        <p:txBody>
          <a:bodyPr lIns="0" rIns="0" tIns="0" bIns="0" anchor="ctr">
            <a:noAutofit/>
          </a:bodyPr>
          <a:p>
            <a:pPr algn="ctr">
              <a:buNone/>
            </a:pPr>
            <a:r>
              <a:rPr b="0" lang="en-IN" sz="4400" spc="-1" strike="noStrike">
                <a:latin typeface="Arial"/>
              </a:rPr>
              <a:t>Click to edit the title text format</a:t>
            </a:r>
            <a:endParaRPr b="0" lang="en-IN" sz="4400" spc="-1" strike="noStrike">
              <a:latin typeface="Arial"/>
            </a:endParaRPr>
          </a:p>
        </p:txBody>
      </p:sp>
      <p:sp>
        <p:nvSpPr>
          <p:cNvPr id="1" name="PlaceHolder 2"/>
          <p:cNvSpPr>
            <a:spLocks noGrp="1"/>
          </p:cNvSpPr>
          <p:nvPr>
            <p:ph type="body"/>
          </p:nvPr>
        </p:nvSpPr>
        <p:spPr>
          <a:xfrm>
            <a:off x="650160" y="2282040"/>
            <a:ext cx="11703600" cy="56563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650160" y="389160"/>
            <a:ext cx="11703600" cy="1628280"/>
          </a:xfrm>
          <a:prstGeom prst="rect">
            <a:avLst/>
          </a:prstGeom>
          <a:noFill/>
          <a:ln w="0">
            <a:noFill/>
          </a:ln>
        </p:spPr>
        <p:txBody>
          <a:bodyPr lIns="0" rIns="0" tIns="0" bIns="0" anchor="ctr">
            <a:noAutofit/>
          </a:bodyPr>
          <a:p>
            <a:pPr algn="ctr">
              <a:buNone/>
            </a:pPr>
            <a:r>
              <a:rPr b="0" lang="en-IN" sz="4400" spc="-1" strike="noStrike">
                <a:latin typeface="Arial"/>
              </a:rPr>
              <a:t>Click to edit the title text format</a:t>
            </a:r>
            <a:endParaRPr b="0" lang="en-IN" sz="4400" spc="-1" strike="noStrike">
              <a:latin typeface="Arial"/>
            </a:endParaRPr>
          </a:p>
        </p:txBody>
      </p:sp>
      <p:sp>
        <p:nvSpPr>
          <p:cNvPr id="39" name="PlaceHolder 2"/>
          <p:cNvSpPr>
            <a:spLocks noGrp="1"/>
          </p:cNvSpPr>
          <p:nvPr>
            <p:ph type="body"/>
          </p:nvPr>
        </p:nvSpPr>
        <p:spPr>
          <a:xfrm>
            <a:off x="650160" y="2282040"/>
            <a:ext cx="11703600" cy="56563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6" name="PlaceHolder 1"/>
          <p:cNvSpPr>
            <a:spLocks noGrp="1"/>
          </p:cNvSpPr>
          <p:nvPr>
            <p:ph type="title"/>
          </p:nvPr>
        </p:nvSpPr>
        <p:spPr>
          <a:xfrm>
            <a:off x="650160" y="389160"/>
            <a:ext cx="11703600" cy="1628280"/>
          </a:xfrm>
          <a:prstGeom prst="rect">
            <a:avLst/>
          </a:prstGeom>
          <a:noFill/>
          <a:ln w="0">
            <a:noFill/>
          </a:ln>
        </p:spPr>
        <p:txBody>
          <a:bodyPr lIns="0" rIns="0" tIns="0" bIns="0" anchor="ctr">
            <a:noAutofit/>
          </a:bodyPr>
          <a:p>
            <a:pPr algn="ctr">
              <a:buNone/>
            </a:pPr>
            <a:r>
              <a:rPr b="0" lang="en-IN" sz="4400" spc="-1" strike="noStrike">
                <a:latin typeface="Arial"/>
              </a:rPr>
              <a:t>Click to edit the title text format</a:t>
            </a:r>
            <a:endParaRPr b="0" lang="en-IN" sz="4400" spc="-1" strike="noStrike">
              <a:latin typeface="Arial"/>
            </a:endParaRPr>
          </a:p>
        </p:txBody>
      </p:sp>
      <p:sp>
        <p:nvSpPr>
          <p:cNvPr id="77" name="PlaceHolder 2"/>
          <p:cNvSpPr>
            <a:spLocks noGrp="1"/>
          </p:cNvSpPr>
          <p:nvPr>
            <p:ph type="body"/>
          </p:nvPr>
        </p:nvSpPr>
        <p:spPr>
          <a:xfrm>
            <a:off x="650160" y="2282040"/>
            <a:ext cx="11703600" cy="56563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25.xml"/>
</Relationships>
</file>

<file path=ppt/slides/_rels/slide14.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5.xml"/>
</Relationships>
</file>

<file path=ppt/slides/_rels/slide15.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image" Target="../media/image13.gif"/><Relationship Id="rId3" Type="http://schemas.openxmlformats.org/officeDocument/2006/relationships/slideLayout" Target="../slideLayouts/slideLayout13.xml"/>
</Relationships>
</file>

<file path=ppt/slides/_rels/slide16.xml.rels><?xml version="1.0" encoding="UTF-8"?>
<Relationships xmlns="http://schemas.openxmlformats.org/package/2006/relationships"><Relationship Id="rId1" Type="http://schemas.openxmlformats.org/officeDocument/2006/relationships/image" Target="../media/image14.jpeg"/><Relationship Id="rId2" Type="http://schemas.openxmlformats.org/officeDocument/2006/relationships/slideLayout" Target="../slideLayouts/slideLayout13.xml"/>
</Relationships>
</file>

<file path=ppt/slides/_rels/slide17.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jpeg"/><Relationship Id="rId3"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jpeg"/><Relationship Id="rId3" Type="http://schemas.openxmlformats.org/officeDocument/2006/relationships/slideLayout" Target="../slideLayouts/slideLayout13.xml"/>
</Relationships>
</file>

<file path=ppt/slides/_rels/slide19.xml.rels><?xml version="1.0" encoding="UTF-8"?>
<Relationships xmlns="http://schemas.openxmlformats.org/package/2006/relationships"><Relationship Id="rId1" Type="http://schemas.openxmlformats.org/officeDocument/2006/relationships/image" Target="../media/image19.jpeg"/><Relationship Id="rId2" Type="http://schemas.openxmlformats.org/officeDocument/2006/relationships/slideLayout" Target="../slideLayouts/slideLayout13.xml"/>
</Relationships>
</file>

<file path=ppt/slides/_rels/slide20.xml.rels><?xml version="1.0" encoding="UTF-8"?>
<Relationships xmlns="http://schemas.openxmlformats.org/package/2006/relationships"><Relationship Id="rId1" Type="http://schemas.openxmlformats.org/officeDocument/2006/relationships/image" Target="../media/image20.jpeg"/><Relationship Id="rId2" Type="http://schemas.openxmlformats.org/officeDocument/2006/relationships/slideLayout" Target="../slideLayouts/slideLayout13.xml"/>
</Relationships>
</file>

<file path=ppt/slides/_rels/slide21.xml.rels><?xml version="1.0" encoding="UTF-8"?>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3.xml"/>
</Relationships>
</file>

<file path=ppt/slides/_rels/slide22.xml.rels><?xml version="1.0" encoding="UTF-8"?>
<Relationships xmlns="http://schemas.openxmlformats.org/package/2006/relationships"><Relationship Id="rId1" Type="http://schemas.openxmlformats.org/officeDocument/2006/relationships/image" Target="../media/image22.jpeg"/><Relationship Id="rId2" Type="http://schemas.openxmlformats.org/officeDocument/2006/relationships/image" Target="../media/image23.jpeg"/><Relationship Id="rId3" Type="http://schemas.openxmlformats.org/officeDocument/2006/relationships/image" Target="../media/image24.jpeg"/><Relationship Id="rId4" Type="http://schemas.openxmlformats.org/officeDocument/2006/relationships/slideLayout" Target="../slideLayouts/slideLayout13.xml"/>
</Relationships>
</file>

<file path=ppt/slides/_rels/slide23.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13.xml"/>
</Relationships>
</file>

<file path=ppt/slides/_rels/slide24.xml.rels><?xml version="1.0" encoding="UTF-8"?>
<Relationships xmlns="http://schemas.openxmlformats.org/package/2006/relationships"><Relationship Id="rId1" Type="http://schemas.openxmlformats.org/officeDocument/2006/relationships/image" Target="../media/image26.jpeg"/><Relationship Id="rId2" Type="http://schemas.openxmlformats.org/officeDocument/2006/relationships/slideLayout" Target="../slideLayouts/slideLayout13.xml"/>
</Relationships>
</file>

<file path=ppt/slides/_rels/slide25.xml.rels><?xml version="1.0" encoding="UTF-8"?>
<Relationships xmlns="http://schemas.openxmlformats.org/package/2006/relationships"><Relationship Id="rId1" Type="http://schemas.openxmlformats.org/officeDocument/2006/relationships/image" Target="../media/image27.jpeg"/><Relationship Id="rId2" Type="http://schemas.openxmlformats.org/officeDocument/2006/relationships/slideLayout" Target="../slideLayouts/slideLayout13.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image" Target="../media/image28.jpeg"/><Relationship Id="rId2" Type="http://schemas.openxmlformats.org/officeDocument/2006/relationships/image" Target="../media/image29.png"/><Relationship Id="rId3" Type="http://schemas.openxmlformats.org/officeDocument/2006/relationships/image" Target="../media/image30.jpe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image" Target="../media/image33.jpeg"/><Relationship Id="rId2" Type="http://schemas.openxmlformats.org/officeDocument/2006/relationships/slideLayout" Target="../slideLayouts/slideLayout1.xml"/>
</Relationships>
</file>

<file path=ppt/slides/_rels/slide29.xml.rels><?xml version="1.0" encoding="UTF-8"?>
<Relationships xmlns="http://schemas.openxmlformats.org/package/2006/relationships"><Relationship Id="rId1" Type="http://schemas.openxmlformats.org/officeDocument/2006/relationships/image" Target="../media/image34.jpeg"/><Relationship Id="rId2" Type="http://schemas.openxmlformats.org/officeDocument/2006/relationships/slideLayout" Target="../slideLayouts/slideLayout1.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1.xml.rels><?xml version="1.0" encoding="UTF-8"?>
<Relationships xmlns="http://schemas.openxmlformats.org/package/2006/relationships"><Relationship Id="rId1" Type="http://schemas.openxmlformats.org/officeDocument/2006/relationships/image" Target="../media/image35.jpeg"/><Relationship Id="rId2" Type="http://schemas.openxmlformats.org/officeDocument/2006/relationships/slideLayout" Target="../slideLayouts/slideLayout1.xml"/>
</Relationships>
</file>

<file path=ppt/slides/_rels/slide32.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slideLayout" Target="../slideLayouts/slideLayout1.xml"/>
</Relationships>
</file>

<file path=ppt/slides/_rels/slide33.xml.rels><?xml version="1.0" encoding="UTF-8"?>
<Relationships xmlns="http://schemas.openxmlformats.org/package/2006/relationships"><Relationship Id="rId1" Type="http://schemas.openxmlformats.org/officeDocument/2006/relationships/image" Target="../media/image37.png"/><Relationship Id="rId2" Type="http://schemas.openxmlformats.org/officeDocument/2006/relationships/slideLayout" Target="../slideLayouts/slideLayout1.xml"/>
</Relationships>
</file>

<file path=ppt/slides/_rels/slide34.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39.png"/><Relationship Id="rId3" Type="http://schemas.openxmlformats.org/officeDocument/2006/relationships/image" Target="../media/image40.gif"/><Relationship Id="rId4" Type="http://schemas.openxmlformats.org/officeDocument/2006/relationships/image" Target="../media/image41.png"/><Relationship Id="rId5" Type="http://schemas.openxmlformats.org/officeDocument/2006/relationships/slideLayout" Target="../slideLayouts/slideLayout1.xml"/>
</Relationships>
</file>

<file path=ppt/slides/_rels/slide35.xml.rels><?xml version="1.0" encoding="UTF-8"?>
<Relationships xmlns="http://schemas.openxmlformats.org/package/2006/relationships"><Relationship Id="rId1" Type="http://schemas.openxmlformats.org/officeDocument/2006/relationships/image" Target="../media/image42.jpeg"/><Relationship Id="rId2" Type="http://schemas.openxmlformats.org/officeDocument/2006/relationships/slideLayout" Target="../slideLayouts/slideLayout1.xml"/>
</Relationships>
</file>

<file path=ppt/slides/_rels/slide36.xml.rels><?xml version="1.0" encoding="UTF-8"?>
<Relationships xmlns="http://schemas.openxmlformats.org/package/2006/relationships"><Relationship Id="rId1" Type="http://schemas.openxmlformats.org/officeDocument/2006/relationships/image" Target="../media/image43.png"/><Relationship Id="rId2" Type="http://schemas.openxmlformats.org/officeDocument/2006/relationships/slideLayout" Target="../slideLayouts/slideLayout1.xml"/>
</Relationships>
</file>

<file path=ppt/slides/_rels/slide37.xml.rels><?xml version="1.0" encoding="UTF-8"?>
<Relationships xmlns="http://schemas.openxmlformats.org/package/2006/relationships"><Relationship Id="rId1" Type="http://schemas.openxmlformats.org/officeDocument/2006/relationships/image" Target="../media/image44.jpeg"/><Relationship Id="rId2" Type="http://schemas.openxmlformats.org/officeDocument/2006/relationships/slideLayout" Target="../slideLayouts/slideLayout1.xml"/>
</Relationships>
</file>

<file path=ppt/slides/_rels/slide38.xml.rels><?xml version="1.0" encoding="UTF-8"?>
<Relationships xmlns="http://schemas.openxmlformats.org/package/2006/relationships"><Relationship Id="rId1" Type="http://schemas.openxmlformats.org/officeDocument/2006/relationships/image" Target="../media/image45.jpeg"/><Relationship Id="rId2" Type="http://schemas.openxmlformats.org/officeDocument/2006/relationships/slideLayout" Target="../slideLayouts/slideLayout1.xml"/>
</Relationships>
</file>

<file path=ppt/slides/_rels/slide39.xml.rels><?xml version="1.0" encoding="UTF-8"?>
<Relationships xmlns="http://schemas.openxmlformats.org/package/2006/relationships"><Relationship Id="rId1" Type="http://schemas.openxmlformats.org/officeDocument/2006/relationships/image" Target="../media/image46.jpeg"/><Relationship Id="rId2" Type="http://schemas.openxmlformats.org/officeDocument/2006/relationships/image" Target="../media/image47.png"/><Relationship Id="rId3" Type="http://schemas.openxmlformats.org/officeDocument/2006/relationships/slideLayout" Target="../slideLayouts/slideLayout1.xml"/>
</Relationships>
</file>

<file path=ppt/slides/_rels/slide40.xml.rels><?xml version="1.0" encoding="UTF-8"?>
<Relationships xmlns="http://schemas.openxmlformats.org/package/2006/relationships"><Relationship Id="rId1" Type="http://schemas.openxmlformats.org/officeDocument/2006/relationships/image" Target="../media/image48.png"/><Relationship Id="rId2" Type="http://schemas.openxmlformats.org/officeDocument/2006/relationships/slideLayout" Target="../slideLayouts/slideLayout1.xml"/>
</Relationships>
</file>

<file path=ppt/slides/_rels/slide41.xml.rels><?xml version="1.0" encoding="UTF-8"?>
<Relationships xmlns="http://schemas.openxmlformats.org/package/2006/relationships"><Relationship Id="rId1" Type="http://schemas.openxmlformats.org/officeDocument/2006/relationships/image" Target="../media/image49.png"/><Relationship Id="rId2" Type="http://schemas.openxmlformats.org/officeDocument/2006/relationships/image" Target="../media/image50.jpeg"/><Relationship Id="rId3" Type="http://schemas.openxmlformats.org/officeDocument/2006/relationships/slideLayout" Target="../slideLayouts/slideLayout1.xml"/>
</Relationships>
</file>

<file path=ppt/slides/_rels/slide42.xml.rels><?xml version="1.0" encoding="UTF-8"?>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jpeg"/><Relationship Id="rId3" Type="http://schemas.openxmlformats.org/officeDocument/2006/relationships/slideLayout" Target="../slideLayouts/slideLayout1.xml"/>
</Relationships>
</file>

<file path=ppt/slides/_rels/slide43.xml.rels><?xml version="1.0" encoding="UTF-8"?>
<Relationships xmlns="http://schemas.openxmlformats.org/package/2006/relationships"><Relationship Id="rId1" Type="http://schemas.openxmlformats.org/officeDocument/2006/relationships/image" Target="../media/image53.png"/><Relationship Id="rId2" Type="http://schemas.openxmlformats.org/officeDocument/2006/relationships/slideLayout" Target="../slideLayouts/slideLayout1.xml"/>
</Relationships>
</file>

<file path=ppt/slides/_rels/slide44.xml.rels><?xml version="1.0" encoding="UTF-8"?>
<Relationships xmlns="http://schemas.openxmlformats.org/package/2006/relationships"><Relationship Id="rId1" Type="http://schemas.openxmlformats.org/officeDocument/2006/relationships/image" Target="../media/image54.jpeg"/><Relationship Id="rId2" Type="http://schemas.openxmlformats.org/officeDocument/2006/relationships/slideLayout" Target="../slideLayouts/slideLayout1.xml"/>
</Relationships>
</file>

<file path=ppt/slides/_rels/slide45.xml.rels><?xml version="1.0" encoding="UTF-8"?>
<Relationships xmlns="http://schemas.openxmlformats.org/package/2006/relationships"><Relationship Id="rId1" Type="http://schemas.openxmlformats.org/officeDocument/2006/relationships/image" Target="../media/image55.jpeg"/><Relationship Id="rId2" Type="http://schemas.openxmlformats.org/officeDocument/2006/relationships/slideLayout" Target="../slideLayouts/slideLayout1.xml"/>
</Relationships>
</file>

<file path=ppt/slides/_rels/slide46.xml.rels><?xml version="1.0" encoding="UTF-8"?>
<Relationships xmlns="http://schemas.openxmlformats.org/package/2006/relationships"><Relationship Id="rId1" Type="http://schemas.openxmlformats.org/officeDocument/2006/relationships/image" Target="../media/image56.gif"/><Relationship Id="rId2" Type="http://schemas.openxmlformats.org/officeDocument/2006/relationships/image" Target="../media/image57.png"/><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image" Target="../media/image60.png"/><Relationship Id="rId6" Type="http://schemas.openxmlformats.org/officeDocument/2006/relationships/image" Target="../media/image61.jpeg"/><Relationship Id="rId7" Type="http://schemas.openxmlformats.org/officeDocument/2006/relationships/image" Target="../media/image62.jpeg"/><Relationship Id="rId8" Type="http://schemas.openxmlformats.org/officeDocument/2006/relationships/slideLayout" Target="../slideLayouts/slideLayout1.xml"/>
</Relationships>
</file>

<file path=ppt/slides/_rels/slide47.xml.rels><?xml version="1.0" encoding="UTF-8"?>
<Relationships xmlns="http://schemas.openxmlformats.org/package/2006/relationships"><Relationship Id="rId1" Type="http://schemas.openxmlformats.org/officeDocument/2006/relationships/image" Target="../media/image63.jpeg"/><Relationship Id="rId2" Type="http://schemas.openxmlformats.org/officeDocument/2006/relationships/image" Target="../media/image64.jpeg"/><Relationship Id="rId3" Type="http://schemas.openxmlformats.org/officeDocument/2006/relationships/slideLayout" Target="../slideLayouts/slideLayout1.xml"/>
</Relationships>
</file>

<file path=ppt/slides/_rels/slide48.xml.rels><?xml version="1.0" encoding="UTF-8"?>
<Relationships xmlns="http://schemas.openxmlformats.org/package/2006/relationships"><Relationship Id="rId1" Type="http://schemas.openxmlformats.org/officeDocument/2006/relationships/image" Target="../media/image65.jpeg"/><Relationship Id="rId2" Type="http://schemas.openxmlformats.org/officeDocument/2006/relationships/image" Target="../media/image66.jpeg"/><Relationship Id="rId3" Type="http://schemas.openxmlformats.org/officeDocument/2006/relationships/image" Target="../media/image67.jpeg"/><Relationship Id="rId4" Type="http://schemas.openxmlformats.org/officeDocument/2006/relationships/slideLayout" Target="../slideLayouts/slideLayout1.xml"/>
</Relationships>
</file>

<file path=ppt/slides/_rels/slide49.xml.rels><?xml version="1.0" encoding="UTF-8"?>
<Relationships xmlns="http://schemas.openxmlformats.org/package/2006/relationships"><Relationship Id="rId1" Type="http://schemas.openxmlformats.org/officeDocument/2006/relationships/image" Target="../media/image68.jpeg"/><Relationship Id="rId2" Type="http://schemas.openxmlformats.org/officeDocument/2006/relationships/slideLayout" Target="../slideLayouts/slideLayout1.xml"/>
</Relationships>
</file>

<file path=ppt/slides/_rels/slide50.xml.rels><?xml version="1.0" encoding="UTF-8"?>
<Relationships xmlns="http://schemas.openxmlformats.org/package/2006/relationships"><Relationship Id="rId1" Type="http://schemas.openxmlformats.org/officeDocument/2006/relationships/image" Target="../media/image69.png"/><Relationship Id="rId2" Type="http://schemas.openxmlformats.org/officeDocument/2006/relationships/slideLayout" Target="../slideLayouts/slideLayout1.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2.xml.rels><?xml version="1.0" encoding="UTF-8"?>
<Relationships xmlns="http://schemas.openxmlformats.org/package/2006/relationships"><Relationship Id="rId1" Type="http://schemas.openxmlformats.org/officeDocument/2006/relationships/image" Target="../media/image70.png"/><Relationship Id="rId2" Type="http://schemas.openxmlformats.org/officeDocument/2006/relationships/slideLayout" Target="../slideLayouts/slideLayout1.xml"/>
</Relationships>
</file>

<file path=ppt/slides/_rels/slide53.xml.rels><?xml version="1.0" encoding="UTF-8"?>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
</Relationships>
</file>

<file path=ppt/slides/_rels/slide54.xml.rels><?xml version="1.0" encoding="UTF-8"?>
<Relationships xmlns="http://schemas.openxmlformats.org/package/2006/relationships"><Relationship Id="rId1" Type="http://schemas.openxmlformats.org/officeDocument/2006/relationships/image" Target="../media/image72.png"/><Relationship Id="rId2" Type="http://schemas.openxmlformats.org/officeDocument/2006/relationships/slideLayout" Target="../slideLayouts/slideLayout1.xml"/>
</Relationships>
</file>

<file path=ppt/slides/_rels/slide55.xml.rels><?xml version="1.0" encoding="UTF-8"?>
<Relationships xmlns="http://schemas.openxmlformats.org/package/2006/relationships"><Relationship Id="rId1" Type="http://schemas.openxmlformats.org/officeDocument/2006/relationships/image" Target="../media/image73.png"/><Relationship Id="rId2" Type="http://schemas.openxmlformats.org/officeDocument/2006/relationships/image" Target="../media/image74.png"/><Relationship Id="rId3" Type="http://schemas.openxmlformats.org/officeDocument/2006/relationships/image" Target="../media/image75.png"/><Relationship Id="rId4" Type="http://schemas.openxmlformats.org/officeDocument/2006/relationships/image" Target="../media/image76.png"/><Relationship Id="rId5" Type="http://schemas.openxmlformats.org/officeDocument/2006/relationships/slideLayout" Target="../slideLayouts/slideLayout1.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CustomShape 21"/>
          <p:cNvSpPr/>
          <p:nvPr/>
        </p:nvSpPr>
        <p:spPr>
          <a:xfrm>
            <a:off x="382320" y="744480"/>
            <a:ext cx="12446280" cy="116172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endParaRPr b="0" lang="en-IN" sz="1800" spc="-1" strike="noStrike">
              <a:latin typeface="Arial"/>
            </a:endParaRPr>
          </a:p>
          <a:p>
            <a:pPr>
              <a:lnSpc>
                <a:spcPct val="100000"/>
              </a:lnSpc>
              <a:buNone/>
            </a:pPr>
            <a:endParaRPr b="0" lang="en-IN" sz="1800" spc="-1" strike="noStrike">
              <a:latin typeface="Arial"/>
            </a:endParaRPr>
          </a:p>
          <a:p>
            <a:pPr>
              <a:lnSpc>
                <a:spcPct val="100000"/>
              </a:lnSpc>
              <a:buNone/>
            </a:pPr>
            <a:endParaRPr b="0" lang="en-IN" sz="1800" spc="-1" strike="noStrike">
              <a:latin typeface="Arial"/>
            </a:endParaRPr>
          </a:p>
          <a:p>
            <a:pPr>
              <a:lnSpc>
                <a:spcPct val="100000"/>
              </a:lnSpc>
              <a:buNone/>
            </a:pPr>
            <a:endParaRPr b="0" lang="en-IN" sz="1800" spc="-1" strike="noStrike">
              <a:latin typeface="Arial"/>
            </a:endParaRPr>
          </a:p>
          <a:p>
            <a:pPr>
              <a:lnSpc>
                <a:spcPct val="100000"/>
              </a:lnSpc>
              <a:buNone/>
            </a:pPr>
            <a:endParaRPr b="0" lang="en-IN" sz="1800" spc="-1" strike="noStrike">
              <a:latin typeface="Arial"/>
            </a:endParaRPr>
          </a:p>
        </p:txBody>
      </p:sp>
      <p:sp>
        <p:nvSpPr>
          <p:cNvPr id="115" name="CustomShape 35"/>
          <p:cNvSpPr/>
          <p:nvPr/>
        </p:nvSpPr>
        <p:spPr>
          <a:xfrm>
            <a:off x="2314440" y="1280160"/>
            <a:ext cx="9101880" cy="3826440"/>
          </a:xfrm>
          <a:prstGeom prst="rect">
            <a:avLst/>
          </a:prstGeom>
          <a:noFill/>
          <a:ln w="0">
            <a:noFill/>
          </a:ln>
        </p:spPr>
        <p:style>
          <a:lnRef idx="0"/>
          <a:fillRef idx="0"/>
          <a:effectRef idx="0"/>
          <a:fontRef idx="minor"/>
        </p:style>
      </p:sp>
      <p:sp>
        <p:nvSpPr>
          <p:cNvPr id="116" name="CustomShape 36"/>
          <p:cNvSpPr/>
          <p:nvPr/>
        </p:nvSpPr>
        <p:spPr>
          <a:xfrm>
            <a:off x="1303920" y="2479680"/>
            <a:ext cx="10028160" cy="208440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buNone/>
            </a:pPr>
            <a:r>
              <a:rPr b="0" lang="en-US" sz="4800" spc="-1" strike="noStrike">
                <a:solidFill>
                  <a:srgbClr val="000000"/>
                </a:solidFill>
                <a:latin typeface="AnjaliOldLipi"/>
                <a:ea typeface="DejaVu Sans"/>
              </a:rPr>
              <a:t>Projects on distance determination </a:t>
            </a:r>
            <a:endParaRPr b="0" lang="en-IN" sz="4800" spc="-1" strike="noStrike">
              <a:latin typeface="Arial"/>
            </a:endParaRPr>
          </a:p>
          <a:p>
            <a:pPr algn="ctr">
              <a:lnSpc>
                <a:spcPct val="100000"/>
              </a:lnSpc>
              <a:buNone/>
            </a:pPr>
            <a:endParaRPr b="0" lang="en-IN" sz="4800" spc="-1" strike="noStrike">
              <a:latin typeface="Arial"/>
            </a:endParaRPr>
          </a:p>
          <a:p>
            <a:pPr algn="ctr">
              <a:lnSpc>
                <a:spcPct val="100000"/>
              </a:lnSpc>
              <a:buNone/>
            </a:pPr>
            <a:r>
              <a:rPr b="0" lang="en-US" sz="4800" spc="-1" strike="noStrike">
                <a:solidFill>
                  <a:srgbClr val="000000"/>
                </a:solidFill>
                <a:latin typeface="AnjaliOldLipi"/>
                <a:ea typeface="DejaVu Sans"/>
              </a:rPr>
              <a:t>03 March 2026</a:t>
            </a:r>
            <a:endParaRPr b="0" lang="en-IN" sz="4800" spc="-1" strike="noStrike">
              <a:latin typeface="Arial"/>
            </a:endParaRPr>
          </a:p>
        </p:txBody>
      </p:sp>
      <p:sp>
        <p:nvSpPr>
          <p:cNvPr id="117" name="CustomShape 73"/>
          <p:cNvSpPr/>
          <p:nvPr/>
        </p:nvSpPr>
        <p:spPr>
          <a:xfrm>
            <a:off x="4097160" y="639360"/>
            <a:ext cx="5216040" cy="810000"/>
          </a:xfrm>
          <a:prstGeom prst="rect">
            <a:avLst/>
          </a:prstGeom>
          <a:no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CustomShape 20"/>
          <p:cNvSpPr/>
          <p:nvPr/>
        </p:nvSpPr>
        <p:spPr>
          <a:xfrm>
            <a:off x="293040" y="248760"/>
            <a:ext cx="12335400" cy="929052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spcBef>
                <a:spcPts val="1191"/>
              </a:spcBef>
              <a:spcAft>
                <a:spcPts val="992"/>
              </a:spcAft>
              <a:buNone/>
            </a:pPr>
            <a:r>
              <a:rPr b="1" lang="en-IN" sz="3200" spc="-1" strike="noStrike">
                <a:solidFill>
                  <a:srgbClr val="000000"/>
                </a:solidFill>
                <a:latin typeface="Arial"/>
                <a:ea typeface="DejaVu Sans"/>
              </a:rPr>
              <a:t>Possible data handling projects</a:t>
            </a:r>
            <a:endParaRPr b="0" lang="en-IN" sz="3200" spc="-1" strike="noStrike">
              <a:latin typeface="Arial"/>
            </a:endParaRPr>
          </a:p>
          <a:p>
            <a:pPr algn="just">
              <a:lnSpc>
                <a:spcPct val="100000"/>
              </a:lnSpc>
              <a:spcBef>
                <a:spcPts val="1191"/>
              </a:spcBef>
              <a:spcAft>
                <a:spcPts val="992"/>
              </a:spcAft>
              <a:buNone/>
            </a:pPr>
            <a:r>
              <a:rPr b="0" lang="en-IN" sz="2400" spc="-1" strike="noStrike">
                <a:solidFill>
                  <a:srgbClr val="000000"/>
                </a:solidFill>
                <a:latin typeface="Arial"/>
                <a:ea typeface="DejaVu Sans"/>
              </a:rPr>
              <a:t> </a:t>
            </a:r>
            <a:r>
              <a:rPr b="0" lang="en-IN" sz="2400" spc="-1" strike="noStrike">
                <a:solidFill>
                  <a:srgbClr val="000000"/>
                </a:solidFill>
                <a:latin typeface="Arial"/>
                <a:ea typeface="DejaVu Sans"/>
              </a:rPr>
              <a:t>(1) Select a few </a:t>
            </a:r>
            <a:r>
              <a:rPr b="1" i="1" lang="en-IN" sz="2400" spc="-1" strike="noStrike">
                <a:solidFill>
                  <a:srgbClr val="000000"/>
                </a:solidFill>
                <a:latin typeface="Arial"/>
                <a:ea typeface="DejaVu Sans"/>
              </a:rPr>
              <a:t>nearby </a:t>
            </a:r>
            <a:r>
              <a:rPr b="0" lang="en-IN" sz="2400" spc="-1" strike="noStrike">
                <a:solidFill>
                  <a:srgbClr val="000000"/>
                </a:solidFill>
                <a:latin typeface="Arial"/>
                <a:ea typeface="DejaVu Sans"/>
              </a:rPr>
              <a:t>stellar clusters, extract GAIA DR3 G-band magnitude and GP-RP colors; construct color vs magnitude daigrams; over-plot the  intrinsic colors and absolute magnitudes for the main-sequence stars;  by shifting the intrinsic Main-sequence determine the distance modulus m-M; apply m=M=-5+5log(d)+Av relation to find the distance; Av=0 if the distance to the cluster is within 100 pc or so. </a:t>
            </a:r>
            <a:endParaRPr b="0" lang="en-IN" sz="2400" spc="-1" strike="noStrike">
              <a:latin typeface="Arial"/>
            </a:endParaRPr>
          </a:p>
          <a:p>
            <a:pPr algn="just">
              <a:lnSpc>
                <a:spcPct val="100000"/>
              </a:lnSpc>
              <a:spcBef>
                <a:spcPts val="1191"/>
              </a:spcBef>
              <a:spcAft>
                <a:spcPts val="992"/>
              </a:spcAft>
              <a:buNone/>
            </a:pPr>
            <a:r>
              <a:rPr b="0" lang="en-IN" sz="2400" spc="-1" strike="noStrike">
                <a:solidFill>
                  <a:srgbClr val="000000"/>
                </a:solidFill>
                <a:latin typeface="Arial"/>
                <a:ea typeface="DejaVu Sans"/>
              </a:rPr>
              <a:t>Targets: Open clusters, Globuler clusters, and molecular clouds</a:t>
            </a:r>
            <a:endParaRPr b="0" lang="en-IN" sz="2400" spc="-1" strike="noStrike">
              <a:latin typeface="Arial"/>
            </a:endParaRPr>
          </a:p>
          <a:p>
            <a:pPr algn="just">
              <a:lnSpc>
                <a:spcPct val="100000"/>
              </a:lnSpc>
              <a:spcBef>
                <a:spcPts val="1191"/>
              </a:spcBef>
              <a:spcAft>
                <a:spcPts val="992"/>
              </a:spcAft>
              <a:buNone/>
            </a:pPr>
            <a:r>
              <a:rPr b="0" lang="en-IN" sz="2400" spc="-1" strike="noStrike">
                <a:solidFill>
                  <a:srgbClr val="000000"/>
                </a:solidFill>
                <a:latin typeface="Arial"/>
                <a:ea typeface="DejaVu Sans"/>
              </a:rPr>
              <a:t>(2) Use parallaxes from GAIA DR3 or derived distances directly from Bailer-Jones et al. (2021) cross check the determined distances; any difference between them is due to the exinction Av – for globuler and open clusters</a:t>
            </a:r>
            <a:endParaRPr b="0" lang="en-IN" sz="2400" spc="-1" strike="noStrike">
              <a:latin typeface="Arial"/>
            </a:endParaRPr>
          </a:p>
          <a:p>
            <a:pPr algn="just">
              <a:lnSpc>
                <a:spcPct val="100000"/>
              </a:lnSpc>
              <a:spcBef>
                <a:spcPts val="1191"/>
              </a:spcBef>
              <a:spcAft>
                <a:spcPts val="992"/>
              </a:spcAft>
              <a:buNone/>
            </a:pPr>
            <a:r>
              <a:rPr b="0" lang="en-IN" sz="2400" spc="-1" strike="noStrike">
                <a:solidFill>
                  <a:srgbClr val="000000"/>
                </a:solidFill>
                <a:latin typeface="Arial"/>
                <a:ea typeface="DejaVu Sans"/>
              </a:rPr>
              <a:t>(3) Extract the proper motions for the nearby stellar cluster stars. Plot the proper motions in RA vs Dec, try to also plot the RA vs Dec, and proper motions using vectors, and examine whether cluster stars comove on the sky; and compare the properties of the propermotion vectors of cluster stars with field stars (lying foreground and background to the cluster) – use</a:t>
            </a:r>
            <a:r>
              <a:rPr b="1" i="1" lang="en-IN" sz="2400" spc="-1" strike="noStrike">
                <a:solidFill>
                  <a:srgbClr val="000000"/>
                </a:solidFill>
                <a:latin typeface="Arial"/>
                <a:ea typeface="DejaVu Sans"/>
              </a:rPr>
              <a:t> topcat</a:t>
            </a:r>
            <a:r>
              <a:rPr b="0" lang="en-IN" sz="2400" spc="-1" strike="noStrike">
                <a:solidFill>
                  <a:srgbClr val="000000"/>
                </a:solidFill>
                <a:latin typeface="Arial"/>
                <a:ea typeface="DejaVu Sans"/>
              </a:rPr>
              <a:t> tool</a:t>
            </a:r>
            <a:endParaRPr b="0" lang="en-IN" sz="2400" spc="-1" strike="noStrike">
              <a:latin typeface="Arial"/>
            </a:endParaRPr>
          </a:p>
          <a:p>
            <a:pPr algn="just">
              <a:lnSpc>
                <a:spcPct val="100000"/>
              </a:lnSpc>
              <a:spcBef>
                <a:spcPts val="1191"/>
              </a:spcBef>
              <a:spcAft>
                <a:spcPts val="992"/>
              </a:spcAft>
              <a:buNone/>
            </a:pPr>
            <a:r>
              <a:rPr b="0" lang="en-IN" sz="2400" spc="-1" strike="noStrike">
                <a:solidFill>
                  <a:srgbClr val="000000"/>
                </a:solidFill>
                <a:latin typeface="Arial"/>
                <a:ea typeface="DejaVu Sans"/>
              </a:rPr>
              <a:t>(4) Choose Cepheid variable stars for LMC/SMC or other galaxies; get the data for the existing light curves (time vs flux); determine the periodicity (P); extract Luminosity for a given P from the standard Leavit relation between L and P;  find the distances using the relation between L and P</a:t>
            </a:r>
            <a:endParaRPr b="0" lang="en-IN" sz="2400" spc="-1" strike="noStrike">
              <a:latin typeface="Arial"/>
            </a:endParaRPr>
          </a:p>
          <a:p>
            <a:pPr algn="just">
              <a:lnSpc>
                <a:spcPct val="100000"/>
              </a:lnSpc>
              <a:spcBef>
                <a:spcPts val="1191"/>
              </a:spcBef>
              <a:spcAft>
                <a:spcPts val="992"/>
              </a:spcAft>
              <a:buNone/>
            </a:pPr>
            <a:r>
              <a:rPr b="0" lang="en-IN" sz="2400" spc="-1" strike="noStrike">
                <a:solidFill>
                  <a:srgbClr val="000000"/>
                </a:solidFill>
                <a:latin typeface="Arial"/>
                <a:ea typeface="DejaVu Sans"/>
              </a:rPr>
              <a:t>(5) Light curves of variable objects (stars/galaxies) – do aperture photometry</a:t>
            </a:r>
            <a:endParaRPr b="0" lang="en-IN" sz="2400" spc="-1" strike="noStrike">
              <a:latin typeface="Arial"/>
            </a:endParaRPr>
          </a:p>
          <a:p>
            <a:pPr algn="just">
              <a:lnSpc>
                <a:spcPct val="100000"/>
              </a:lnSpc>
              <a:spcBef>
                <a:spcPts val="1191"/>
              </a:spcBef>
              <a:spcAft>
                <a:spcPts val="992"/>
              </a:spcAft>
              <a:buNone/>
            </a:pPr>
            <a:endParaRPr b="0" lang="en-IN" sz="2400" spc="-1" strike="noStrike">
              <a:latin typeface="Arial"/>
            </a:endParaRPr>
          </a:p>
          <a:p>
            <a:pPr algn="just">
              <a:lnSpc>
                <a:spcPct val="100000"/>
              </a:lnSpc>
              <a:spcBef>
                <a:spcPts val="1191"/>
              </a:spcBef>
              <a:spcAft>
                <a:spcPts val="992"/>
              </a:spcAft>
              <a:buNone/>
            </a:pPr>
            <a:endParaRPr b="0" lang="en-IN" sz="36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9" name="" descr=""/>
          <p:cNvPicPr/>
          <p:nvPr/>
        </p:nvPicPr>
        <p:blipFill>
          <a:blip r:embed="rId1"/>
          <a:stretch/>
        </p:blipFill>
        <p:spPr>
          <a:xfrm>
            <a:off x="5940000" y="3529440"/>
            <a:ext cx="6839280" cy="6009840"/>
          </a:xfrm>
          <a:prstGeom prst="rect">
            <a:avLst/>
          </a:prstGeom>
          <a:ln w="0">
            <a:noFill/>
          </a:ln>
        </p:spPr>
      </p:pic>
      <p:pic>
        <p:nvPicPr>
          <p:cNvPr id="120" name="" descr=""/>
          <p:cNvPicPr/>
          <p:nvPr/>
        </p:nvPicPr>
        <p:blipFill>
          <a:blip r:embed="rId2"/>
          <a:stretch/>
        </p:blipFill>
        <p:spPr>
          <a:xfrm>
            <a:off x="180000" y="180000"/>
            <a:ext cx="7559280" cy="512064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1" name="" descr=""/>
          <p:cNvPicPr/>
          <p:nvPr/>
        </p:nvPicPr>
        <p:blipFill>
          <a:blip r:embed="rId1"/>
          <a:stretch/>
        </p:blipFill>
        <p:spPr>
          <a:xfrm>
            <a:off x="180000" y="911880"/>
            <a:ext cx="12599280" cy="797940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2" name="" descr=""/>
          <p:cNvPicPr/>
          <p:nvPr/>
        </p:nvPicPr>
        <p:blipFill>
          <a:blip r:embed="rId1"/>
          <a:stretch/>
        </p:blipFill>
        <p:spPr>
          <a:xfrm>
            <a:off x="360000" y="1620000"/>
            <a:ext cx="12206880" cy="328968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
          <p:cNvSpPr/>
          <p:nvPr/>
        </p:nvSpPr>
        <p:spPr>
          <a:xfrm>
            <a:off x="1080000" y="7380000"/>
            <a:ext cx="10979280" cy="17992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IN" sz="1800" spc="-1" strike="noStrike">
                <a:solidFill>
                  <a:srgbClr val="000000"/>
                </a:solidFill>
                <a:latin typeface="Arial"/>
                <a:ea typeface="DejaVu Sans"/>
              </a:rPr>
              <a:t>Paper link</a:t>
            </a:r>
            <a:endParaRPr b="0" lang="en-IN" sz="1800" spc="-1" strike="noStrike">
              <a:latin typeface="Arial"/>
            </a:endParaRPr>
          </a:p>
          <a:p>
            <a:pPr>
              <a:lnSpc>
                <a:spcPct val="100000"/>
              </a:lnSpc>
              <a:buNone/>
            </a:pPr>
            <a:endParaRPr b="0" lang="en-IN" sz="1800" spc="-1" strike="noStrike">
              <a:latin typeface="Arial"/>
            </a:endParaRPr>
          </a:p>
          <a:p>
            <a:pPr>
              <a:lnSpc>
                <a:spcPct val="100000"/>
              </a:lnSpc>
              <a:buNone/>
            </a:pPr>
            <a:r>
              <a:rPr b="0" lang="en-IN" sz="1800" spc="-1" strike="noStrike">
                <a:solidFill>
                  <a:srgbClr val="000000"/>
                </a:solidFill>
                <a:latin typeface="Arial"/>
                <a:ea typeface="DejaVu Sans"/>
              </a:rPr>
              <a:t>https://www.aanda.org/articles/aa/pdf/2023/07/aa44933-22.pdf</a:t>
            </a:r>
            <a:endParaRPr b="0" lang="en-IN" sz="1800" spc="-1" strike="noStrike">
              <a:latin typeface="Arial"/>
            </a:endParaRPr>
          </a:p>
          <a:p>
            <a:pPr>
              <a:lnSpc>
                <a:spcPct val="100000"/>
              </a:lnSpc>
              <a:buNone/>
            </a:pPr>
            <a:endParaRPr b="0" lang="en-IN" sz="1800" spc="-1" strike="noStrike">
              <a:latin typeface="Arial"/>
            </a:endParaRPr>
          </a:p>
          <a:p>
            <a:pPr>
              <a:lnSpc>
                <a:spcPct val="100000"/>
              </a:lnSpc>
              <a:buNone/>
            </a:pPr>
            <a:r>
              <a:rPr b="0" lang="en-IN" sz="1800" spc="-1" strike="noStrike">
                <a:solidFill>
                  <a:srgbClr val="000000"/>
                </a:solidFill>
                <a:latin typeface="Arial"/>
                <a:ea typeface="DejaVu Sans"/>
              </a:rPr>
              <a:t>They have used GAIA magnitude and colors to determinate the age, distance, and extinction of the open clusters</a:t>
            </a:r>
            <a:endParaRPr b="0" lang="en-IN" sz="1800" spc="-1" strike="noStrike">
              <a:latin typeface="Arial"/>
            </a:endParaRPr>
          </a:p>
        </p:txBody>
      </p:sp>
      <p:pic>
        <p:nvPicPr>
          <p:cNvPr id="124" name="" descr=""/>
          <p:cNvPicPr/>
          <p:nvPr/>
        </p:nvPicPr>
        <p:blipFill>
          <a:blip r:embed="rId1"/>
          <a:stretch/>
        </p:blipFill>
        <p:spPr>
          <a:xfrm>
            <a:off x="720000" y="360000"/>
            <a:ext cx="10903320" cy="629928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
          <p:cNvSpPr/>
          <p:nvPr/>
        </p:nvSpPr>
        <p:spPr>
          <a:xfrm>
            <a:off x="540000" y="1260000"/>
            <a:ext cx="12059280" cy="76672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1" lang="en-IN" sz="3200" spc="-1" strike="noStrike">
                <a:solidFill>
                  <a:srgbClr val="000000"/>
                </a:solidFill>
                <a:latin typeface="Arial"/>
                <a:ea typeface="DejaVu Sans"/>
              </a:rPr>
              <a:t>To get the light curve data for Cepheid variable stars </a:t>
            </a:r>
            <a:endParaRPr b="0" lang="en-IN" sz="32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DejaVu Sans"/>
              </a:rPr>
              <a:t>Try the OGLE data (https://ogle.astrouw.edu.pl/),</a:t>
            </a:r>
            <a:endParaRPr b="0" lang="en-IN" sz="24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DejaVu Sans"/>
              </a:rPr>
              <a:t>For Light curve data for Large Maggelanic Cloud (LMC) Cepheids visit </a:t>
            </a:r>
            <a:endParaRPr b="0" lang="en-IN" sz="24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DejaVu Sans"/>
              </a:rPr>
              <a:t>https://ftp.astrouw.edu.pl/ogle/ogle4/OCVS/lmc/cep/</a:t>
            </a:r>
            <a:endParaRPr b="0" lang="en-IN" sz="24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DejaVu Sans"/>
              </a:rPr>
              <a:t>Note that OGLE contains V and I band data, and that the I-band data is highly sampled with high cadence than V-bnad.  In a way I-band data is more complete </a:t>
            </a:r>
            <a:endParaRPr b="0" lang="en-IN" sz="24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DejaVu Sans"/>
              </a:rPr>
              <a:t>You can search for periods using the V-band data and then compare to the periods from the I-band. </a:t>
            </a:r>
            <a:endParaRPr b="0" lang="en-IN" sz="24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DejaVu Sans"/>
              </a:rPr>
              <a:t>For distance determination to other galaxies, you can check out this paper: https://iopscience.iop.org/article/10.3847/1538-4357/abb377/pdf </a:t>
            </a:r>
            <a:endParaRPr b="0" lang="en-IN" sz="24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DejaVu Sans"/>
              </a:rPr>
              <a:t>In this paper, assume F555 is close to V-band and F814 is close to I-band.</a:t>
            </a:r>
            <a:endParaRPr b="0" lang="en-IN" sz="2400" spc="-1" strike="noStrike">
              <a:latin typeface="Arial"/>
            </a:endParaRPr>
          </a:p>
          <a:p>
            <a:pPr>
              <a:lnSpc>
                <a:spcPct val="100000"/>
              </a:lnSpc>
              <a:spcBef>
                <a:spcPts val="1191"/>
              </a:spcBef>
              <a:spcAft>
                <a:spcPts val="992"/>
              </a:spcAft>
              <a:buNone/>
            </a:pPr>
            <a:endParaRPr b="0" lang="en-IN" sz="2400" spc="-1" strike="noStrike">
              <a:latin typeface="Arial"/>
            </a:endParaRPr>
          </a:p>
          <a:p>
            <a:pPr>
              <a:lnSpc>
                <a:spcPct val="100000"/>
              </a:lnSpc>
              <a:buNone/>
            </a:pPr>
            <a:r>
              <a:rPr b="1" i="1" lang="en-IN" sz="2100" spc="-1" strike="noStrike">
                <a:solidFill>
                  <a:srgbClr val="000000"/>
                </a:solidFill>
                <a:latin typeface="Arial"/>
                <a:ea typeface="DejaVu Sans"/>
              </a:rPr>
              <a:t>[The above information is based on the email response from Prof. Chow-Choong Ngeow, Institute of Astronomy, National Central University (NCU), Taiwan (https://www.astro.ncu.edu.tw/people/faculty_bio_e.php?id=6)]</a:t>
            </a:r>
            <a:endParaRPr b="0" lang="en-IN" sz="21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
          <p:cNvSpPr/>
          <p:nvPr/>
        </p:nvSpPr>
        <p:spPr>
          <a:xfrm>
            <a:off x="1080000" y="720000"/>
            <a:ext cx="10259280" cy="5421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1" lang="en-IN" sz="3200" spc="-1" strike="noStrike">
                <a:solidFill>
                  <a:srgbClr val="000000"/>
                </a:solidFill>
                <a:latin typeface="Arial"/>
                <a:ea typeface="DejaVu Sans"/>
              </a:rPr>
              <a:t>Finding distances to the nearby dark clouds</a:t>
            </a:r>
            <a:endParaRPr b="0" lang="en-IN" sz="3200" spc="-1" strike="noStrike">
              <a:latin typeface="Arial"/>
            </a:endParaRPr>
          </a:p>
        </p:txBody>
      </p:sp>
      <p:sp>
        <p:nvSpPr>
          <p:cNvPr id="127" name=""/>
          <p:cNvSpPr/>
          <p:nvPr/>
        </p:nvSpPr>
        <p:spPr>
          <a:xfrm>
            <a:off x="4680000" y="2520000"/>
            <a:ext cx="8099280" cy="21286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IN" sz="2400" spc="-1" strike="noStrike">
                <a:solidFill>
                  <a:srgbClr val="000000"/>
                </a:solidFill>
                <a:latin typeface="Arial"/>
                <a:ea typeface="DejaVu Sans"/>
              </a:rPr>
              <a:t>https://iopscience.iop.org/article/10.3847/1538-4357/ab0a0c/pdf</a:t>
            </a:r>
            <a:br>
              <a:rPr sz="2400"/>
            </a:br>
            <a:endParaRPr b="0" lang="en-IN" sz="2400" spc="-1" strike="noStrike">
              <a:latin typeface="Arial"/>
            </a:endParaRPr>
          </a:p>
          <a:p>
            <a:pPr>
              <a:lnSpc>
                <a:spcPct val="100000"/>
              </a:lnSpc>
              <a:buNone/>
            </a:pPr>
            <a:r>
              <a:rPr b="0" lang="en-IN" sz="2400" spc="-1" strike="noStrike">
                <a:solidFill>
                  <a:srgbClr val="000000"/>
                </a:solidFill>
                <a:latin typeface="Arial"/>
                <a:ea typeface="DejaVu Sans"/>
              </a:rPr>
              <a:t>Suddent jump in the fraction of polarization (P) at 830 pc distance marks the distance of the molecular cloud.</a:t>
            </a:r>
            <a:endParaRPr b="0" lang="en-IN" sz="2400" spc="-1" strike="noStrike">
              <a:latin typeface="Arial"/>
            </a:endParaRPr>
          </a:p>
        </p:txBody>
      </p:sp>
      <p:pic>
        <p:nvPicPr>
          <p:cNvPr id="128" name="" descr=""/>
          <p:cNvPicPr/>
          <p:nvPr/>
        </p:nvPicPr>
        <p:blipFill>
          <a:blip r:embed="rId1"/>
          <a:stretch/>
        </p:blipFill>
        <p:spPr>
          <a:xfrm>
            <a:off x="540000" y="1800000"/>
            <a:ext cx="3790440" cy="4945320"/>
          </a:xfrm>
          <a:prstGeom prst="rect">
            <a:avLst/>
          </a:prstGeom>
          <a:ln w="0">
            <a:noFill/>
          </a:ln>
        </p:spPr>
      </p:pic>
      <p:sp>
        <p:nvSpPr>
          <p:cNvPr id="129" name=""/>
          <p:cNvSpPr/>
          <p:nvPr/>
        </p:nvSpPr>
        <p:spPr>
          <a:xfrm>
            <a:off x="720000" y="7020000"/>
            <a:ext cx="11756880" cy="7696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IN" sz="2400" spc="-1" strike="noStrike">
                <a:solidFill>
                  <a:srgbClr val="000000"/>
                </a:solidFill>
                <a:latin typeface="Arial"/>
                <a:ea typeface="DejaVu Sans"/>
              </a:rPr>
              <a:t>For every star with RA and Dec coordinates and distance information as the input parameters, one can obtain the information on extinction see </a:t>
            </a:r>
            <a:endParaRPr b="0" lang="en-IN" sz="2400" spc="-1" strike="noStrike">
              <a:latin typeface="Arial"/>
            </a:endParaRPr>
          </a:p>
        </p:txBody>
      </p:sp>
      <p:sp>
        <p:nvSpPr>
          <p:cNvPr id="130" name=""/>
          <p:cNvSpPr/>
          <p:nvPr/>
        </p:nvSpPr>
        <p:spPr>
          <a:xfrm>
            <a:off x="720000" y="8280000"/>
            <a:ext cx="10619280" cy="136944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IN" sz="1800" spc="-1" strike="noStrike">
                <a:solidFill>
                  <a:srgbClr val="000000"/>
                </a:solidFill>
                <a:latin typeface="Arial"/>
                <a:ea typeface="DejaVu Sans"/>
              </a:rPr>
              <a:t>https://academic.oup.com/mnras/article/515/3/3352/6656532 (or) https://arxiv.org/abs/2207.03173</a:t>
            </a:r>
            <a:endParaRPr b="0" lang="en-IN" sz="1800" spc="-1" strike="noStrike">
              <a:latin typeface="Arial"/>
            </a:endParaRPr>
          </a:p>
          <a:p>
            <a:pPr>
              <a:lnSpc>
                <a:spcPct val="100000"/>
              </a:lnSpc>
              <a:buNone/>
            </a:pPr>
            <a:endParaRPr b="0" lang="en-IN" sz="1800" spc="-1" strike="noStrike">
              <a:latin typeface="Arial"/>
            </a:endParaRPr>
          </a:p>
          <a:p>
            <a:pPr>
              <a:lnSpc>
                <a:spcPct val="100000"/>
              </a:lnSpc>
              <a:buNone/>
            </a:pPr>
            <a:r>
              <a:rPr b="0" lang="en-IN" sz="1800" spc="-1" strike="noStrike">
                <a:solidFill>
                  <a:srgbClr val="000000"/>
                </a:solidFill>
                <a:latin typeface="Arial"/>
                <a:ea typeface="DejaVu Sans"/>
              </a:rPr>
              <a:t>Also look at </a:t>
            </a:r>
            <a:endParaRPr b="0" lang="en-IN" sz="1800" spc="-1" strike="noStrike">
              <a:latin typeface="Arial"/>
            </a:endParaRPr>
          </a:p>
          <a:p>
            <a:pPr>
              <a:lnSpc>
                <a:spcPct val="100000"/>
              </a:lnSpc>
              <a:buNone/>
            </a:pPr>
            <a:r>
              <a:rPr b="0" lang="en-IN" sz="1800" spc="-1" strike="noStrike">
                <a:solidFill>
                  <a:srgbClr val="000000"/>
                </a:solidFill>
                <a:latin typeface="Arial"/>
                <a:ea typeface="DejaVu Sans"/>
              </a:rPr>
              <a:t>https://arxiv.org/abs/2404.01169</a:t>
            </a:r>
            <a:endParaRPr b="0" lang="en-IN" sz="1800" spc="-1" strike="noStrike">
              <a:latin typeface="Arial"/>
            </a:endParaRPr>
          </a:p>
          <a:p>
            <a:pPr>
              <a:lnSpc>
                <a:spcPct val="100000"/>
              </a:lnSpc>
              <a:buNone/>
            </a:pPr>
            <a:endParaRPr b="0" lang="en-IN" sz="18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CustomShape 1"/>
          <p:cNvSpPr/>
          <p:nvPr/>
        </p:nvSpPr>
        <p:spPr>
          <a:xfrm>
            <a:off x="382320" y="744480"/>
            <a:ext cx="12446280" cy="116172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endParaRPr b="0" lang="en-IN" sz="1800" spc="-1" strike="noStrike">
              <a:latin typeface="Arial"/>
            </a:endParaRPr>
          </a:p>
          <a:p>
            <a:pPr>
              <a:lnSpc>
                <a:spcPct val="100000"/>
              </a:lnSpc>
              <a:buNone/>
            </a:pPr>
            <a:endParaRPr b="0" lang="en-IN" sz="1800" spc="-1" strike="noStrike">
              <a:latin typeface="Arial"/>
            </a:endParaRPr>
          </a:p>
          <a:p>
            <a:pPr>
              <a:lnSpc>
                <a:spcPct val="100000"/>
              </a:lnSpc>
              <a:buNone/>
            </a:pPr>
            <a:endParaRPr b="0" lang="en-IN" sz="1800" spc="-1" strike="noStrike">
              <a:latin typeface="Arial"/>
            </a:endParaRPr>
          </a:p>
          <a:p>
            <a:pPr>
              <a:lnSpc>
                <a:spcPct val="100000"/>
              </a:lnSpc>
              <a:buNone/>
            </a:pPr>
            <a:endParaRPr b="0" lang="en-IN" sz="1800" spc="-1" strike="noStrike">
              <a:latin typeface="Arial"/>
            </a:endParaRPr>
          </a:p>
          <a:p>
            <a:pPr>
              <a:lnSpc>
                <a:spcPct val="100000"/>
              </a:lnSpc>
              <a:buNone/>
            </a:pPr>
            <a:endParaRPr b="0" lang="en-IN" sz="1800" spc="-1" strike="noStrike">
              <a:latin typeface="Arial"/>
            </a:endParaRPr>
          </a:p>
        </p:txBody>
      </p:sp>
      <p:sp>
        <p:nvSpPr>
          <p:cNvPr id="132" name="CustomShape 2"/>
          <p:cNvSpPr/>
          <p:nvPr/>
        </p:nvSpPr>
        <p:spPr>
          <a:xfrm>
            <a:off x="2314440" y="1280160"/>
            <a:ext cx="9101880" cy="3826440"/>
          </a:xfrm>
          <a:prstGeom prst="rect">
            <a:avLst/>
          </a:prstGeom>
          <a:noFill/>
          <a:ln w="0">
            <a:noFill/>
          </a:ln>
        </p:spPr>
        <p:style>
          <a:lnRef idx="0"/>
          <a:fillRef idx="0"/>
          <a:effectRef idx="0"/>
          <a:fontRef idx="minor"/>
        </p:style>
      </p:sp>
      <p:sp>
        <p:nvSpPr>
          <p:cNvPr id="133" name="CustomShape 17"/>
          <p:cNvSpPr/>
          <p:nvPr/>
        </p:nvSpPr>
        <p:spPr>
          <a:xfrm>
            <a:off x="1303920" y="2479680"/>
            <a:ext cx="10028160" cy="208440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buNone/>
            </a:pPr>
            <a:r>
              <a:rPr b="0" lang="en-US" sz="4800" spc="-1" strike="noStrike">
                <a:solidFill>
                  <a:srgbClr val="000000"/>
                </a:solidFill>
                <a:latin typeface="AnjaliOldLipi"/>
                <a:ea typeface="DejaVu Sans"/>
              </a:rPr>
              <a:t>Apparent and absolute magnitudes, and distance modulus</a:t>
            </a:r>
            <a:endParaRPr b="0" lang="en-IN" sz="4800" spc="-1" strike="noStrike">
              <a:latin typeface="Arial"/>
            </a:endParaRPr>
          </a:p>
        </p:txBody>
      </p:sp>
      <p:sp>
        <p:nvSpPr>
          <p:cNvPr id="134" name="CustomShape 18"/>
          <p:cNvSpPr/>
          <p:nvPr/>
        </p:nvSpPr>
        <p:spPr>
          <a:xfrm>
            <a:off x="4097160" y="639360"/>
            <a:ext cx="5216040" cy="810000"/>
          </a:xfrm>
          <a:prstGeom prst="rect">
            <a:avLst/>
          </a:prstGeom>
          <a:no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5" name="Picture 1_3" descr=""/>
          <p:cNvPicPr/>
          <p:nvPr/>
        </p:nvPicPr>
        <p:blipFill>
          <a:blip r:embed="rId1"/>
          <a:stretch/>
        </p:blipFill>
        <p:spPr>
          <a:xfrm>
            <a:off x="1181160" y="1368000"/>
            <a:ext cx="10635120" cy="6720840"/>
          </a:xfrm>
          <a:prstGeom prst="rect">
            <a:avLst/>
          </a:prstGeom>
          <a:ln w="0">
            <a:noFill/>
          </a:ln>
        </p:spPr>
      </p:pic>
      <p:sp>
        <p:nvSpPr>
          <p:cNvPr id="136" name="CustomShape 6"/>
          <p:cNvSpPr/>
          <p:nvPr/>
        </p:nvSpPr>
        <p:spPr>
          <a:xfrm>
            <a:off x="4870800" y="338400"/>
            <a:ext cx="2714760" cy="771120"/>
          </a:xfrm>
          <a:prstGeom prst="rect">
            <a:avLst/>
          </a:prstGeom>
          <a:noFill/>
          <a:ln w="12600">
            <a:noFill/>
          </a:ln>
        </p:spPr>
        <p:style>
          <a:lnRef idx="0"/>
          <a:fillRef idx="0"/>
          <a:effectRef idx="0"/>
          <a:fontRef idx="minor"/>
        </p:style>
        <p:txBody>
          <a:bodyPr wrap="none" lIns="50760" rIns="50760" tIns="50760" bIns="50760" anchor="ctr">
            <a:spAutoFit/>
          </a:bodyPr>
          <a:p>
            <a:pPr algn="ctr">
              <a:lnSpc>
                <a:spcPct val="100000"/>
              </a:lnSpc>
              <a:buNone/>
              <a:tabLst>
                <a:tab algn="l" pos="0"/>
              </a:tabLst>
            </a:pPr>
            <a:r>
              <a:rPr b="1" lang="en-US" sz="4400" spc="-1" strike="noStrike">
                <a:solidFill>
                  <a:srgbClr val="000000"/>
                </a:solidFill>
                <a:latin typeface="AnjaliOldLipi"/>
                <a:ea typeface="Helvetica Light"/>
              </a:rPr>
              <a:t>Magnitude</a:t>
            </a:r>
            <a:endParaRPr b="0" lang="en-IN" sz="4400" spc="-1" strike="noStrike">
              <a:latin typeface="Arial"/>
            </a:endParaRPr>
          </a:p>
        </p:txBody>
      </p:sp>
      <p:sp>
        <p:nvSpPr>
          <p:cNvPr id="137" name="CustomShape 19"/>
          <p:cNvSpPr/>
          <p:nvPr/>
        </p:nvSpPr>
        <p:spPr>
          <a:xfrm>
            <a:off x="4968000" y="6058080"/>
            <a:ext cx="8223480" cy="4519800"/>
          </a:xfrm>
          <a:prstGeom prst="rect">
            <a:avLst/>
          </a:prstGeom>
          <a:no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
          <p:cNvSpPr/>
          <p:nvPr/>
        </p:nvSpPr>
        <p:spPr>
          <a:xfrm>
            <a:off x="1080000" y="1127880"/>
            <a:ext cx="11518200" cy="794052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1" lang="en-IN" sz="2800" spc="-1" strike="noStrike">
                <a:solidFill>
                  <a:srgbClr val="000000"/>
                </a:solidFill>
                <a:latin typeface="AnjaliOldLipi"/>
                <a:ea typeface="DejaVu Sans"/>
              </a:rPr>
              <a:t>Stellar Magnitude System</a:t>
            </a:r>
            <a:endParaRPr b="0" lang="en-IN" sz="2800" spc="-1" strike="noStrike">
              <a:latin typeface="Arial"/>
            </a:endParaRPr>
          </a:p>
          <a:p>
            <a:pPr>
              <a:lnSpc>
                <a:spcPct val="100000"/>
              </a:lnSpc>
              <a:buNone/>
            </a:pPr>
            <a:endParaRPr b="0" lang="en-IN" sz="2800" spc="-1" strike="noStrike">
              <a:latin typeface="Arial"/>
            </a:endParaRPr>
          </a:p>
          <a:p>
            <a:pPr>
              <a:lnSpc>
                <a:spcPct val="100000"/>
              </a:lnSpc>
              <a:buNone/>
            </a:pPr>
            <a:r>
              <a:rPr b="0" lang="en-IN" sz="2800" spc="-1" strike="noStrike">
                <a:solidFill>
                  <a:srgbClr val="000000"/>
                </a:solidFill>
                <a:latin typeface="AnjaliOldLipi"/>
                <a:ea typeface="DejaVu Sans"/>
              </a:rPr>
              <a:t>=&gt; The stellar magnitude system predates the telescope and is based on the human eye's perception of brightness.</a:t>
            </a:r>
            <a:endParaRPr b="0" lang="en-IN" sz="2800" spc="-1" strike="noStrike">
              <a:latin typeface="Arial"/>
            </a:endParaRPr>
          </a:p>
          <a:p>
            <a:pPr>
              <a:lnSpc>
                <a:spcPct val="100000"/>
              </a:lnSpc>
              <a:buNone/>
            </a:pPr>
            <a:endParaRPr b="0" lang="en-IN" sz="2800" spc="-1" strike="noStrike">
              <a:latin typeface="Arial"/>
            </a:endParaRPr>
          </a:p>
          <a:p>
            <a:pPr>
              <a:lnSpc>
                <a:spcPct val="100000"/>
              </a:lnSpc>
              <a:buNone/>
            </a:pPr>
            <a:r>
              <a:rPr b="0" lang="en-IN" sz="2800" spc="-1" strike="noStrike">
                <a:solidFill>
                  <a:srgbClr val="000000"/>
                </a:solidFill>
                <a:latin typeface="AnjaliOldLipi"/>
                <a:ea typeface="DejaVu Sans"/>
              </a:rPr>
              <a:t>=&gt; Hipparchus, a Greek astronomer (~200 BC), was the first to:</a:t>
            </a:r>
            <a:endParaRPr b="0" lang="en-IN" sz="2800" spc="-1" strike="noStrike">
              <a:latin typeface="Arial"/>
            </a:endParaRPr>
          </a:p>
          <a:p>
            <a:pPr marL="396000" indent="-216000">
              <a:lnSpc>
                <a:spcPct val="100000"/>
              </a:lnSpc>
              <a:spcBef>
                <a:spcPts val="1191"/>
              </a:spcBef>
              <a:spcAft>
                <a:spcPts val="992"/>
              </a:spcAft>
              <a:buClr>
                <a:srgbClr val="000000"/>
              </a:buClr>
              <a:buSzPct val="45000"/>
              <a:buFont typeface="Wingdings" charset="2"/>
              <a:buChar char=""/>
            </a:pPr>
            <a:r>
              <a:rPr b="0" lang="en-IN" sz="2800" spc="-1" strike="noStrike">
                <a:solidFill>
                  <a:srgbClr val="000000"/>
                </a:solidFill>
                <a:latin typeface="AnjaliOldLipi"/>
                <a:ea typeface="DejaVu Sans"/>
              </a:rPr>
              <a:t> </a:t>
            </a:r>
            <a:r>
              <a:rPr b="0" lang="en-IN" sz="2800" spc="-1" strike="noStrike">
                <a:solidFill>
                  <a:srgbClr val="000000"/>
                </a:solidFill>
                <a:latin typeface="AnjaliOldLipi"/>
                <a:ea typeface="DejaVu Sans"/>
              </a:rPr>
              <a:t>Divide naked-eye stars into six brightness classes,</a:t>
            </a:r>
            <a:endParaRPr b="0" lang="en-IN" sz="2800" spc="-1" strike="noStrike">
              <a:latin typeface="Arial"/>
            </a:endParaRPr>
          </a:p>
          <a:p>
            <a:pPr marL="396000" indent="-216000">
              <a:lnSpc>
                <a:spcPct val="100000"/>
              </a:lnSpc>
              <a:spcBef>
                <a:spcPts val="1191"/>
              </a:spcBef>
              <a:spcAft>
                <a:spcPts val="992"/>
              </a:spcAft>
              <a:buClr>
                <a:srgbClr val="000000"/>
              </a:buClr>
              <a:buSzPct val="45000"/>
              <a:buFont typeface="Wingdings" charset="2"/>
              <a:buChar char=""/>
            </a:pPr>
            <a:r>
              <a:rPr b="0" lang="en-IN" sz="2800" spc="-1" strike="noStrike">
                <a:solidFill>
                  <a:srgbClr val="000000"/>
                </a:solidFill>
                <a:latin typeface="AnjaliOldLipi"/>
                <a:ea typeface="DejaVu Sans"/>
              </a:rPr>
              <a:t> </a:t>
            </a:r>
            <a:r>
              <a:rPr b="0" lang="en-IN" sz="2800" spc="-1" strike="noStrike">
                <a:solidFill>
                  <a:srgbClr val="000000"/>
                </a:solidFill>
                <a:latin typeface="AnjaliOldLipi"/>
                <a:ea typeface="DejaVu Sans"/>
              </a:rPr>
              <a:t>Rank ~1000 stars using magnitudes from 1 to 6.</a:t>
            </a:r>
            <a:endParaRPr b="0" lang="en-IN" sz="2800" spc="-1" strike="noStrike">
              <a:latin typeface="Arial"/>
            </a:endParaRPr>
          </a:p>
          <a:p>
            <a:pPr marL="396000" indent="-216000">
              <a:lnSpc>
                <a:spcPct val="100000"/>
              </a:lnSpc>
              <a:spcBef>
                <a:spcPts val="1191"/>
              </a:spcBef>
              <a:spcAft>
                <a:spcPts val="992"/>
              </a:spcAft>
              <a:buClr>
                <a:srgbClr val="000000"/>
              </a:buClr>
              <a:buSzPct val="45000"/>
              <a:buFont typeface="Wingdings" charset="2"/>
              <a:buChar char=""/>
            </a:pPr>
            <a:r>
              <a:rPr b="0" lang="en-IN" sz="2800" spc="-1" strike="noStrike">
                <a:solidFill>
                  <a:srgbClr val="000000"/>
                </a:solidFill>
                <a:latin typeface="AnjaliOldLipi"/>
                <a:ea typeface="DejaVu Sans"/>
              </a:rPr>
              <a:t> </a:t>
            </a:r>
            <a:r>
              <a:rPr b="0" lang="en-IN" sz="2800" spc="-1" strike="noStrike">
                <a:solidFill>
                  <a:srgbClr val="000000"/>
                </a:solidFill>
                <a:latin typeface="AnjaliOldLipi"/>
                <a:ea typeface="DejaVu Sans"/>
              </a:rPr>
              <a:t>Define 1st magnitude stars as the brightest and 6th magnitude stars as the faintest visible to the naked eye.</a:t>
            </a:r>
            <a:endParaRPr b="0" lang="en-IN" sz="2800" spc="-1" strike="noStrike">
              <a:latin typeface="Arial"/>
            </a:endParaRPr>
          </a:p>
          <a:p>
            <a:pPr>
              <a:lnSpc>
                <a:spcPct val="100000"/>
              </a:lnSpc>
              <a:buNone/>
            </a:pPr>
            <a:endParaRPr b="0" lang="en-IN" sz="2800" spc="-1" strike="noStrike">
              <a:latin typeface="Arial"/>
            </a:endParaRPr>
          </a:p>
          <a:p>
            <a:pPr>
              <a:lnSpc>
                <a:spcPct val="100000"/>
              </a:lnSpc>
              <a:buNone/>
            </a:pPr>
            <a:r>
              <a:rPr b="0" lang="en-IN" sz="2800" spc="-1" strike="noStrike">
                <a:solidFill>
                  <a:srgbClr val="000000"/>
                </a:solidFill>
                <a:latin typeface="AnjaliOldLipi"/>
                <a:ea typeface="DejaVu Sans"/>
              </a:rPr>
              <a:t>=&gt; This system was later used and expanded by:</a:t>
            </a:r>
            <a:endParaRPr b="0" lang="en-IN" sz="2800" spc="-1" strike="noStrike">
              <a:latin typeface="Arial"/>
            </a:endParaRPr>
          </a:p>
          <a:p>
            <a:pPr>
              <a:lnSpc>
                <a:spcPct val="100000"/>
              </a:lnSpc>
              <a:buNone/>
            </a:pPr>
            <a:r>
              <a:rPr b="0" lang="en-IN" sz="2800" spc="-1" strike="noStrike">
                <a:solidFill>
                  <a:srgbClr val="000000"/>
                </a:solidFill>
                <a:latin typeface="AnjaliOldLipi"/>
                <a:ea typeface="DejaVu Sans"/>
              </a:rPr>
              <a:t>        </a:t>
            </a:r>
            <a:r>
              <a:rPr b="0" lang="en-IN" sz="2800" spc="-1" strike="noStrike">
                <a:solidFill>
                  <a:srgbClr val="000000"/>
                </a:solidFill>
                <a:latin typeface="AnjaliOldLipi"/>
                <a:ea typeface="DejaVu Sans"/>
              </a:rPr>
              <a:t>Ptolemy (~150 A.D.)</a:t>
            </a:r>
            <a:endParaRPr b="0" lang="en-IN" sz="2800" spc="-1" strike="noStrike">
              <a:latin typeface="Arial"/>
            </a:endParaRPr>
          </a:p>
          <a:p>
            <a:pPr>
              <a:lnSpc>
                <a:spcPct val="100000"/>
              </a:lnSpc>
              <a:buNone/>
            </a:pPr>
            <a:r>
              <a:rPr b="0" lang="en-IN" sz="2800" spc="-1" strike="noStrike">
                <a:solidFill>
                  <a:srgbClr val="000000"/>
                </a:solidFill>
                <a:latin typeface="AnjaliOldLipi"/>
                <a:ea typeface="DejaVu Sans"/>
              </a:rPr>
              <a:t>        </a:t>
            </a:r>
            <a:r>
              <a:rPr b="0" lang="en-IN" sz="2800" spc="-1" strike="noStrike">
                <a:solidFill>
                  <a:srgbClr val="000000"/>
                </a:solidFill>
                <a:latin typeface="AnjaliOldLipi"/>
                <a:ea typeface="DejaVu Sans"/>
              </a:rPr>
              <a:t>Herschel (1800s)</a:t>
            </a:r>
            <a:endParaRPr b="0" lang="en-IN" sz="2800" spc="-1" strike="noStrike">
              <a:latin typeface="Arial"/>
            </a:endParaRPr>
          </a:p>
          <a:p>
            <a:pPr>
              <a:lnSpc>
                <a:spcPct val="100000"/>
              </a:lnSpc>
              <a:buNone/>
            </a:pPr>
            <a:endParaRPr b="0" lang="en-IN" sz="100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9" name="" descr=""/>
          <p:cNvPicPr/>
          <p:nvPr/>
        </p:nvPicPr>
        <p:blipFill>
          <a:blip r:embed="rId1"/>
          <a:stretch/>
        </p:blipFill>
        <p:spPr>
          <a:xfrm>
            <a:off x="10319040" y="273960"/>
            <a:ext cx="2279160" cy="2964240"/>
          </a:xfrm>
          <a:prstGeom prst="rect">
            <a:avLst/>
          </a:prstGeom>
          <a:ln w="0">
            <a:noFill/>
          </a:ln>
        </p:spPr>
      </p:pic>
      <p:sp>
        <p:nvSpPr>
          <p:cNvPr id="140" name=""/>
          <p:cNvSpPr/>
          <p:nvPr/>
        </p:nvSpPr>
        <p:spPr>
          <a:xfrm>
            <a:off x="543960" y="1627920"/>
            <a:ext cx="8994240" cy="75423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IN" sz="2400" spc="-1" strike="noStrike">
                <a:solidFill>
                  <a:srgbClr val="000000"/>
                </a:solidFill>
                <a:latin typeface="AnjaliOldLipi"/>
                <a:ea typeface="DejaVu Sans"/>
              </a:rPr>
              <a:t>=&gt; In 1857, Norman Pogson, Director of the Madras Observatory, formalized the magnitude system</a:t>
            </a:r>
            <a:endParaRPr b="0" lang="en-IN" sz="2400" spc="-1" strike="noStrike">
              <a:latin typeface="Arial"/>
            </a:endParaRPr>
          </a:p>
          <a:p>
            <a:pPr>
              <a:lnSpc>
                <a:spcPct val="100000"/>
              </a:lnSpc>
              <a:buNone/>
            </a:pPr>
            <a:endParaRPr b="0" lang="en-IN" sz="2400" spc="-1" strike="noStrike">
              <a:latin typeface="Arial"/>
            </a:endParaRPr>
          </a:p>
          <a:p>
            <a:pPr>
              <a:lnSpc>
                <a:spcPct val="100000"/>
              </a:lnSpc>
              <a:buNone/>
            </a:pPr>
            <a:r>
              <a:rPr b="0" lang="en-IN" sz="2400" spc="-1" strike="noStrike">
                <a:solidFill>
                  <a:srgbClr val="000000"/>
                </a:solidFill>
                <a:latin typeface="AnjaliOldLipi"/>
                <a:ea typeface="DejaVu Sans"/>
              </a:rPr>
              <a:t>=&gt; Defined a 1st magnitude star to be 100 times brighter than a 6th magnitude star (a difference of 5 magnitudes).</a:t>
            </a:r>
            <a:endParaRPr b="0" lang="en-IN" sz="2400" spc="-1" strike="noStrike">
              <a:latin typeface="Arial"/>
            </a:endParaRPr>
          </a:p>
          <a:p>
            <a:pPr>
              <a:lnSpc>
                <a:spcPct val="100000"/>
              </a:lnSpc>
              <a:buNone/>
            </a:pPr>
            <a:endParaRPr b="0" lang="en-IN" sz="2400" spc="-1" strike="noStrike">
              <a:latin typeface="Arial"/>
            </a:endParaRPr>
          </a:p>
          <a:p>
            <a:pPr>
              <a:lnSpc>
                <a:spcPct val="100000"/>
              </a:lnSpc>
              <a:buNone/>
            </a:pPr>
            <a:r>
              <a:rPr b="0" lang="en-IN" sz="2400" spc="-1" strike="noStrike">
                <a:solidFill>
                  <a:srgbClr val="000000"/>
                </a:solidFill>
                <a:latin typeface="AnjaliOldLipi"/>
                <a:ea typeface="DejaVu Sans"/>
              </a:rPr>
              <a:t>=&gt; Derived that a one-magnitude difference corresponds to a brightness ratio of 100</a:t>
            </a:r>
            <a:r>
              <a:rPr b="0" lang="en-IN" sz="2400" spc="-1" strike="noStrike" baseline="33000">
                <a:solidFill>
                  <a:srgbClr val="000000"/>
                </a:solidFill>
                <a:latin typeface="AnjaliOldLipi"/>
                <a:ea typeface="DejaVu Sans"/>
              </a:rPr>
              <a:t>1/5 = </a:t>
            </a:r>
            <a:r>
              <a:rPr b="0" lang="en-IN" sz="2400" spc="-1" strike="noStrike">
                <a:solidFill>
                  <a:srgbClr val="000000"/>
                </a:solidFill>
                <a:latin typeface="AnjaliOldLipi"/>
                <a:ea typeface="DejaVu Sans"/>
              </a:rPr>
              <a:t>2.512 </a:t>
            </a:r>
            <a:endParaRPr b="0" lang="en-IN" sz="2400" spc="-1" strike="noStrike">
              <a:latin typeface="Arial"/>
            </a:endParaRPr>
          </a:p>
          <a:p>
            <a:pPr>
              <a:lnSpc>
                <a:spcPct val="100000"/>
              </a:lnSpc>
              <a:buNone/>
            </a:pPr>
            <a:endParaRPr b="0" lang="en-IN" sz="1800" spc="-1" strike="noStrike">
              <a:latin typeface="Arial"/>
            </a:endParaRPr>
          </a:p>
          <a:p>
            <a:pPr>
              <a:lnSpc>
                <a:spcPct val="100000"/>
              </a:lnSpc>
              <a:buNone/>
            </a:pPr>
            <a:endParaRPr b="0" lang="en-IN" sz="2400" spc="-1" strike="noStrike">
              <a:latin typeface="Arial"/>
            </a:endParaRPr>
          </a:p>
          <a:p>
            <a:pPr>
              <a:lnSpc>
                <a:spcPct val="100000"/>
              </a:lnSpc>
              <a:buNone/>
            </a:pPr>
            <a:r>
              <a:rPr b="1" lang="en-IN" sz="2400" spc="-1" strike="noStrike">
                <a:solidFill>
                  <a:srgbClr val="000000"/>
                </a:solidFill>
                <a:latin typeface="AnjaliOldLipi"/>
                <a:ea typeface="DejaVu Sans"/>
              </a:rPr>
              <a:t>This leads to the modern magnitude scale:</a:t>
            </a:r>
            <a:endParaRPr b="0" lang="en-IN" sz="2400" spc="-1" strike="noStrike">
              <a:latin typeface="Arial"/>
            </a:endParaRPr>
          </a:p>
          <a:p>
            <a:pPr>
              <a:lnSpc>
                <a:spcPct val="100000"/>
              </a:lnSpc>
              <a:buNone/>
            </a:pPr>
            <a:endParaRPr b="0" lang="en-IN" sz="2400" spc="-1" strike="noStrike">
              <a:latin typeface="Arial"/>
            </a:endParaRPr>
          </a:p>
          <a:p>
            <a:pPr>
              <a:lnSpc>
                <a:spcPct val="100000"/>
              </a:lnSpc>
              <a:buNone/>
            </a:pPr>
            <a:r>
              <a:rPr b="0" lang="en-IN" sz="2400" spc="-1" strike="noStrike">
                <a:solidFill>
                  <a:srgbClr val="000000"/>
                </a:solidFill>
                <a:latin typeface="AnjaliOldLipi"/>
                <a:ea typeface="DejaVu Sans"/>
              </a:rPr>
              <a:t>A star that is 1 magnitude lower (brighter) is 2.512 times brighter.</a:t>
            </a:r>
            <a:endParaRPr b="0" lang="en-IN" sz="2400" spc="-1" strike="noStrike">
              <a:latin typeface="Arial"/>
            </a:endParaRPr>
          </a:p>
          <a:p>
            <a:pPr>
              <a:lnSpc>
                <a:spcPct val="100000"/>
              </a:lnSpc>
              <a:buNone/>
            </a:pPr>
            <a:endParaRPr b="0" lang="en-IN" sz="2400" spc="-1" strike="noStrike">
              <a:latin typeface="Arial"/>
            </a:endParaRPr>
          </a:p>
          <a:p>
            <a:pPr>
              <a:lnSpc>
                <a:spcPct val="100000"/>
              </a:lnSpc>
              <a:buNone/>
            </a:pPr>
            <a:r>
              <a:rPr b="0" lang="en-IN" sz="2400" spc="-1" strike="noStrike">
                <a:solidFill>
                  <a:srgbClr val="000000"/>
                </a:solidFill>
                <a:latin typeface="AnjaliOldLipi"/>
                <a:ea typeface="DejaVu Sans"/>
              </a:rPr>
              <a:t>Example:</a:t>
            </a:r>
            <a:endParaRPr b="0" lang="en-IN" sz="2400" spc="-1" strike="noStrike">
              <a:latin typeface="Arial"/>
            </a:endParaRPr>
          </a:p>
          <a:p>
            <a:pPr>
              <a:lnSpc>
                <a:spcPct val="100000"/>
              </a:lnSpc>
              <a:spcBef>
                <a:spcPts val="340"/>
              </a:spcBef>
              <a:spcAft>
                <a:spcPts val="142"/>
              </a:spcAft>
              <a:buNone/>
            </a:pPr>
            <a:r>
              <a:rPr b="0" lang="en-IN" sz="2400" spc="-1" strike="noStrike">
                <a:solidFill>
                  <a:srgbClr val="000000"/>
                </a:solidFill>
                <a:latin typeface="AnjaliOldLipi"/>
                <a:ea typeface="DejaVu Sans"/>
              </a:rPr>
              <a:t>   </a:t>
            </a:r>
            <a:r>
              <a:rPr b="0" lang="en-IN" sz="2400" spc="-1" strike="noStrike">
                <a:solidFill>
                  <a:srgbClr val="000000"/>
                </a:solidFill>
                <a:latin typeface="AnjaliOldLipi"/>
                <a:ea typeface="DejaVu Sans"/>
              </a:rPr>
              <a:t>1st mag star is 2.512</a:t>
            </a:r>
            <a:r>
              <a:rPr b="0" lang="en-IN" sz="2400" spc="-1" strike="noStrike" baseline="33000">
                <a:solidFill>
                  <a:srgbClr val="000000"/>
                </a:solidFill>
                <a:latin typeface="AnjaliOldLipi"/>
                <a:ea typeface="DejaVu Sans"/>
              </a:rPr>
              <a:t>2-1</a:t>
            </a:r>
            <a:r>
              <a:rPr b="0" lang="en-IN" sz="2400" spc="-1" strike="noStrike">
                <a:solidFill>
                  <a:srgbClr val="000000"/>
                </a:solidFill>
                <a:latin typeface="AnjaliOldLipi"/>
                <a:ea typeface="DejaVu Sans"/>
              </a:rPr>
              <a:t> = 2.512 times brighter than 2nd mag</a:t>
            </a:r>
            <a:endParaRPr b="0" lang="en-IN" sz="2400" spc="-1" strike="noStrike">
              <a:latin typeface="Arial"/>
            </a:endParaRPr>
          </a:p>
          <a:p>
            <a:pPr>
              <a:lnSpc>
                <a:spcPct val="100000"/>
              </a:lnSpc>
              <a:spcBef>
                <a:spcPts val="340"/>
              </a:spcBef>
              <a:spcAft>
                <a:spcPts val="142"/>
              </a:spcAft>
              <a:buNone/>
            </a:pPr>
            <a:r>
              <a:rPr b="0" lang="en-IN" sz="2400" spc="-1" strike="noStrike">
                <a:solidFill>
                  <a:srgbClr val="000000"/>
                </a:solidFill>
                <a:latin typeface="AnjaliOldLipi"/>
                <a:ea typeface="DejaVu Sans"/>
              </a:rPr>
              <a:t>   </a:t>
            </a:r>
            <a:r>
              <a:rPr b="0" lang="en-IN" sz="2400" spc="-1" strike="noStrike">
                <a:solidFill>
                  <a:srgbClr val="000000"/>
                </a:solidFill>
                <a:latin typeface="AnjaliOldLipi"/>
                <a:ea typeface="DejaVu Sans"/>
              </a:rPr>
              <a:t>1st mag star is 2.512</a:t>
            </a:r>
            <a:r>
              <a:rPr b="0" lang="en-IN" sz="2400" spc="-1" strike="noStrike" baseline="33000">
                <a:solidFill>
                  <a:srgbClr val="000000"/>
                </a:solidFill>
                <a:latin typeface="AnjaliOldLipi"/>
                <a:ea typeface="DejaVu Sans"/>
              </a:rPr>
              <a:t>3-1 </a:t>
            </a:r>
            <a:r>
              <a:rPr b="0" lang="en-IN" sz="2400" spc="-1" strike="noStrike">
                <a:solidFill>
                  <a:srgbClr val="000000"/>
                </a:solidFill>
                <a:latin typeface="AnjaliOldLipi"/>
                <a:ea typeface="DejaVu Sans"/>
              </a:rPr>
              <a:t>= 2.512</a:t>
            </a:r>
            <a:r>
              <a:rPr b="0" lang="en-IN" sz="2400" spc="-1" strike="noStrike" baseline="33000">
                <a:solidFill>
                  <a:srgbClr val="000000"/>
                </a:solidFill>
                <a:latin typeface="AnjaliOldLipi"/>
                <a:ea typeface="DejaVu Sans"/>
              </a:rPr>
              <a:t>2</a:t>
            </a:r>
            <a:r>
              <a:rPr b="0" lang="en-IN" sz="2400" spc="-1" strike="noStrike">
                <a:solidFill>
                  <a:srgbClr val="000000"/>
                </a:solidFill>
                <a:latin typeface="AnjaliOldLipi"/>
                <a:ea typeface="DejaVu Sans"/>
              </a:rPr>
              <a:t> times brighter than 3rd mag</a:t>
            </a:r>
            <a:endParaRPr b="0" lang="en-IN" sz="2400" spc="-1" strike="noStrike">
              <a:latin typeface="Arial"/>
            </a:endParaRPr>
          </a:p>
          <a:p>
            <a:pPr>
              <a:lnSpc>
                <a:spcPct val="100000"/>
              </a:lnSpc>
              <a:spcBef>
                <a:spcPts val="340"/>
              </a:spcBef>
              <a:spcAft>
                <a:spcPts val="142"/>
              </a:spcAft>
              <a:buNone/>
            </a:pPr>
            <a:r>
              <a:rPr b="0" lang="en-IN" sz="2400" spc="-1" strike="noStrike">
                <a:solidFill>
                  <a:srgbClr val="000000"/>
                </a:solidFill>
                <a:latin typeface="AnjaliOldLipi"/>
                <a:ea typeface="DejaVu Sans"/>
              </a:rPr>
              <a:t>    </a:t>
            </a:r>
            <a:r>
              <a:rPr b="0" lang="en-IN" sz="2400" spc="-1" strike="noStrike">
                <a:solidFill>
                  <a:srgbClr val="000000"/>
                </a:solidFill>
                <a:latin typeface="AnjaliOldLipi"/>
                <a:ea typeface="DejaVu Sans"/>
              </a:rPr>
              <a:t>And so on.</a:t>
            </a:r>
            <a:endParaRPr b="0" lang="en-IN" sz="2400" spc="-1" strike="noStrike">
              <a:latin typeface="Arial"/>
            </a:endParaRPr>
          </a:p>
          <a:p>
            <a:pPr>
              <a:lnSpc>
                <a:spcPct val="100000"/>
              </a:lnSpc>
              <a:buNone/>
            </a:pPr>
            <a:endParaRPr b="0" lang="en-IN" sz="1000" spc="-1" strike="noStrike">
              <a:latin typeface="Arial"/>
            </a:endParaRPr>
          </a:p>
        </p:txBody>
      </p:sp>
      <p:sp>
        <p:nvSpPr>
          <p:cNvPr id="141" name=""/>
          <p:cNvSpPr/>
          <p:nvPr/>
        </p:nvSpPr>
        <p:spPr>
          <a:xfrm>
            <a:off x="9720000" y="3420000"/>
            <a:ext cx="3058200" cy="104832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spcBef>
                <a:spcPts val="340"/>
              </a:spcBef>
              <a:spcAft>
                <a:spcPts val="142"/>
              </a:spcAft>
              <a:buNone/>
            </a:pPr>
            <a:r>
              <a:rPr b="0" lang="en-IN" sz="2000" spc="-1" strike="noStrike">
                <a:solidFill>
                  <a:srgbClr val="000000"/>
                </a:solidFill>
                <a:latin typeface="AnjaliOldLipi"/>
                <a:ea typeface="DejaVu Sans"/>
              </a:rPr>
              <a:t>N.R. Pogson</a:t>
            </a:r>
            <a:endParaRPr b="0" lang="en-IN" sz="2000" spc="-1" strike="noStrike">
              <a:latin typeface="Arial"/>
            </a:endParaRPr>
          </a:p>
          <a:p>
            <a:pPr algn="ctr">
              <a:lnSpc>
                <a:spcPct val="100000"/>
              </a:lnSpc>
              <a:spcBef>
                <a:spcPts val="340"/>
              </a:spcBef>
              <a:spcAft>
                <a:spcPts val="142"/>
              </a:spcAft>
              <a:buNone/>
            </a:pPr>
            <a:r>
              <a:rPr b="0" lang="en-IN" sz="2000" spc="-1" strike="noStrike">
                <a:solidFill>
                  <a:srgbClr val="000000"/>
                </a:solidFill>
                <a:latin typeface="AnjaliOldLipi"/>
                <a:ea typeface="DejaVu Sans"/>
              </a:rPr>
              <a:t>1829-1891 (IIA Archives)</a:t>
            </a:r>
            <a:endParaRPr b="0" lang="en-IN" sz="2000" spc="-1" strike="noStrike">
              <a:latin typeface="Arial"/>
            </a:endParaRPr>
          </a:p>
        </p:txBody>
      </p:sp>
      <p:sp>
        <p:nvSpPr>
          <p:cNvPr id="142" name=""/>
          <p:cNvSpPr/>
          <p:nvPr/>
        </p:nvSpPr>
        <p:spPr>
          <a:xfrm>
            <a:off x="720000" y="515160"/>
            <a:ext cx="4235760" cy="56304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1" lang="en-IN" sz="2800" spc="-1" strike="noStrike">
                <a:solidFill>
                  <a:srgbClr val="000000"/>
                </a:solidFill>
                <a:latin typeface="AnjaliOldLipi"/>
                <a:ea typeface="DejaVu Sans"/>
              </a:rPr>
              <a:t>Stellar Magnitude System</a:t>
            </a:r>
            <a:endParaRPr b="0" lang="en-IN" sz="28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
          <p:cNvSpPr/>
          <p:nvPr/>
        </p:nvSpPr>
        <p:spPr>
          <a:xfrm>
            <a:off x="332280" y="1944000"/>
            <a:ext cx="744480" cy="580464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IN" sz="2600" spc="-1" strike="noStrike">
                <a:solidFill>
                  <a:srgbClr val="ff0000"/>
                </a:solidFill>
                <a:latin typeface="AnjaliOldLipi"/>
                <a:ea typeface="DejaVu Sans"/>
              </a:rPr>
              <a:t>1</a:t>
            </a:r>
            <a:endParaRPr b="0" lang="en-IN" sz="2600" spc="-1" strike="noStrike">
              <a:latin typeface="Arial"/>
            </a:endParaRPr>
          </a:p>
          <a:p>
            <a:pPr>
              <a:lnSpc>
                <a:spcPct val="100000"/>
              </a:lnSpc>
              <a:buNone/>
            </a:pPr>
            <a:endParaRPr b="0" lang="en-IN" sz="3600" spc="-1" strike="noStrike">
              <a:latin typeface="Arial"/>
            </a:endParaRPr>
          </a:p>
          <a:p>
            <a:pPr>
              <a:lnSpc>
                <a:spcPct val="100000"/>
              </a:lnSpc>
              <a:buNone/>
            </a:pPr>
            <a:r>
              <a:rPr b="0" lang="en-IN" sz="2600" spc="-1" strike="noStrike">
                <a:solidFill>
                  <a:srgbClr val="ff0000"/>
                </a:solidFill>
                <a:latin typeface="AnjaliOldLipi"/>
                <a:ea typeface="DejaVu Sans"/>
              </a:rPr>
              <a:t>2</a:t>
            </a:r>
            <a:endParaRPr b="0" lang="en-IN" sz="2600" spc="-1" strike="noStrike">
              <a:latin typeface="Arial"/>
            </a:endParaRPr>
          </a:p>
          <a:p>
            <a:pPr>
              <a:lnSpc>
                <a:spcPct val="100000"/>
              </a:lnSpc>
              <a:buNone/>
            </a:pPr>
            <a:endParaRPr b="0" lang="en-IN" sz="3600" spc="-1" strike="noStrike">
              <a:latin typeface="Arial"/>
            </a:endParaRPr>
          </a:p>
          <a:p>
            <a:pPr>
              <a:lnSpc>
                <a:spcPct val="100000"/>
              </a:lnSpc>
              <a:buNone/>
            </a:pPr>
            <a:r>
              <a:rPr b="0" lang="en-IN" sz="2600" spc="-1" strike="noStrike">
                <a:solidFill>
                  <a:srgbClr val="ff0000"/>
                </a:solidFill>
                <a:latin typeface="AnjaliOldLipi"/>
                <a:ea typeface="DejaVu Sans"/>
              </a:rPr>
              <a:t>3</a:t>
            </a:r>
            <a:endParaRPr b="0" lang="en-IN" sz="2600" spc="-1" strike="noStrike">
              <a:latin typeface="Arial"/>
            </a:endParaRPr>
          </a:p>
          <a:p>
            <a:pPr>
              <a:lnSpc>
                <a:spcPct val="100000"/>
              </a:lnSpc>
              <a:buNone/>
            </a:pPr>
            <a:endParaRPr b="0" lang="en-IN" sz="3600" spc="-1" strike="noStrike">
              <a:latin typeface="Arial"/>
            </a:endParaRPr>
          </a:p>
          <a:p>
            <a:pPr>
              <a:lnSpc>
                <a:spcPct val="100000"/>
              </a:lnSpc>
              <a:buNone/>
            </a:pPr>
            <a:r>
              <a:rPr b="0" lang="en-IN" sz="2600" spc="-1" strike="noStrike">
                <a:solidFill>
                  <a:srgbClr val="ff0000"/>
                </a:solidFill>
                <a:latin typeface="AnjaliOldLipi"/>
                <a:ea typeface="DejaVu Sans"/>
              </a:rPr>
              <a:t>4</a:t>
            </a:r>
            <a:endParaRPr b="0" lang="en-IN" sz="2600" spc="-1" strike="noStrike">
              <a:latin typeface="Arial"/>
            </a:endParaRPr>
          </a:p>
          <a:p>
            <a:pPr>
              <a:lnSpc>
                <a:spcPct val="100000"/>
              </a:lnSpc>
              <a:buNone/>
            </a:pPr>
            <a:endParaRPr b="0" lang="en-IN" sz="3600" spc="-1" strike="noStrike">
              <a:latin typeface="Arial"/>
            </a:endParaRPr>
          </a:p>
          <a:p>
            <a:pPr>
              <a:lnSpc>
                <a:spcPct val="100000"/>
              </a:lnSpc>
              <a:buNone/>
            </a:pPr>
            <a:r>
              <a:rPr b="0" lang="en-IN" sz="2600" spc="-1" strike="noStrike">
                <a:solidFill>
                  <a:srgbClr val="ff0000"/>
                </a:solidFill>
                <a:latin typeface="AnjaliOldLipi"/>
                <a:ea typeface="DejaVu Sans"/>
              </a:rPr>
              <a:t>5</a:t>
            </a:r>
            <a:endParaRPr b="0" lang="en-IN" sz="2600" spc="-1" strike="noStrike">
              <a:latin typeface="Arial"/>
            </a:endParaRPr>
          </a:p>
          <a:p>
            <a:pPr>
              <a:lnSpc>
                <a:spcPct val="100000"/>
              </a:lnSpc>
              <a:buNone/>
            </a:pPr>
            <a:endParaRPr b="0" lang="en-IN" sz="3600" spc="-1" strike="noStrike">
              <a:latin typeface="Arial"/>
            </a:endParaRPr>
          </a:p>
          <a:p>
            <a:pPr>
              <a:lnSpc>
                <a:spcPct val="100000"/>
              </a:lnSpc>
              <a:buNone/>
            </a:pPr>
            <a:r>
              <a:rPr b="0" lang="en-IN" sz="2600" spc="-1" strike="noStrike">
                <a:solidFill>
                  <a:srgbClr val="ff0000"/>
                </a:solidFill>
                <a:latin typeface="AnjaliOldLipi"/>
                <a:ea typeface="DejaVu Sans"/>
              </a:rPr>
              <a:t>6</a:t>
            </a:r>
            <a:endParaRPr b="0" lang="en-IN" sz="2600" spc="-1" strike="noStrike">
              <a:latin typeface="Arial"/>
            </a:endParaRPr>
          </a:p>
        </p:txBody>
      </p:sp>
      <p:sp>
        <p:nvSpPr>
          <p:cNvPr id="144" name=""/>
          <p:cNvSpPr/>
          <p:nvPr/>
        </p:nvSpPr>
        <p:spPr>
          <a:xfrm>
            <a:off x="252000" y="720000"/>
            <a:ext cx="2772000" cy="69840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IN" sz="3600" spc="-1" strike="noStrike">
                <a:solidFill>
                  <a:srgbClr val="ff0000"/>
                </a:solidFill>
                <a:latin typeface="AnjaliOldLipi"/>
                <a:ea typeface="DejaVu Sans"/>
              </a:rPr>
              <a:t>Magnitudes</a:t>
            </a:r>
            <a:endParaRPr b="0" lang="en-IN" sz="3600" spc="-1" strike="noStrike">
              <a:latin typeface="Arial"/>
            </a:endParaRPr>
          </a:p>
        </p:txBody>
      </p:sp>
      <p:sp>
        <p:nvSpPr>
          <p:cNvPr id="145" name=""/>
          <p:cNvSpPr/>
          <p:nvPr/>
        </p:nvSpPr>
        <p:spPr>
          <a:xfrm>
            <a:off x="7560000" y="540000"/>
            <a:ext cx="1796760" cy="6987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IN" sz="3600" spc="-1" strike="noStrike">
                <a:solidFill>
                  <a:srgbClr val="0000ff"/>
                </a:solidFill>
                <a:latin typeface="AnjaliOldLipi"/>
                <a:ea typeface="DejaVu Sans"/>
              </a:rPr>
              <a:t>Fluxes</a:t>
            </a:r>
            <a:endParaRPr b="0" lang="en-IN" sz="3600" spc="-1" strike="noStrike">
              <a:latin typeface="Arial"/>
            </a:endParaRPr>
          </a:p>
        </p:txBody>
      </p:sp>
      <p:sp>
        <p:nvSpPr>
          <p:cNvPr id="146" name=""/>
          <p:cNvSpPr/>
          <p:nvPr/>
        </p:nvSpPr>
        <p:spPr>
          <a:xfrm>
            <a:off x="3039120" y="684360"/>
            <a:ext cx="2772000" cy="13096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IN" sz="3600" spc="-1" strike="noStrike">
                <a:solidFill>
                  <a:srgbClr val="ff0000"/>
                </a:solidFill>
                <a:latin typeface="AnjaliOldLipi"/>
                <a:ea typeface="DejaVu Sans"/>
              </a:rPr>
              <a:t>Magnitude</a:t>
            </a:r>
            <a:endParaRPr b="0" lang="en-IN" sz="3600" spc="-1" strike="noStrike">
              <a:latin typeface="Arial"/>
            </a:endParaRPr>
          </a:p>
          <a:p>
            <a:pPr>
              <a:lnSpc>
                <a:spcPct val="100000"/>
              </a:lnSpc>
              <a:buNone/>
            </a:pPr>
            <a:r>
              <a:rPr b="0" lang="en-IN" sz="3600" spc="-1" strike="noStrike">
                <a:solidFill>
                  <a:srgbClr val="ff0000"/>
                </a:solidFill>
                <a:latin typeface="AnjaliOldLipi"/>
                <a:ea typeface="DejaVu Sans"/>
              </a:rPr>
              <a:t>difference</a:t>
            </a:r>
            <a:endParaRPr b="0" lang="en-IN" sz="3600" spc="-1" strike="noStrike">
              <a:latin typeface="Arial"/>
            </a:endParaRPr>
          </a:p>
        </p:txBody>
      </p:sp>
      <p:sp>
        <p:nvSpPr>
          <p:cNvPr id="147" name=""/>
          <p:cNvSpPr/>
          <p:nvPr/>
        </p:nvSpPr>
        <p:spPr>
          <a:xfrm>
            <a:off x="9540000" y="307080"/>
            <a:ext cx="1256760" cy="13096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IN" sz="3600" spc="-1" strike="noStrike">
                <a:solidFill>
                  <a:srgbClr val="0000ff"/>
                </a:solidFill>
                <a:latin typeface="AnjaliOldLipi"/>
                <a:ea typeface="DejaVu Sans"/>
              </a:rPr>
              <a:t>Flux</a:t>
            </a:r>
            <a:endParaRPr b="0" lang="en-IN" sz="3600" spc="-1" strike="noStrike">
              <a:latin typeface="Arial"/>
            </a:endParaRPr>
          </a:p>
          <a:p>
            <a:pPr>
              <a:lnSpc>
                <a:spcPct val="100000"/>
              </a:lnSpc>
              <a:buNone/>
            </a:pPr>
            <a:r>
              <a:rPr b="0" lang="en-IN" sz="3600" spc="-1" strike="noStrike">
                <a:solidFill>
                  <a:srgbClr val="0000ff"/>
                </a:solidFill>
                <a:latin typeface="AnjaliOldLipi"/>
                <a:ea typeface="DejaVu Sans"/>
              </a:rPr>
              <a:t>ratio</a:t>
            </a:r>
            <a:endParaRPr b="0" lang="en-IN" sz="3600" spc="-1" strike="noStrike">
              <a:latin typeface="Arial"/>
            </a:endParaRPr>
          </a:p>
        </p:txBody>
      </p:sp>
      <p:sp>
        <p:nvSpPr>
          <p:cNvPr id="148" name=""/>
          <p:cNvSpPr/>
          <p:nvPr/>
        </p:nvSpPr>
        <p:spPr>
          <a:xfrm>
            <a:off x="1364760" y="8064000"/>
            <a:ext cx="7812000" cy="90072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IN" sz="2400" spc="-1" strike="noStrike">
                <a:solidFill>
                  <a:srgbClr val="ff0000"/>
                </a:solidFill>
                <a:latin typeface="AnjaliOldLipi"/>
                <a:ea typeface="DejaVu Sans"/>
              </a:rPr>
              <a:t>Magnitude difference of 1, </a:t>
            </a:r>
            <a:r>
              <a:rPr b="0" lang="en-IN" sz="2400" spc="-1" strike="noStrike">
                <a:solidFill>
                  <a:srgbClr val="0000ff"/>
                </a:solidFill>
                <a:latin typeface="AnjaliOldLipi"/>
                <a:ea typeface="DejaVu Sans"/>
              </a:rPr>
              <a:t>flux ratio of 2.512</a:t>
            </a:r>
            <a:endParaRPr b="0" lang="en-IN" sz="2400" spc="-1" strike="noStrike">
              <a:latin typeface="Arial"/>
            </a:endParaRPr>
          </a:p>
          <a:p>
            <a:pPr>
              <a:lnSpc>
                <a:spcPct val="100000"/>
              </a:lnSpc>
              <a:buNone/>
            </a:pPr>
            <a:r>
              <a:rPr b="0" lang="en-IN" sz="2400" spc="-1" strike="noStrike">
                <a:solidFill>
                  <a:srgbClr val="ff0000"/>
                </a:solidFill>
                <a:latin typeface="AnjaliOldLipi"/>
                <a:ea typeface="DejaVu Sans"/>
              </a:rPr>
              <a:t>Magnitude difference of 5,</a:t>
            </a:r>
            <a:r>
              <a:rPr b="0" lang="en-IN" sz="2400" spc="-1" strike="noStrike">
                <a:solidFill>
                  <a:srgbClr val="0000ff"/>
                </a:solidFill>
                <a:latin typeface="AnjaliOldLipi"/>
                <a:ea typeface="DejaVu Sans"/>
              </a:rPr>
              <a:t> flux ratio of 2.512^5 = 100</a:t>
            </a:r>
            <a:endParaRPr b="0" lang="en-IN" sz="2400" spc="-1" strike="noStrike">
              <a:latin typeface="Arial"/>
            </a:endParaRPr>
          </a:p>
        </p:txBody>
      </p:sp>
      <p:pic>
        <p:nvPicPr>
          <p:cNvPr id="149" name="" descr=""/>
          <p:cNvPicPr/>
          <p:nvPr/>
        </p:nvPicPr>
        <p:blipFill>
          <a:blip r:embed="rId1"/>
          <a:stretch/>
        </p:blipFill>
        <p:spPr>
          <a:xfrm>
            <a:off x="7020000" y="1800000"/>
            <a:ext cx="4239720" cy="5942160"/>
          </a:xfrm>
          <a:prstGeom prst="rect">
            <a:avLst/>
          </a:prstGeom>
          <a:ln w="0">
            <a:noFill/>
          </a:ln>
        </p:spPr>
      </p:pic>
      <p:pic>
        <p:nvPicPr>
          <p:cNvPr id="150" name="" descr=""/>
          <p:cNvPicPr/>
          <p:nvPr/>
        </p:nvPicPr>
        <p:blipFill>
          <a:blip r:embed="rId2"/>
          <a:stretch/>
        </p:blipFill>
        <p:spPr>
          <a:xfrm>
            <a:off x="1260000" y="1980000"/>
            <a:ext cx="4316760" cy="592236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1" name="Picture 1_7" descr=""/>
          <p:cNvPicPr/>
          <p:nvPr/>
        </p:nvPicPr>
        <p:blipFill>
          <a:blip r:embed="rId1"/>
          <a:stretch/>
        </p:blipFill>
        <p:spPr>
          <a:xfrm>
            <a:off x="690480" y="1260000"/>
            <a:ext cx="12122280" cy="7290360"/>
          </a:xfrm>
          <a:prstGeom prst="rect">
            <a:avLst/>
          </a:prstGeom>
          <a:ln w="0">
            <a:noFill/>
          </a:ln>
        </p:spPr>
      </p:pic>
      <p:sp>
        <p:nvSpPr>
          <p:cNvPr id="152" name=""/>
          <p:cNvSpPr/>
          <p:nvPr/>
        </p:nvSpPr>
        <p:spPr>
          <a:xfrm>
            <a:off x="756000" y="1476000"/>
            <a:ext cx="8636760" cy="536760"/>
          </a:xfrm>
          <a:prstGeom prst="rect">
            <a:avLst/>
          </a:prstGeom>
          <a:solidFill>
            <a:srgbClr val="ffffff"/>
          </a:solidFill>
          <a:ln w="0">
            <a:solidFill>
              <a:srgbClr val="ffffff"/>
            </a:solidFill>
          </a:ln>
        </p:spPr>
        <p:style>
          <a:lnRef idx="0"/>
          <a:fillRef idx="0"/>
          <a:effectRef idx="0"/>
          <a:fontRef idx="minor"/>
        </p:style>
      </p:sp>
      <p:sp>
        <p:nvSpPr>
          <p:cNvPr id="153" name=""/>
          <p:cNvSpPr/>
          <p:nvPr/>
        </p:nvSpPr>
        <p:spPr>
          <a:xfrm>
            <a:off x="1015920" y="252000"/>
            <a:ext cx="12122280" cy="15094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1" lang="en-IN" sz="2800" spc="-1" strike="noStrike">
                <a:solidFill>
                  <a:srgbClr val="000000"/>
                </a:solidFill>
                <a:latin typeface="AnjaliOldLipi"/>
                <a:ea typeface="DejaVu Sans"/>
              </a:rPr>
              <a:t>Pogson (1865) Eye response (or sensitivity) is logarithmic</a:t>
            </a:r>
            <a:endParaRPr b="0" lang="en-IN" sz="2800" spc="-1" strike="noStrike">
              <a:latin typeface="Arial"/>
            </a:endParaRPr>
          </a:p>
          <a:p>
            <a:pPr>
              <a:lnSpc>
                <a:spcPct val="100000"/>
              </a:lnSpc>
              <a:buNone/>
            </a:pPr>
            <a:endParaRPr b="0" lang="en-IN" sz="2800" spc="-1" strike="noStrike">
              <a:latin typeface="Arial"/>
            </a:endParaRPr>
          </a:p>
          <a:p>
            <a:pPr>
              <a:lnSpc>
                <a:spcPct val="100000"/>
              </a:lnSpc>
              <a:buNone/>
            </a:pPr>
            <a:r>
              <a:rPr b="1" lang="en-IN" sz="2400" spc="-1" strike="noStrike">
                <a:solidFill>
                  <a:srgbClr val="ff0000"/>
                </a:solidFill>
                <a:latin typeface="AnjaliOldLipi"/>
                <a:ea typeface="DejaVu Sans"/>
              </a:rPr>
              <a:t>Standard relation between magnitudes (m1 and m2) and fluxes (f1 and f2) of two stars</a:t>
            </a:r>
            <a:endParaRPr b="0" lang="en-IN" sz="2400" spc="-1" strike="noStrike">
              <a:latin typeface="Arial"/>
            </a:endParaRPr>
          </a:p>
        </p:txBody>
      </p:sp>
      <p:sp>
        <p:nvSpPr>
          <p:cNvPr id="154" name=""/>
          <p:cNvSpPr/>
          <p:nvPr/>
        </p:nvSpPr>
        <p:spPr>
          <a:xfrm>
            <a:off x="1800000" y="2160000"/>
            <a:ext cx="1616760" cy="356760"/>
          </a:xfrm>
          <a:prstGeom prst="rect">
            <a:avLst/>
          </a:prstGeom>
          <a:solidFill>
            <a:srgbClr val="ffff00"/>
          </a:solidFill>
          <a:ln w="0">
            <a:solidFill>
              <a:srgbClr val="ffff00"/>
            </a:solidFill>
          </a:ln>
        </p:spPr>
        <p:style>
          <a:lnRef idx="0"/>
          <a:fillRef idx="0"/>
          <a:effectRef idx="0"/>
          <a:fontRef idx="minor"/>
        </p:style>
      </p:sp>
      <p:sp>
        <p:nvSpPr>
          <p:cNvPr id="155" name=""/>
          <p:cNvSpPr/>
          <p:nvPr/>
        </p:nvSpPr>
        <p:spPr>
          <a:xfrm>
            <a:off x="1692000" y="2016000"/>
            <a:ext cx="1823400" cy="56160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IN" sz="2600" spc="-1" strike="noStrike">
                <a:solidFill>
                  <a:srgbClr val="000000"/>
                </a:solidFill>
                <a:latin typeface="AnjaliOldLipi"/>
                <a:ea typeface="DejaVu Sans"/>
              </a:rPr>
              <a:t>magnitude</a:t>
            </a:r>
            <a:endParaRPr b="0" lang="en-IN" sz="2600" spc="-1" strike="noStrike">
              <a:latin typeface="Arial"/>
            </a:endParaRPr>
          </a:p>
        </p:txBody>
      </p:sp>
      <p:sp>
        <p:nvSpPr>
          <p:cNvPr id="156" name=""/>
          <p:cNvSpPr/>
          <p:nvPr/>
        </p:nvSpPr>
        <p:spPr>
          <a:xfrm>
            <a:off x="3705840" y="2454480"/>
            <a:ext cx="5470920" cy="4942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IN" sz="2400" spc="-1" strike="noStrike">
                <a:solidFill>
                  <a:srgbClr val="ff0000"/>
                </a:solidFill>
                <a:latin typeface="AnjaliOldLipi"/>
                <a:ea typeface="DejaVu Sans"/>
              </a:rPr>
              <a:t>==&gt; if m1=1 and m2=6, then f1/f2=100</a:t>
            </a:r>
            <a:endParaRPr b="0" lang="en-IN" sz="240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57" name="" descr=""/>
          <p:cNvPicPr/>
          <p:nvPr/>
        </p:nvPicPr>
        <p:blipFill>
          <a:blip r:embed="rId1"/>
          <a:stretch/>
        </p:blipFill>
        <p:spPr>
          <a:xfrm>
            <a:off x="360000" y="664200"/>
            <a:ext cx="7558200" cy="7753680"/>
          </a:xfrm>
          <a:prstGeom prst="rect">
            <a:avLst/>
          </a:prstGeom>
          <a:ln w="0">
            <a:noFill/>
          </a:ln>
        </p:spPr>
      </p:pic>
      <p:pic>
        <p:nvPicPr>
          <p:cNvPr id="158" name="" descr=""/>
          <p:cNvPicPr/>
          <p:nvPr/>
        </p:nvPicPr>
        <p:blipFill>
          <a:blip r:embed="rId2"/>
          <a:stretch/>
        </p:blipFill>
        <p:spPr>
          <a:xfrm>
            <a:off x="8519400" y="400680"/>
            <a:ext cx="4257360" cy="9136080"/>
          </a:xfrm>
          <a:prstGeom prst="rect">
            <a:avLst/>
          </a:prstGeom>
          <a:ln w="0">
            <a:noFill/>
          </a:ln>
        </p:spPr>
      </p:pic>
      <p:sp>
        <p:nvSpPr>
          <p:cNvPr id="159" name="CustomShape 22"/>
          <p:cNvSpPr/>
          <p:nvPr/>
        </p:nvSpPr>
        <p:spPr>
          <a:xfrm>
            <a:off x="2296440" y="9000000"/>
            <a:ext cx="6700320" cy="5367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IN" sz="2000" spc="-1" strike="noStrike">
                <a:solidFill>
                  <a:srgbClr val="000000"/>
                </a:solidFill>
                <a:latin typeface="AnjaliOldLipi"/>
                <a:ea typeface="DejaVu Sans"/>
              </a:rPr>
              <a:t>https://voyages.sdss.org/preflight/light/magnitude/</a:t>
            </a:r>
            <a:endParaRPr b="0" lang="en-IN" sz="2000" spc="-1" strike="noStrike">
              <a:latin typeface="Arial"/>
            </a:endParaRPr>
          </a:p>
        </p:txBody>
      </p:sp>
      <p:sp>
        <p:nvSpPr>
          <p:cNvPr id="160" name=""/>
          <p:cNvSpPr/>
          <p:nvPr/>
        </p:nvSpPr>
        <p:spPr>
          <a:xfrm>
            <a:off x="360000" y="7920000"/>
            <a:ext cx="718200" cy="718200"/>
          </a:xfrm>
          <a:prstGeom prst="rect">
            <a:avLst/>
          </a:prstGeom>
          <a:solidFill>
            <a:srgbClr val="ffffff"/>
          </a:solidFill>
          <a:ln w="0">
            <a:solidFill>
              <a:srgbClr val="fffffe"/>
            </a:solid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CustomShape 23"/>
          <p:cNvSpPr/>
          <p:nvPr/>
        </p:nvSpPr>
        <p:spPr>
          <a:xfrm>
            <a:off x="504000" y="1224000"/>
            <a:ext cx="11801880" cy="119124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IN" sz="2600" spc="-1" strike="noStrike">
                <a:solidFill>
                  <a:srgbClr val="000000"/>
                </a:solidFill>
                <a:latin typeface="AnjaliOldLipi"/>
                <a:ea typeface="DejaVu Sans"/>
              </a:rPr>
              <a:t>As we discussed already, the </a:t>
            </a:r>
            <a:r>
              <a:rPr b="0" lang="en-IN" sz="2600" spc="-1" strike="noStrike">
                <a:solidFill>
                  <a:srgbClr val="ff0000"/>
                </a:solidFill>
                <a:latin typeface="AnjaliOldLipi"/>
                <a:ea typeface="DejaVu Sans"/>
              </a:rPr>
              <a:t>apparent brightness/flux</a:t>
            </a:r>
            <a:r>
              <a:rPr b="0" lang="en-IN" sz="2600" spc="-1" strike="noStrike">
                <a:solidFill>
                  <a:srgbClr val="000000"/>
                </a:solidFill>
                <a:latin typeface="AnjaliOldLipi"/>
                <a:ea typeface="DejaVu Sans"/>
              </a:rPr>
              <a:t> of an object depends on its distance from us, F = L/4</a:t>
            </a:r>
            <a:r>
              <a:rPr b="0" lang="en-IN" sz="2600" spc="-1" strike="noStrike">
                <a:solidFill>
                  <a:srgbClr val="000000"/>
                </a:solidFill>
                <a:latin typeface="AnjaliOldLipi"/>
                <a:ea typeface="Arial"/>
              </a:rPr>
              <a:t>πr</a:t>
            </a:r>
            <a:r>
              <a:rPr b="0" lang="en-IN" sz="2600" spc="-1" strike="noStrike" baseline="33000">
                <a:solidFill>
                  <a:srgbClr val="000000"/>
                </a:solidFill>
                <a:latin typeface="AnjaliOldLipi"/>
                <a:ea typeface="Arial"/>
              </a:rPr>
              <a:t>2</a:t>
            </a:r>
            <a:r>
              <a:rPr b="0" lang="en-IN" sz="2600" spc="-1" strike="noStrike">
                <a:solidFill>
                  <a:srgbClr val="000000"/>
                </a:solidFill>
                <a:latin typeface="AnjaliOldLipi"/>
                <a:ea typeface="Arial"/>
              </a:rPr>
              <a:t>.  As a luminous object moves farther away, it appears less bright.  </a:t>
            </a:r>
            <a:endParaRPr b="0" lang="en-IN" sz="2600" spc="-1" strike="noStrike">
              <a:latin typeface="Arial"/>
            </a:endParaRPr>
          </a:p>
          <a:p>
            <a:pPr>
              <a:lnSpc>
                <a:spcPct val="100000"/>
              </a:lnSpc>
              <a:buNone/>
            </a:pPr>
            <a:endParaRPr b="0" lang="en-IN" sz="2600" spc="-1" strike="noStrike">
              <a:latin typeface="Arial"/>
            </a:endParaRPr>
          </a:p>
          <a:p>
            <a:pPr>
              <a:lnSpc>
                <a:spcPct val="100000"/>
              </a:lnSpc>
              <a:buNone/>
            </a:pPr>
            <a:endParaRPr b="0" lang="en-IN" sz="2600" spc="-1" strike="noStrike">
              <a:latin typeface="Arial"/>
            </a:endParaRPr>
          </a:p>
        </p:txBody>
      </p:sp>
      <p:sp>
        <p:nvSpPr>
          <p:cNvPr id="162" name="CustomShape 24"/>
          <p:cNvSpPr/>
          <p:nvPr/>
        </p:nvSpPr>
        <p:spPr>
          <a:xfrm>
            <a:off x="1368000" y="432000"/>
            <a:ext cx="9425880" cy="5961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1" lang="en-US" sz="3600" spc="-1" strike="noStrike">
                <a:solidFill>
                  <a:srgbClr val="673ab7"/>
                </a:solidFill>
                <a:latin typeface="AnjaliOldLipi"/>
                <a:ea typeface="Helvetica Light"/>
              </a:rPr>
              <a:t>Apparent vs absolute magnitudes</a:t>
            </a:r>
            <a:endParaRPr b="0" lang="en-IN" sz="3600" spc="-1" strike="noStrike">
              <a:latin typeface="Arial"/>
            </a:endParaRPr>
          </a:p>
        </p:txBody>
      </p:sp>
      <p:pic>
        <p:nvPicPr>
          <p:cNvPr id="163" name="" descr=""/>
          <p:cNvPicPr/>
          <p:nvPr/>
        </p:nvPicPr>
        <p:blipFill>
          <a:blip r:embed="rId1"/>
          <a:stretch/>
        </p:blipFill>
        <p:spPr>
          <a:xfrm>
            <a:off x="720000" y="3240000"/>
            <a:ext cx="10683000" cy="5825880"/>
          </a:xfrm>
          <a:prstGeom prst="rect">
            <a:avLst/>
          </a:prstGeom>
          <a:ln w="0">
            <a:noFill/>
          </a:ln>
        </p:spPr>
      </p:pic>
      <p:sp>
        <p:nvSpPr>
          <p:cNvPr id="164" name="CustomShape 25"/>
          <p:cNvSpPr/>
          <p:nvPr/>
        </p:nvSpPr>
        <p:spPr>
          <a:xfrm>
            <a:off x="8784000" y="6344640"/>
            <a:ext cx="3920760" cy="175212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2400" spc="-1" strike="noStrike">
                <a:solidFill>
                  <a:srgbClr val="0000ff"/>
                </a:solidFill>
                <a:latin typeface="AnjaliOldLipi"/>
                <a:ea typeface="Helvetica Light"/>
              </a:rPr>
              <a:t>But when they kept at same distances, bulb will be much more brighter than the candle.</a:t>
            </a:r>
            <a:endParaRPr b="0" lang="en-IN" sz="2400" spc="-1" strike="noStrike">
              <a:latin typeface="Arial"/>
            </a:endParaRPr>
          </a:p>
        </p:txBody>
      </p:sp>
      <p:sp>
        <p:nvSpPr>
          <p:cNvPr id="165" name="CustomShape 26"/>
          <p:cNvSpPr/>
          <p:nvPr/>
        </p:nvSpPr>
        <p:spPr>
          <a:xfrm>
            <a:off x="1008000" y="3318120"/>
            <a:ext cx="10328760" cy="74664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2400" spc="-1" strike="noStrike">
                <a:solidFill>
                  <a:srgbClr val="0000ff"/>
                </a:solidFill>
                <a:latin typeface="AnjaliOldLipi"/>
                <a:ea typeface="Helvetica Light"/>
              </a:rPr>
              <a:t>Consider a bulb (brighter) and a small candle (naturally dimmer). But when kept at different distances, both may appear with similar brightness</a:t>
            </a:r>
            <a:endParaRPr b="0" lang="en-IN" sz="2400" spc="-1" strike="noStrike">
              <a:latin typeface="Arial"/>
            </a:endParaRPr>
          </a:p>
        </p:txBody>
      </p:sp>
      <p:sp>
        <p:nvSpPr>
          <p:cNvPr id="166" name="CustomShape 27"/>
          <p:cNvSpPr/>
          <p:nvPr/>
        </p:nvSpPr>
        <p:spPr>
          <a:xfrm>
            <a:off x="540000" y="8424000"/>
            <a:ext cx="11698200" cy="82224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buNone/>
            </a:pPr>
            <a:r>
              <a:rPr b="0" lang="en-IN" sz="2600" spc="-1" strike="noStrike">
                <a:solidFill>
                  <a:srgbClr val="000000"/>
                </a:solidFill>
                <a:latin typeface="AnjaliOldLipi"/>
                <a:ea typeface="DejaVu Sans"/>
              </a:rPr>
              <a:t>Therefore, distance matters, and if we want to know the true brigheness of an object, we can bring all sources to a common distance</a:t>
            </a:r>
            <a:endParaRPr b="0" lang="en-IN" sz="2600" spc="-1" strike="noStrike">
              <a:latin typeface="Arial"/>
            </a:endParaRPr>
          </a:p>
        </p:txBody>
      </p:sp>
      <p:sp>
        <p:nvSpPr>
          <p:cNvPr id="167" name=""/>
          <p:cNvSpPr/>
          <p:nvPr/>
        </p:nvSpPr>
        <p:spPr>
          <a:xfrm>
            <a:off x="618120" y="2636280"/>
            <a:ext cx="11800080" cy="4564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IN" sz="2600" spc="-1" strike="noStrike">
                <a:solidFill>
                  <a:srgbClr val="000000"/>
                </a:solidFill>
                <a:latin typeface="AnjaliOldLipi"/>
                <a:ea typeface="Arial"/>
              </a:rPr>
              <a:t>Flux is always the measured quantify which is apprent/observed!</a:t>
            </a:r>
            <a:endParaRPr b="0" lang="en-IN" sz="260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8" name="" descr=""/>
          <p:cNvPicPr/>
          <p:nvPr/>
        </p:nvPicPr>
        <p:blipFill>
          <a:blip r:embed="rId1"/>
          <a:stretch/>
        </p:blipFill>
        <p:spPr>
          <a:xfrm>
            <a:off x="288000" y="214560"/>
            <a:ext cx="5537880" cy="2443320"/>
          </a:xfrm>
          <a:prstGeom prst="rect">
            <a:avLst/>
          </a:prstGeom>
          <a:ln w="0">
            <a:noFill/>
          </a:ln>
        </p:spPr>
      </p:pic>
      <p:sp>
        <p:nvSpPr>
          <p:cNvPr id="169" name="CustomShape 28"/>
          <p:cNvSpPr/>
          <p:nvPr/>
        </p:nvSpPr>
        <p:spPr>
          <a:xfrm>
            <a:off x="5688000" y="306360"/>
            <a:ext cx="6982200" cy="221184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buNone/>
            </a:pPr>
            <a:r>
              <a:rPr b="1" lang="en-IN" sz="2200" spc="-1" strike="noStrike">
                <a:solidFill>
                  <a:srgbClr val="000000"/>
                </a:solidFill>
                <a:latin typeface="AnjaliOldLipi"/>
                <a:ea typeface="DejaVu Sans"/>
              </a:rPr>
              <a:t>The apparent magnitude, m,</a:t>
            </a:r>
            <a:r>
              <a:rPr b="0" lang="en-IN" sz="2200" spc="-1" strike="noStrike">
                <a:solidFill>
                  <a:srgbClr val="000000"/>
                </a:solidFill>
                <a:latin typeface="AnjaliOldLipi"/>
                <a:ea typeface="DejaVu Sans"/>
              </a:rPr>
              <a:t>  measures how bright an object appears, given its true distance from Earth.</a:t>
            </a:r>
            <a:endParaRPr b="0" lang="en-IN" sz="2200" spc="-1" strike="noStrike">
              <a:latin typeface="Arial"/>
            </a:endParaRPr>
          </a:p>
          <a:p>
            <a:pPr algn="just">
              <a:lnSpc>
                <a:spcPct val="100000"/>
              </a:lnSpc>
              <a:buNone/>
            </a:pPr>
            <a:endParaRPr b="0" lang="en-IN" sz="2200" spc="-1" strike="noStrike">
              <a:latin typeface="Arial"/>
            </a:endParaRPr>
          </a:p>
          <a:p>
            <a:pPr algn="just">
              <a:lnSpc>
                <a:spcPct val="100000"/>
              </a:lnSpc>
              <a:buNone/>
            </a:pPr>
            <a:r>
              <a:rPr b="1" lang="en-IN" sz="2200" spc="-1" strike="noStrike">
                <a:solidFill>
                  <a:srgbClr val="000000"/>
                </a:solidFill>
                <a:latin typeface="AnjaliOldLipi"/>
                <a:ea typeface="DejaVu Sans"/>
              </a:rPr>
              <a:t>The absolute magnitude, M,</a:t>
            </a:r>
            <a:r>
              <a:rPr b="0" lang="en-IN" sz="2200" spc="-1" strike="noStrike">
                <a:solidFill>
                  <a:srgbClr val="000000"/>
                </a:solidFill>
                <a:latin typeface="AnjaliOldLipi"/>
                <a:ea typeface="DejaVu Sans"/>
              </a:rPr>
              <a:t> measures how bright the same object would appear if it were exactly 10 parsecs away.</a:t>
            </a:r>
            <a:endParaRPr b="0" lang="en-IN" sz="2200" spc="-1" strike="noStrike">
              <a:latin typeface="Arial"/>
            </a:endParaRPr>
          </a:p>
        </p:txBody>
      </p:sp>
      <p:pic>
        <p:nvPicPr>
          <p:cNvPr id="170" name="" descr=""/>
          <p:cNvPicPr/>
          <p:nvPr/>
        </p:nvPicPr>
        <p:blipFill>
          <a:blip r:embed="rId2"/>
          <a:stretch/>
        </p:blipFill>
        <p:spPr>
          <a:xfrm>
            <a:off x="1896120" y="2970360"/>
            <a:ext cx="8897760" cy="6671520"/>
          </a:xfrm>
          <a:prstGeom prst="rect">
            <a:avLst/>
          </a:prstGeom>
          <a:ln w="0">
            <a:noFill/>
          </a:ln>
        </p:spPr>
      </p:pic>
      <p:sp>
        <p:nvSpPr>
          <p:cNvPr id="171" name="CustomShape 29"/>
          <p:cNvSpPr/>
          <p:nvPr/>
        </p:nvSpPr>
        <p:spPr>
          <a:xfrm>
            <a:off x="4392000" y="4104000"/>
            <a:ext cx="4457880" cy="425880"/>
          </a:xfrm>
          <a:prstGeom prst="rect">
            <a:avLst/>
          </a:prstGeom>
          <a:solidFill>
            <a:srgbClr val="000000"/>
          </a:solidFill>
          <a:ln w="0">
            <a:solidFill>
              <a:srgbClr val="000000"/>
            </a:solidFill>
          </a:ln>
        </p:spPr>
        <p:style>
          <a:lnRef idx="0"/>
          <a:fillRef idx="0"/>
          <a:effectRef idx="0"/>
          <a:fontRef idx="minor"/>
        </p:style>
      </p:sp>
      <p:sp>
        <p:nvSpPr>
          <p:cNvPr id="172" name="CustomShape 30"/>
          <p:cNvSpPr/>
          <p:nvPr/>
        </p:nvSpPr>
        <p:spPr>
          <a:xfrm>
            <a:off x="5436000" y="4360320"/>
            <a:ext cx="3413880" cy="425880"/>
          </a:xfrm>
          <a:prstGeom prst="rect">
            <a:avLst/>
          </a:prstGeom>
          <a:solidFill>
            <a:srgbClr val="000000"/>
          </a:solidFill>
          <a:ln w="0">
            <a:solidFill>
              <a:srgbClr val="000000"/>
            </a:solid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3" name="Image_9" descr="Image"/>
          <p:cNvPicPr/>
          <p:nvPr/>
        </p:nvPicPr>
        <p:blipFill>
          <a:blip r:embed="rId1"/>
          <a:stretch/>
        </p:blipFill>
        <p:spPr>
          <a:xfrm>
            <a:off x="3245760" y="5311440"/>
            <a:ext cx="9492120" cy="4186440"/>
          </a:xfrm>
          <a:prstGeom prst="rect">
            <a:avLst/>
          </a:prstGeom>
          <a:ln w="12600">
            <a:noFill/>
          </a:ln>
        </p:spPr>
      </p:pic>
      <p:pic>
        <p:nvPicPr>
          <p:cNvPr id="174" name="" descr=""/>
          <p:cNvPicPr/>
          <p:nvPr/>
        </p:nvPicPr>
        <p:blipFill>
          <a:blip r:embed="rId2"/>
          <a:stretch/>
        </p:blipFill>
        <p:spPr>
          <a:xfrm>
            <a:off x="316440" y="108000"/>
            <a:ext cx="7097760" cy="5321520"/>
          </a:xfrm>
          <a:prstGeom prst="rect">
            <a:avLst/>
          </a:prstGeom>
          <a:ln w="0">
            <a:noFill/>
          </a:ln>
        </p:spPr>
      </p:pic>
      <p:sp>
        <p:nvSpPr>
          <p:cNvPr id="175" name=""/>
          <p:cNvSpPr/>
          <p:nvPr/>
        </p:nvSpPr>
        <p:spPr>
          <a:xfrm>
            <a:off x="720000" y="5857560"/>
            <a:ext cx="2878200" cy="383220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1" lang="en-IN" sz="2400" spc="-1" strike="noStrike">
                <a:solidFill>
                  <a:srgbClr val="000000"/>
                </a:solidFill>
                <a:latin typeface="AnjaliOldLipi"/>
                <a:ea typeface="DejaVu Sans"/>
              </a:rPr>
              <a:t>Distance</a:t>
            </a:r>
            <a:endParaRPr b="0" lang="en-IN" sz="2400" spc="-1" strike="noStrike">
              <a:latin typeface="Arial"/>
            </a:endParaRPr>
          </a:p>
          <a:p>
            <a:pPr>
              <a:lnSpc>
                <a:spcPct val="100000"/>
              </a:lnSpc>
              <a:buNone/>
            </a:pPr>
            <a:r>
              <a:rPr b="0" lang="en-IN" sz="1800" spc="-1" strike="noStrike">
                <a:solidFill>
                  <a:srgbClr val="000000"/>
                </a:solidFill>
                <a:latin typeface="AnjaliOldLipi"/>
                <a:ea typeface="DejaVu Sans"/>
              </a:rPr>
              <a:t>1 AU = ~5e-6 pc</a:t>
            </a:r>
            <a:endParaRPr b="0" lang="en-IN" sz="1800" spc="-1" strike="noStrike">
              <a:latin typeface="Arial"/>
            </a:endParaRPr>
          </a:p>
          <a:p>
            <a:pPr>
              <a:lnSpc>
                <a:spcPct val="100000"/>
              </a:lnSpc>
              <a:buNone/>
            </a:pPr>
            <a:r>
              <a:rPr b="0" lang="en-IN" sz="1800" spc="-1" strike="noStrike">
                <a:solidFill>
                  <a:srgbClr val="000000"/>
                </a:solidFill>
                <a:latin typeface="AnjaliOldLipi"/>
                <a:ea typeface="DejaVu Sans"/>
              </a:rPr>
              <a:t>2.65 pc</a:t>
            </a:r>
            <a:endParaRPr b="0" lang="en-IN" sz="1800" spc="-1" strike="noStrike">
              <a:latin typeface="Arial"/>
            </a:endParaRPr>
          </a:p>
          <a:p>
            <a:pPr>
              <a:lnSpc>
                <a:spcPct val="100000"/>
              </a:lnSpc>
              <a:buNone/>
            </a:pPr>
            <a:r>
              <a:rPr b="0" lang="en-IN" sz="1800" spc="-1" strike="noStrike">
                <a:solidFill>
                  <a:srgbClr val="000000"/>
                </a:solidFill>
                <a:latin typeface="AnjaliOldLipi"/>
                <a:ea typeface="DejaVu Sans"/>
              </a:rPr>
              <a:t>8.1 pc</a:t>
            </a:r>
            <a:endParaRPr b="0" lang="en-IN" sz="1800" spc="-1" strike="noStrike">
              <a:latin typeface="Arial"/>
            </a:endParaRPr>
          </a:p>
          <a:p>
            <a:pPr>
              <a:lnSpc>
                <a:spcPct val="100000"/>
              </a:lnSpc>
              <a:buNone/>
            </a:pPr>
            <a:r>
              <a:rPr b="0" lang="en-IN" sz="1800" spc="-1" strike="noStrike">
                <a:solidFill>
                  <a:srgbClr val="000000"/>
                </a:solidFill>
                <a:latin typeface="AnjaliOldLipi"/>
                <a:ea typeface="DejaVu Sans"/>
              </a:rPr>
              <a:t>160 pc</a:t>
            </a:r>
            <a:endParaRPr b="0" lang="en-IN" sz="1800" spc="-1" strike="noStrike">
              <a:latin typeface="Arial"/>
            </a:endParaRPr>
          </a:p>
          <a:p>
            <a:pPr>
              <a:lnSpc>
                <a:spcPct val="100000"/>
              </a:lnSpc>
              <a:buNone/>
            </a:pPr>
            <a:r>
              <a:rPr b="0" lang="en-IN" sz="1800" spc="-1" strike="noStrike">
                <a:solidFill>
                  <a:srgbClr val="000000"/>
                </a:solidFill>
                <a:latin typeface="AnjaliOldLipi"/>
                <a:ea typeface="DejaVu Sans"/>
              </a:rPr>
              <a:t>110 pc</a:t>
            </a:r>
            <a:endParaRPr b="0" lang="en-IN" sz="1800" spc="-1" strike="noStrike">
              <a:latin typeface="Arial"/>
            </a:endParaRPr>
          </a:p>
          <a:p>
            <a:pPr>
              <a:lnSpc>
                <a:spcPct val="100000"/>
              </a:lnSpc>
              <a:buNone/>
            </a:pPr>
            <a:endParaRPr b="0" lang="en-IN" sz="100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CustomShape 31"/>
          <p:cNvSpPr/>
          <p:nvPr/>
        </p:nvSpPr>
        <p:spPr>
          <a:xfrm>
            <a:off x="360000" y="3744000"/>
            <a:ext cx="5836320" cy="237024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buNone/>
            </a:pPr>
            <a:r>
              <a:rPr b="0" lang="en-IN" sz="4200" spc="-1" strike="noStrike">
                <a:solidFill>
                  <a:srgbClr val="0000ff"/>
                </a:solidFill>
                <a:latin typeface="AnjaliOldLipi"/>
                <a:ea typeface="DejaVu Sans"/>
              </a:rPr>
              <a:t>Derivation of distance modulus (m-M)</a:t>
            </a:r>
            <a:endParaRPr b="0" lang="en-IN" sz="4200" spc="-1" strike="noStrike">
              <a:latin typeface="Arial"/>
            </a:endParaRPr>
          </a:p>
        </p:txBody>
      </p:sp>
      <p:pic>
        <p:nvPicPr>
          <p:cNvPr id="177" name="" descr=""/>
          <p:cNvPicPr/>
          <p:nvPr/>
        </p:nvPicPr>
        <p:blipFill>
          <a:blip r:embed="rId1"/>
          <a:stretch/>
        </p:blipFill>
        <p:spPr>
          <a:xfrm>
            <a:off x="6198120" y="108000"/>
            <a:ext cx="6144120" cy="9553680"/>
          </a:xfrm>
          <a:prstGeom prst="rect">
            <a:avLst/>
          </a:prstGeom>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CustomShape 32"/>
          <p:cNvSpPr/>
          <p:nvPr/>
        </p:nvSpPr>
        <p:spPr>
          <a:xfrm>
            <a:off x="554760" y="3484800"/>
            <a:ext cx="4335120" cy="3970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IN" sz="4800" spc="-1" strike="noStrike">
                <a:solidFill>
                  <a:srgbClr val="3f51b5"/>
                </a:solidFill>
                <a:latin typeface="AnjaliOldLipi"/>
                <a:ea typeface="DejaVu Sans"/>
              </a:rPr>
              <a:t>Derivation of distance modulus (m-M)</a:t>
            </a:r>
            <a:endParaRPr b="0" lang="en-IN" sz="4800" spc="-1" strike="noStrike">
              <a:latin typeface="Arial"/>
            </a:endParaRPr>
          </a:p>
        </p:txBody>
      </p:sp>
      <p:pic>
        <p:nvPicPr>
          <p:cNvPr id="179" name="" descr=""/>
          <p:cNvPicPr/>
          <p:nvPr/>
        </p:nvPicPr>
        <p:blipFill>
          <a:blip r:embed="rId1"/>
          <a:stretch/>
        </p:blipFill>
        <p:spPr>
          <a:xfrm>
            <a:off x="5184000" y="144000"/>
            <a:ext cx="7626240" cy="9426240"/>
          </a:xfrm>
          <a:prstGeom prst="rect">
            <a:avLst/>
          </a:prstGeom>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0" name="" descr=""/>
          <p:cNvPicPr/>
          <p:nvPr/>
        </p:nvPicPr>
        <p:blipFill>
          <a:blip r:embed="rId1"/>
          <a:stretch/>
        </p:blipFill>
        <p:spPr>
          <a:xfrm>
            <a:off x="360000" y="360000"/>
            <a:ext cx="12241440" cy="9178560"/>
          </a:xfrm>
          <a:prstGeom prst="rect">
            <a:avLst/>
          </a:prstGeom>
          <a:ln w="0">
            <a:noFill/>
          </a:ln>
        </p:spPr>
      </p:pic>
      <p:sp>
        <p:nvSpPr>
          <p:cNvPr id="181" name=""/>
          <p:cNvSpPr/>
          <p:nvPr/>
        </p:nvSpPr>
        <p:spPr>
          <a:xfrm>
            <a:off x="3600000" y="7726680"/>
            <a:ext cx="7738560" cy="127188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buNone/>
            </a:pPr>
            <a:r>
              <a:rPr b="0" lang="en-IN" sz="4200" spc="-1" strike="noStrike">
                <a:solidFill>
                  <a:srgbClr val="ffffff"/>
                </a:solidFill>
                <a:latin typeface="Times New Roman"/>
                <a:ea typeface="DejaVu Sans"/>
              </a:rPr>
              <a:t>Find the magnitude difference </a:t>
            </a:r>
            <a:endParaRPr b="0" lang="en-IN" sz="4200" spc="-1" strike="noStrike">
              <a:latin typeface="Arial"/>
            </a:endParaRPr>
          </a:p>
          <a:p>
            <a:pPr algn="ctr">
              <a:lnSpc>
                <a:spcPct val="100000"/>
              </a:lnSpc>
              <a:buNone/>
            </a:pPr>
            <a:r>
              <a:rPr b="0" lang="en-IN" sz="4200" spc="-1" strike="noStrike">
                <a:solidFill>
                  <a:srgbClr val="ffffff"/>
                </a:solidFill>
                <a:latin typeface="Times New Roman"/>
                <a:ea typeface="DejaVu Sans"/>
              </a:rPr>
              <a:t>and flux ratio</a:t>
            </a:r>
            <a:endParaRPr b="0" lang="en-IN" sz="4200" spc="-1" strike="noStrike">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2" name="" descr=""/>
          <p:cNvPicPr/>
          <p:nvPr/>
        </p:nvPicPr>
        <p:blipFill>
          <a:blip r:embed="rId1"/>
          <a:stretch/>
        </p:blipFill>
        <p:spPr>
          <a:xfrm>
            <a:off x="7596000" y="972000"/>
            <a:ext cx="5273640" cy="3953880"/>
          </a:xfrm>
          <a:prstGeom prst="rect">
            <a:avLst/>
          </a:prstGeom>
          <a:ln w="0">
            <a:noFill/>
          </a:ln>
        </p:spPr>
      </p:pic>
      <p:pic>
        <p:nvPicPr>
          <p:cNvPr id="183" name="" descr=""/>
          <p:cNvPicPr/>
          <p:nvPr/>
        </p:nvPicPr>
        <p:blipFill>
          <a:blip r:embed="rId2"/>
          <a:stretch/>
        </p:blipFill>
        <p:spPr>
          <a:xfrm>
            <a:off x="268560" y="1980000"/>
            <a:ext cx="7290000" cy="5465880"/>
          </a:xfrm>
          <a:prstGeom prst="rect">
            <a:avLst/>
          </a:prstGeom>
          <a:ln w="0">
            <a:noFill/>
          </a:ln>
        </p:spPr>
      </p:pic>
      <p:pic>
        <p:nvPicPr>
          <p:cNvPr id="184" name="" descr=""/>
          <p:cNvPicPr/>
          <p:nvPr/>
        </p:nvPicPr>
        <p:blipFill>
          <a:blip r:embed="rId3"/>
          <a:stretch/>
        </p:blipFill>
        <p:spPr>
          <a:xfrm>
            <a:off x="7607520" y="4787640"/>
            <a:ext cx="5068800" cy="3800160"/>
          </a:xfrm>
          <a:prstGeom prst="rect">
            <a:avLst/>
          </a:prstGeom>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5" name="" descr=""/>
          <p:cNvPicPr/>
          <p:nvPr/>
        </p:nvPicPr>
        <p:blipFill>
          <a:blip r:embed="rId1"/>
          <a:stretch/>
        </p:blipFill>
        <p:spPr>
          <a:xfrm>
            <a:off x="3924360" y="1260000"/>
            <a:ext cx="5129280" cy="8278560"/>
          </a:xfrm>
          <a:prstGeom prst="rect">
            <a:avLst/>
          </a:prstGeom>
          <a:ln w="0">
            <a:noFill/>
          </a:ln>
        </p:spPr>
      </p:pic>
      <p:sp>
        <p:nvSpPr>
          <p:cNvPr id="186" name=""/>
          <p:cNvSpPr/>
          <p:nvPr/>
        </p:nvSpPr>
        <p:spPr>
          <a:xfrm>
            <a:off x="8100000" y="7200000"/>
            <a:ext cx="1258560" cy="538560"/>
          </a:xfrm>
          <a:prstGeom prst="rect">
            <a:avLst/>
          </a:prstGeom>
          <a:solidFill>
            <a:srgbClr val="ffffff"/>
          </a:solidFill>
          <a:ln w="0">
            <a:solidFill>
              <a:srgbClr val="ffffff"/>
            </a:solid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7" name="" descr=""/>
          <p:cNvPicPr/>
          <p:nvPr/>
        </p:nvPicPr>
        <p:blipFill>
          <a:blip r:embed="rId1"/>
          <a:stretch/>
        </p:blipFill>
        <p:spPr>
          <a:xfrm>
            <a:off x="1620000" y="1440000"/>
            <a:ext cx="10078560" cy="7556040"/>
          </a:xfrm>
          <a:prstGeom prst="rect">
            <a:avLst/>
          </a:prstGeom>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8" name="" descr=""/>
          <p:cNvPicPr/>
          <p:nvPr/>
        </p:nvPicPr>
        <p:blipFill>
          <a:blip r:embed="rId1"/>
          <a:stretch/>
        </p:blipFill>
        <p:spPr>
          <a:xfrm>
            <a:off x="5068080" y="86400"/>
            <a:ext cx="5430960" cy="9452160"/>
          </a:xfrm>
          <a:prstGeom prst="rect">
            <a:avLst/>
          </a:prstGeom>
          <a:ln w="0">
            <a:noFill/>
          </a:ln>
        </p:spPr>
      </p:pic>
      <p:sp>
        <p:nvSpPr>
          <p:cNvPr id="189" name="CustomShape 33"/>
          <p:cNvSpPr/>
          <p:nvPr/>
        </p:nvSpPr>
        <p:spPr>
          <a:xfrm>
            <a:off x="180000" y="1620000"/>
            <a:ext cx="5037840" cy="478368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buNone/>
            </a:pPr>
            <a:r>
              <a:rPr b="0" lang="en-IN" sz="3200" spc="-1" strike="noStrike">
                <a:solidFill>
                  <a:srgbClr val="ff0000"/>
                </a:solidFill>
                <a:latin typeface="AnjaliOldLipi"/>
                <a:ea typeface="DejaVu Sans"/>
              </a:rPr>
              <a:t>We know the relation between apparent magnitudes and flux ratio</a:t>
            </a:r>
            <a:endParaRPr b="0" lang="en-IN" sz="3200" spc="-1" strike="noStrike">
              <a:latin typeface="Arial"/>
            </a:endParaRPr>
          </a:p>
          <a:p>
            <a:pPr algn="ctr">
              <a:lnSpc>
                <a:spcPct val="100000"/>
              </a:lnSpc>
              <a:buNone/>
            </a:pPr>
            <a:endParaRPr b="0" lang="en-IN" sz="3200" spc="-1" strike="noStrike">
              <a:latin typeface="Arial"/>
            </a:endParaRPr>
          </a:p>
          <a:p>
            <a:pPr algn="ctr">
              <a:lnSpc>
                <a:spcPct val="100000"/>
              </a:lnSpc>
              <a:buNone/>
            </a:pPr>
            <a:r>
              <a:rPr b="0" lang="en-IN" sz="3200" spc="-1" strike="noStrike">
                <a:solidFill>
                  <a:srgbClr val="0000dc"/>
                </a:solidFill>
                <a:latin typeface="AnjaliOldLipi"/>
                <a:ea typeface="DejaVu Sans"/>
              </a:rPr>
              <a:t>What about the absolute magnitudes and luminosities? </a:t>
            </a:r>
            <a:endParaRPr b="0" lang="en-IN" sz="3200" spc="-1" strike="noStrike">
              <a:latin typeface="Arial"/>
            </a:endParaRPr>
          </a:p>
          <a:p>
            <a:pPr algn="ctr">
              <a:lnSpc>
                <a:spcPct val="100000"/>
              </a:lnSpc>
              <a:buNone/>
            </a:pPr>
            <a:endParaRPr b="0" lang="en-IN" sz="3200" spc="-1" strike="noStrike">
              <a:latin typeface="Arial"/>
            </a:endParaRPr>
          </a:p>
          <a:p>
            <a:pPr algn="ctr">
              <a:lnSpc>
                <a:spcPct val="100000"/>
              </a:lnSpc>
              <a:buNone/>
            </a:pPr>
            <a:r>
              <a:rPr b="0" lang="en-IN" sz="3600" spc="-1" strike="noStrike">
                <a:solidFill>
                  <a:srgbClr val="000000"/>
                </a:solidFill>
                <a:latin typeface="AnjaliOldLipi"/>
                <a:ea typeface="DejaVu Sans"/>
              </a:rPr>
              <a:t>M</a:t>
            </a:r>
            <a:r>
              <a:rPr b="0" lang="en-IN" sz="3600" spc="-1" strike="noStrike" baseline="-33000">
                <a:solidFill>
                  <a:srgbClr val="000000"/>
                </a:solidFill>
                <a:latin typeface="AnjaliOldLipi"/>
                <a:ea typeface="DejaVu Sans"/>
              </a:rPr>
              <a:t>1</a:t>
            </a:r>
            <a:r>
              <a:rPr b="0" lang="en-IN" sz="3600" spc="-1" strike="noStrike">
                <a:solidFill>
                  <a:srgbClr val="000000"/>
                </a:solidFill>
                <a:latin typeface="AnjaliOldLipi"/>
                <a:ea typeface="DejaVu Sans"/>
              </a:rPr>
              <a:t>-M</a:t>
            </a:r>
            <a:r>
              <a:rPr b="0" lang="en-IN" sz="3600" spc="-1" strike="noStrike" baseline="-33000">
                <a:solidFill>
                  <a:srgbClr val="000000"/>
                </a:solidFill>
                <a:latin typeface="AnjaliOldLipi"/>
                <a:ea typeface="DejaVu Sans"/>
              </a:rPr>
              <a:t>2</a:t>
            </a:r>
            <a:r>
              <a:rPr b="0" lang="en-IN" sz="3600" spc="-1" strike="noStrike">
                <a:solidFill>
                  <a:srgbClr val="000000"/>
                </a:solidFill>
                <a:latin typeface="AnjaliOldLipi"/>
                <a:ea typeface="DejaVu Sans"/>
              </a:rPr>
              <a:t> vs L</a:t>
            </a:r>
            <a:r>
              <a:rPr b="0" lang="en-IN" sz="3600" spc="-1" strike="noStrike" baseline="-33000">
                <a:solidFill>
                  <a:srgbClr val="000000"/>
                </a:solidFill>
                <a:latin typeface="AnjaliOldLipi"/>
                <a:ea typeface="DejaVu Sans"/>
              </a:rPr>
              <a:t>1</a:t>
            </a:r>
            <a:r>
              <a:rPr b="0" lang="en-IN" sz="3600" spc="-1" strike="noStrike">
                <a:solidFill>
                  <a:srgbClr val="000000"/>
                </a:solidFill>
                <a:latin typeface="AnjaliOldLipi"/>
                <a:ea typeface="DejaVu Sans"/>
              </a:rPr>
              <a:t>/L</a:t>
            </a:r>
            <a:r>
              <a:rPr b="0" lang="en-IN" sz="3600" spc="-1" strike="noStrike" baseline="-33000">
                <a:solidFill>
                  <a:srgbClr val="000000"/>
                </a:solidFill>
                <a:latin typeface="AnjaliOldLipi"/>
                <a:ea typeface="DejaVu Sans"/>
              </a:rPr>
              <a:t>2</a:t>
            </a:r>
            <a:endParaRPr b="0" lang="en-IN" sz="3600" spc="-1" strike="noStrike">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190" name="CustomShape 34"/>
          <p:cNvSpPr/>
          <p:nvPr/>
        </p:nvSpPr>
        <p:spPr>
          <a:xfrm>
            <a:off x="942840" y="858600"/>
            <a:ext cx="11381760" cy="7903080"/>
          </a:xfrm>
          <a:prstGeom prst="rect">
            <a:avLst/>
          </a:prstGeom>
          <a:noFill/>
          <a:ln w="12600">
            <a:noFill/>
          </a:ln>
        </p:spPr>
        <p:style>
          <a:lnRef idx="0"/>
          <a:fillRef idx="0"/>
          <a:effectRef idx="0"/>
          <a:fontRef idx="minor"/>
        </p:style>
        <p:txBody>
          <a:bodyPr wrap="none" lIns="50760" rIns="50760" tIns="50760" bIns="50760" anchor="ctr">
            <a:spAutoFit/>
          </a:bodyPr>
          <a:p>
            <a:pPr>
              <a:lnSpc>
                <a:spcPct val="100000"/>
              </a:lnSpc>
              <a:buNone/>
              <a:tabLst>
                <a:tab algn="l" pos="0"/>
              </a:tabLst>
            </a:pPr>
            <a:r>
              <a:rPr b="0" lang="en-IN" sz="2200" spc="-1" strike="noStrike">
                <a:solidFill>
                  <a:srgbClr val="000000"/>
                </a:solidFill>
                <a:latin typeface="Arial"/>
                <a:ea typeface="Helvetica Light"/>
              </a:rPr>
              <a:t>Some problems to solve:</a:t>
            </a:r>
            <a:endParaRPr b="0" lang="en-IN" sz="2200" spc="-1" strike="noStrike">
              <a:latin typeface="Arial"/>
            </a:endParaRPr>
          </a:p>
          <a:p>
            <a:pPr>
              <a:lnSpc>
                <a:spcPct val="100000"/>
              </a:lnSpc>
              <a:buNone/>
              <a:tabLst>
                <a:tab algn="l" pos="0"/>
              </a:tabLst>
            </a:pPr>
            <a:endParaRPr b="0" lang="en-IN" sz="2400" spc="-1" strike="noStrike">
              <a:latin typeface="Arial"/>
            </a:endParaRPr>
          </a:p>
          <a:p>
            <a:pPr>
              <a:lnSpc>
                <a:spcPct val="100000"/>
              </a:lnSpc>
              <a:buNone/>
              <a:tabLst>
                <a:tab algn="l" pos="0"/>
              </a:tabLst>
            </a:pPr>
            <a:r>
              <a:rPr b="0" lang="en-IN" sz="2100" spc="-1" strike="noStrike">
                <a:solidFill>
                  <a:srgbClr val="000000"/>
                </a:solidFill>
                <a:latin typeface="Arial"/>
                <a:ea typeface="Times New Roman"/>
              </a:rPr>
              <a:t>1) Assume that the effective temperature of the Sun is 5780 K; the radius of the Sun is </a:t>
            </a:r>
            <a:endParaRPr b="0" lang="en-IN" sz="2100" spc="-1" strike="noStrike">
              <a:latin typeface="Arial"/>
            </a:endParaRPr>
          </a:p>
          <a:p>
            <a:pPr>
              <a:lnSpc>
                <a:spcPct val="100000"/>
              </a:lnSpc>
              <a:buNone/>
              <a:tabLst>
                <a:tab algn="l" pos="0"/>
              </a:tabLst>
            </a:pPr>
            <a:r>
              <a:rPr b="0" lang="en-IN" sz="2100" spc="-1" strike="noStrike">
                <a:solidFill>
                  <a:srgbClr val="000000"/>
                </a:solidFill>
                <a:latin typeface="Arial"/>
                <a:ea typeface="Times New Roman"/>
              </a:rPr>
              <a:t>R = 6.96 × 10</a:t>
            </a:r>
            <a:r>
              <a:rPr b="0" lang="en-IN" sz="2100" spc="-1" strike="noStrike" baseline="33000">
                <a:solidFill>
                  <a:srgbClr val="000000"/>
                </a:solidFill>
                <a:latin typeface="Arial"/>
                <a:ea typeface="Times New Roman"/>
              </a:rPr>
              <a:t>10</a:t>
            </a:r>
            <a:r>
              <a:rPr b="0" lang="en-IN" sz="2100" spc="-1" strike="noStrike">
                <a:solidFill>
                  <a:srgbClr val="000000"/>
                </a:solidFill>
                <a:latin typeface="Arial"/>
                <a:ea typeface="Times New Roman"/>
              </a:rPr>
              <a:t> cm; and the radius of the Earth is 6360 km.</a:t>
            </a:r>
            <a:endParaRPr b="0" lang="en-IN" sz="2100" spc="-1" strike="noStrike">
              <a:latin typeface="Arial"/>
            </a:endParaRPr>
          </a:p>
          <a:p>
            <a:pPr>
              <a:lnSpc>
                <a:spcPct val="100000"/>
              </a:lnSpc>
              <a:buNone/>
              <a:tabLst>
                <a:tab algn="l" pos="0"/>
              </a:tabLst>
            </a:pPr>
            <a:r>
              <a:rPr b="0" lang="en-IN" sz="2100" spc="-1" strike="noStrike">
                <a:solidFill>
                  <a:srgbClr val="000000"/>
                </a:solidFill>
                <a:latin typeface="Arial"/>
                <a:ea typeface="Times New Roman"/>
              </a:rPr>
              <a:t>• </a:t>
            </a:r>
            <a:r>
              <a:rPr b="0" lang="en-IN" sz="2100" spc="-1" strike="noStrike">
                <a:solidFill>
                  <a:srgbClr val="000000"/>
                </a:solidFill>
                <a:latin typeface="Arial"/>
                <a:ea typeface="Times New Roman"/>
              </a:rPr>
              <a:t>(a) Calculate the  solar flux at 1 AU from the Sun.</a:t>
            </a:r>
            <a:endParaRPr b="0" lang="en-IN" sz="2100" spc="-1" strike="noStrike">
              <a:latin typeface="Arial"/>
            </a:endParaRPr>
          </a:p>
          <a:p>
            <a:pPr>
              <a:lnSpc>
                <a:spcPct val="100000"/>
              </a:lnSpc>
              <a:buNone/>
              <a:tabLst>
                <a:tab algn="l" pos="0"/>
              </a:tabLst>
            </a:pPr>
            <a:r>
              <a:rPr b="0" lang="en-IN" sz="2100" spc="-1" strike="noStrike">
                <a:solidFill>
                  <a:srgbClr val="000000"/>
                </a:solidFill>
                <a:latin typeface="Arial"/>
                <a:ea typeface="Times New Roman"/>
              </a:rPr>
              <a:t>• </a:t>
            </a:r>
            <a:r>
              <a:rPr b="0" lang="en-IN" sz="2100" spc="-1" strike="noStrike">
                <a:solidFill>
                  <a:srgbClr val="000000"/>
                </a:solidFill>
                <a:latin typeface="Arial"/>
                <a:ea typeface="Times New Roman"/>
              </a:rPr>
              <a:t>(b) The average albedo of the Earth is about 0.3, meaning that it reflects back into space</a:t>
            </a:r>
            <a:endParaRPr b="0" lang="en-IN" sz="2100" spc="-1" strike="noStrike">
              <a:latin typeface="Arial"/>
            </a:endParaRPr>
          </a:p>
          <a:p>
            <a:pPr>
              <a:lnSpc>
                <a:spcPct val="100000"/>
              </a:lnSpc>
              <a:buNone/>
              <a:tabLst>
                <a:tab algn="l" pos="0"/>
              </a:tabLst>
            </a:pPr>
            <a:r>
              <a:rPr b="0" lang="en-IN" sz="2100" spc="-1" strike="noStrike">
                <a:solidFill>
                  <a:srgbClr val="000000"/>
                </a:solidFill>
                <a:latin typeface="Arial"/>
                <a:ea typeface="Times New Roman"/>
              </a:rPr>
              <a:t>30% of the radiation hitting it. Work out the total amount of solar radiation absorbed</a:t>
            </a:r>
            <a:endParaRPr b="0" lang="en-IN" sz="2100" spc="-1" strike="noStrike">
              <a:latin typeface="Arial"/>
            </a:endParaRPr>
          </a:p>
          <a:p>
            <a:pPr>
              <a:lnSpc>
                <a:spcPct val="100000"/>
              </a:lnSpc>
              <a:buNone/>
              <a:tabLst>
                <a:tab algn="l" pos="0"/>
              </a:tabLst>
            </a:pPr>
            <a:r>
              <a:rPr b="0" lang="en-IN" sz="2100" spc="-1" strike="noStrike">
                <a:solidFill>
                  <a:srgbClr val="000000"/>
                </a:solidFill>
                <a:latin typeface="Arial"/>
                <a:ea typeface="Times New Roman"/>
              </a:rPr>
              <a:t>by the Earth every second.</a:t>
            </a:r>
            <a:endParaRPr b="0" lang="en-IN" sz="2100" spc="-1" strike="noStrike">
              <a:latin typeface="Arial"/>
            </a:endParaRPr>
          </a:p>
          <a:p>
            <a:pPr>
              <a:lnSpc>
                <a:spcPct val="100000"/>
              </a:lnSpc>
              <a:buNone/>
              <a:tabLst>
                <a:tab algn="l" pos="0"/>
              </a:tabLst>
            </a:pPr>
            <a:r>
              <a:rPr b="0" lang="en-IN" sz="2100" spc="-1" strike="noStrike">
                <a:solidFill>
                  <a:srgbClr val="000000"/>
                </a:solidFill>
                <a:latin typeface="Arial"/>
                <a:ea typeface="Times New Roman"/>
              </a:rPr>
              <a:t>• </a:t>
            </a:r>
            <a:r>
              <a:rPr b="0" lang="en-IN" sz="2100" spc="-1" strike="noStrike">
                <a:solidFill>
                  <a:srgbClr val="000000"/>
                </a:solidFill>
                <a:latin typeface="Arial"/>
                <a:ea typeface="Times New Roman"/>
              </a:rPr>
              <a:t>(c) Assuming that the the Earth behaves as a blackbody, find the equilibrium temperature</a:t>
            </a:r>
            <a:endParaRPr b="0" lang="en-IN" sz="2100" spc="-1" strike="noStrike">
              <a:latin typeface="Arial"/>
            </a:endParaRPr>
          </a:p>
          <a:p>
            <a:pPr>
              <a:lnSpc>
                <a:spcPct val="100000"/>
              </a:lnSpc>
              <a:buNone/>
              <a:tabLst>
                <a:tab algn="l" pos="0"/>
              </a:tabLst>
            </a:pPr>
            <a:r>
              <a:rPr b="0" lang="en-IN" sz="2100" spc="-1" strike="noStrike">
                <a:solidFill>
                  <a:srgbClr val="000000"/>
                </a:solidFill>
                <a:latin typeface="Arial"/>
                <a:ea typeface="Times New Roman"/>
              </a:rPr>
              <a:t>T  at which it will radiate energy at the same rate it absorbs it. </a:t>
            </a:r>
            <a:endParaRPr b="0" lang="en-IN" sz="2100" spc="-1" strike="noStrike">
              <a:latin typeface="Arial"/>
            </a:endParaRPr>
          </a:p>
          <a:p>
            <a:pPr>
              <a:lnSpc>
                <a:spcPct val="100000"/>
              </a:lnSpc>
              <a:buNone/>
              <a:tabLst>
                <a:tab algn="l" pos="0"/>
              </a:tabLst>
            </a:pPr>
            <a:r>
              <a:rPr b="0" lang="en-IN" sz="2100" spc="-1" strike="noStrike">
                <a:solidFill>
                  <a:srgbClr val="000000"/>
                </a:solidFill>
                <a:latin typeface="Arial"/>
                <a:ea typeface="Times New Roman"/>
              </a:rPr>
              <a:t>• </a:t>
            </a:r>
            <a:r>
              <a:rPr b="0" lang="en-IN" sz="2100" spc="-1" strike="noStrike">
                <a:solidFill>
                  <a:srgbClr val="000000"/>
                </a:solidFill>
                <a:latin typeface="Arial"/>
                <a:ea typeface="Times New Roman"/>
              </a:rPr>
              <a:t>(d) What environmental effect is responsible for raising Earth’s average temperature (∼</a:t>
            </a:r>
            <a:endParaRPr b="0" lang="en-IN" sz="2100" spc="-1" strike="noStrike">
              <a:latin typeface="Arial"/>
            </a:endParaRPr>
          </a:p>
          <a:p>
            <a:pPr>
              <a:lnSpc>
                <a:spcPct val="100000"/>
              </a:lnSpc>
              <a:buNone/>
              <a:tabLst>
                <a:tab algn="l" pos="0"/>
              </a:tabLst>
            </a:pPr>
            <a:r>
              <a:rPr b="0" lang="en-IN" sz="2100" spc="-1" strike="noStrike">
                <a:solidFill>
                  <a:srgbClr val="000000"/>
                </a:solidFill>
                <a:latin typeface="Arial"/>
                <a:ea typeface="Times New Roman"/>
              </a:rPr>
              <a:t>300 K) above the T value you have calculated?</a:t>
            </a:r>
            <a:endParaRPr b="0" lang="en-IN" sz="2100" spc="-1" strike="noStrike">
              <a:latin typeface="Arial"/>
            </a:endParaRPr>
          </a:p>
          <a:p>
            <a:pPr>
              <a:lnSpc>
                <a:spcPct val="100000"/>
              </a:lnSpc>
              <a:buNone/>
              <a:tabLst>
                <a:tab algn="l" pos="0"/>
              </a:tabLst>
            </a:pPr>
            <a:endParaRPr b="0" lang="en-IN" sz="2200" spc="-1" strike="noStrike">
              <a:latin typeface="Arial"/>
            </a:endParaRPr>
          </a:p>
          <a:p>
            <a:pPr>
              <a:lnSpc>
                <a:spcPct val="100000"/>
              </a:lnSpc>
              <a:buNone/>
              <a:tabLst>
                <a:tab algn="l" pos="0"/>
              </a:tabLst>
            </a:pPr>
            <a:r>
              <a:rPr b="0" lang="en-IN" sz="2100" spc="-1" strike="noStrike">
                <a:solidFill>
                  <a:srgbClr val="000000"/>
                </a:solidFill>
                <a:latin typeface="Arial"/>
                <a:ea typeface="Times New Roman"/>
              </a:rPr>
              <a:t>2) Imagine an alien lives on an exoplanet. In which passband does the alien have </a:t>
            </a:r>
            <a:endParaRPr b="0" lang="en-IN" sz="2100" spc="-1" strike="noStrike">
              <a:latin typeface="Arial"/>
            </a:endParaRPr>
          </a:p>
          <a:p>
            <a:pPr>
              <a:lnSpc>
                <a:spcPct val="100000"/>
              </a:lnSpc>
              <a:buNone/>
              <a:tabLst>
                <a:tab algn="l" pos="0"/>
              </a:tabLst>
            </a:pPr>
            <a:r>
              <a:rPr b="0" lang="en-IN" sz="2100" spc="-1" strike="noStrike">
                <a:solidFill>
                  <a:srgbClr val="000000"/>
                </a:solidFill>
                <a:latin typeface="Arial"/>
                <a:ea typeface="Times New Roman"/>
              </a:rPr>
              <a:t>the best chance of seeing the Earth? Should they be building ultraviolet or infra-red telescopes?</a:t>
            </a:r>
            <a:endParaRPr b="0" lang="en-IN" sz="2100" spc="-1" strike="noStrike">
              <a:latin typeface="Arial"/>
            </a:endParaRPr>
          </a:p>
          <a:p>
            <a:pPr>
              <a:lnSpc>
                <a:spcPct val="100000"/>
              </a:lnSpc>
              <a:buNone/>
              <a:tabLst>
                <a:tab algn="l" pos="0"/>
              </a:tabLst>
            </a:pPr>
            <a:endParaRPr b="0" lang="en-IN" sz="2200" spc="-1" strike="noStrike">
              <a:latin typeface="Arial"/>
            </a:endParaRPr>
          </a:p>
          <a:p>
            <a:pPr>
              <a:lnSpc>
                <a:spcPct val="100000"/>
              </a:lnSpc>
              <a:buNone/>
              <a:tabLst>
                <a:tab algn="l" pos="0"/>
              </a:tabLst>
            </a:pPr>
            <a:r>
              <a:rPr b="0" lang="en-IN" sz="2100" spc="-1" strike="noStrike">
                <a:solidFill>
                  <a:srgbClr val="000000"/>
                </a:solidFill>
                <a:latin typeface="Arial"/>
                <a:ea typeface="Times New Roman"/>
              </a:rPr>
              <a:t>3)  The distance of a star is r =  100 pc and its apparent magnitude m =  6. What is its absolute</a:t>
            </a:r>
            <a:endParaRPr b="0" lang="en-IN" sz="2100" spc="-1" strike="noStrike">
              <a:latin typeface="Arial"/>
            </a:endParaRPr>
          </a:p>
          <a:p>
            <a:pPr>
              <a:lnSpc>
                <a:spcPct val="100000"/>
              </a:lnSpc>
              <a:buNone/>
              <a:tabLst>
                <a:tab algn="l" pos="0"/>
              </a:tabLst>
            </a:pPr>
            <a:r>
              <a:rPr b="0" lang="en-IN" sz="2100" spc="-1" strike="noStrike">
                <a:solidFill>
                  <a:srgbClr val="000000"/>
                </a:solidFill>
                <a:latin typeface="Arial"/>
                <a:ea typeface="Times New Roman"/>
              </a:rPr>
              <a:t>magnitude?</a:t>
            </a:r>
            <a:endParaRPr b="0" lang="en-IN" sz="2100" spc="-1" strike="noStrike">
              <a:latin typeface="Arial"/>
            </a:endParaRPr>
          </a:p>
          <a:p>
            <a:pPr>
              <a:lnSpc>
                <a:spcPct val="100000"/>
              </a:lnSpc>
              <a:buNone/>
              <a:tabLst>
                <a:tab algn="l" pos="0"/>
              </a:tabLst>
            </a:pPr>
            <a:endParaRPr b="0" lang="en-IN" sz="2200" spc="-1" strike="noStrike">
              <a:latin typeface="Arial"/>
            </a:endParaRPr>
          </a:p>
          <a:p>
            <a:pPr>
              <a:lnSpc>
                <a:spcPct val="100000"/>
              </a:lnSpc>
              <a:buNone/>
              <a:tabLst>
                <a:tab algn="l" pos="0"/>
              </a:tabLst>
            </a:pPr>
            <a:r>
              <a:rPr b="0" lang="en-IN" sz="2100" spc="-1" strike="noStrike">
                <a:solidFill>
                  <a:srgbClr val="000000"/>
                </a:solidFill>
                <a:latin typeface="Arial"/>
                <a:ea typeface="Times New Roman"/>
              </a:rPr>
              <a:t>4)  The absolute magnitude of a star is M = − 2 and the apparent magnitude m =  8. What is the</a:t>
            </a:r>
            <a:endParaRPr b="0" lang="en-IN" sz="2100" spc="-1" strike="noStrike">
              <a:latin typeface="Arial"/>
            </a:endParaRPr>
          </a:p>
          <a:p>
            <a:pPr>
              <a:lnSpc>
                <a:spcPct val="100000"/>
              </a:lnSpc>
              <a:buNone/>
              <a:tabLst>
                <a:tab algn="l" pos="0"/>
              </a:tabLst>
            </a:pPr>
            <a:r>
              <a:rPr b="0" lang="en-IN" sz="2100" spc="-1" strike="noStrike">
                <a:solidFill>
                  <a:srgbClr val="000000"/>
                </a:solidFill>
                <a:latin typeface="Arial"/>
                <a:ea typeface="Times New Roman"/>
              </a:rPr>
              <a:t>distance of the star?</a:t>
            </a:r>
            <a:endParaRPr b="0" lang="en-IN" sz="2100" spc="-1" strike="noStrike">
              <a:latin typeface="Arial"/>
            </a:endParaRPr>
          </a:p>
          <a:p>
            <a:pPr>
              <a:lnSpc>
                <a:spcPct val="100000"/>
              </a:lnSpc>
              <a:buNone/>
              <a:tabLst>
                <a:tab algn="l" pos="0"/>
              </a:tabLst>
            </a:pPr>
            <a:endParaRPr b="0" lang="en-IN" sz="2200" spc="-1" strike="noStrike">
              <a:latin typeface="Arial"/>
            </a:endParaRPr>
          </a:p>
          <a:p>
            <a:pPr>
              <a:lnSpc>
                <a:spcPct val="100000"/>
              </a:lnSpc>
              <a:buNone/>
              <a:tabLst>
                <a:tab algn="l" pos="0"/>
              </a:tabLst>
            </a:pPr>
            <a:r>
              <a:rPr b="0" lang="en-IN" sz="2100" spc="-1" strike="noStrike">
                <a:solidFill>
                  <a:srgbClr val="000000"/>
                </a:solidFill>
                <a:latin typeface="Arial"/>
                <a:ea typeface="Times New Roman"/>
              </a:rPr>
              <a:t>5) Polaris has apparent magnitude 1.99 and Betelgeuse 0.41. How much brighter is</a:t>
            </a:r>
            <a:endParaRPr b="0" lang="en-IN" sz="2100" spc="-1" strike="noStrike">
              <a:latin typeface="Arial"/>
            </a:endParaRPr>
          </a:p>
          <a:p>
            <a:pPr>
              <a:lnSpc>
                <a:spcPct val="100000"/>
              </a:lnSpc>
              <a:buNone/>
              <a:tabLst>
                <a:tab algn="l" pos="0"/>
              </a:tabLst>
            </a:pPr>
            <a:r>
              <a:rPr b="0" lang="en-IN" sz="2100" spc="-1" strike="noStrike">
                <a:solidFill>
                  <a:srgbClr val="000000"/>
                </a:solidFill>
                <a:latin typeface="Arial"/>
                <a:ea typeface="Times New Roman"/>
              </a:rPr>
              <a:t>Betelgeuse than Polaris?</a:t>
            </a:r>
            <a:endParaRPr b="0" lang="en-IN" sz="2100" spc="-1" strike="noStrike">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191" name="" descr=""/>
          <p:cNvPicPr/>
          <p:nvPr/>
        </p:nvPicPr>
        <p:blipFill>
          <a:blip r:embed="rId1"/>
          <a:stretch/>
        </p:blipFill>
        <p:spPr>
          <a:xfrm>
            <a:off x="6958800" y="5087880"/>
            <a:ext cx="6043680" cy="4372560"/>
          </a:xfrm>
          <a:prstGeom prst="rect">
            <a:avLst/>
          </a:prstGeom>
          <a:ln w="0">
            <a:noFill/>
          </a:ln>
        </p:spPr>
      </p:pic>
      <p:pic>
        <p:nvPicPr>
          <p:cNvPr id="192" name="" descr=""/>
          <p:cNvPicPr/>
          <p:nvPr/>
        </p:nvPicPr>
        <p:blipFill>
          <a:blip r:embed="rId2"/>
          <a:stretch/>
        </p:blipFill>
        <p:spPr>
          <a:xfrm>
            <a:off x="722160" y="5087880"/>
            <a:ext cx="6475680" cy="4267800"/>
          </a:xfrm>
          <a:prstGeom prst="rect">
            <a:avLst/>
          </a:prstGeom>
          <a:ln w="0">
            <a:noFill/>
          </a:ln>
        </p:spPr>
      </p:pic>
      <p:pic>
        <p:nvPicPr>
          <p:cNvPr id="193" name="" descr=""/>
          <p:cNvPicPr/>
          <p:nvPr/>
        </p:nvPicPr>
        <p:blipFill>
          <a:blip r:embed="rId3"/>
          <a:stretch/>
        </p:blipFill>
        <p:spPr>
          <a:xfrm>
            <a:off x="5014800" y="252000"/>
            <a:ext cx="7508880" cy="4660560"/>
          </a:xfrm>
          <a:prstGeom prst="rect">
            <a:avLst/>
          </a:prstGeom>
          <a:ln w="0">
            <a:noFill/>
          </a:ln>
        </p:spPr>
      </p:pic>
      <p:sp>
        <p:nvSpPr>
          <p:cNvPr id="194" name=""/>
          <p:cNvSpPr/>
          <p:nvPr/>
        </p:nvSpPr>
        <p:spPr>
          <a:xfrm>
            <a:off x="8100000" y="5585760"/>
            <a:ext cx="362880" cy="5320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1" lang="en-IN" sz="2600" spc="-1" strike="noStrike">
                <a:solidFill>
                  <a:srgbClr val="ff0000"/>
                </a:solidFill>
                <a:latin typeface="AnjaliOldLipi"/>
                <a:ea typeface="DejaVu Sans"/>
              </a:rPr>
              <a:t>D</a:t>
            </a:r>
            <a:endParaRPr b="0" lang="en-IN" sz="2600" spc="-1" strike="noStrike">
              <a:latin typeface="Arial"/>
            </a:endParaRPr>
          </a:p>
        </p:txBody>
      </p:sp>
      <p:sp>
        <p:nvSpPr>
          <p:cNvPr id="195" name=""/>
          <p:cNvSpPr/>
          <p:nvPr/>
        </p:nvSpPr>
        <p:spPr>
          <a:xfrm flipH="1">
            <a:off x="8100000" y="5400000"/>
            <a:ext cx="720000" cy="1260000"/>
          </a:xfrm>
          <a:prstGeom prst="line">
            <a:avLst/>
          </a:prstGeom>
          <a:ln w="29160">
            <a:solidFill>
              <a:srgbClr val="ff0000"/>
            </a:solidFill>
            <a:round/>
            <a:headEnd len="med" type="triangle" w="med"/>
            <a:tailEnd len="med" type="triangle" w="med"/>
          </a:ln>
        </p:spPr>
        <p:style>
          <a:lnRef idx="0"/>
          <a:fillRef idx="0"/>
          <a:effectRef idx="0"/>
          <a:fontRef idx="minor"/>
        </p:style>
      </p:sp>
      <p:sp>
        <p:nvSpPr>
          <p:cNvPr id="196" name=""/>
          <p:cNvSpPr/>
          <p:nvPr/>
        </p:nvSpPr>
        <p:spPr>
          <a:xfrm>
            <a:off x="10689480" y="6840000"/>
            <a:ext cx="1908360" cy="5320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1" lang="en-IN" sz="2200" spc="-1" strike="noStrike">
                <a:solidFill>
                  <a:srgbClr val="1232e2"/>
                </a:solidFill>
                <a:latin typeface="AnjaliOldLipi"/>
                <a:ea typeface="DejaVu Sans"/>
              </a:rPr>
              <a:t>d</a:t>
            </a:r>
            <a:r>
              <a:rPr b="1" lang="en-IN" sz="2200" spc="-1" strike="noStrike">
                <a:solidFill>
                  <a:srgbClr val="3f51b5"/>
                </a:solidFill>
                <a:latin typeface="AnjaliOldLipi"/>
                <a:ea typeface="DejaVu Sans"/>
              </a:rPr>
              <a:t> = distance</a:t>
            </a:r>
            <a:endParaRPr b="0" lang="en-IN" sz="2200" spc="-1" strike="noStrike">
              <a:latin typeface="Arial"/>
            </a:endParaRPr>
          </a:p>
        </p:txBody>
      </p:sp>
      <p:pic>
        <p:nvPicPr>
          <p:cNvPr id="197" name="" descr=""/>
          <p:cNvPicPr/>
          <p:nvPr/>
        </p:nvPicPr>
        <p:blipFill>
          <a:blip r:embed="rId4"/>
          <a:stretch/>
        </p:blipFill>
        <p:spPr>
          <a:xfrm>
            <a:off x="538920" y="5100120"/>
            <a:ext cx="6658920" cy="4485960"/>
          </a:xfrm>
          <a:prstGeom prst="rect">
            <a:avLst/>
          </a:prstGeom>
          <a:ln w="0">
            <a:noFill/>
          </a:ln>
        </p:spPr>
      </p:pic>
      <p:pic>
        <p:nvPicPr>
          <p:cNvPr id="198" name="" descr=""/>
          <p:cNvPicPr/>
          <p:nvPr/>
        </p:nvPicPr>
        <p:blipFill>
          <a:blip r:embed="rId5"/>
          <a:stretch/>
        </p:blipFill>
        <p:spPr>
          <a:xfrm>
            <a:off x="5220000" y="2292480"/>
            <a:ext cx="7197840" cy="2565360"/>
          </a:xfrm>
          <a:prstGeom prst="rect">
            <a:avLst/>
          </a:prstGeom>
          <a:ln w="0">
            <a:noFill/>
          </a:ln>
        </p:spPr>
      </p:pic>
      <p:sp>
        <p:nvSpPr>
          <p:cNvPr id="199" name=""/>
          <p:cNvSpPr/>
          <p:nvPr/>
        </p:nvSpPr>
        <p:spPr>
          <a:xfrm>
            <a:off x="8318520" y="7380000"/>
            <a:ext cx="1940040" cy="7185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1" lang="en-IN" sz="2600" spc="-1" strike="noStrike">
                <a:solidFill>
                  <a:srgbClr val="3f51b5"/>
                </a:solidFill>
                <a:latin typeface="AnjaliOldLipi"/>
                <a:ea typeface="DejaVu Sans"/>
              </a:rPr>
              <a:t>D = d * </a:t>
            </a:r>
            <a:r>
              <a:rPr b="0" lang="en-IN" sz="2600" spc="-1" strike="noStrike">
                <a:solidFill>
                  <a:srgbClr val="3f51b5"/>
                </a:solidFill>
                <a:latin typeface="AnjaliOldLipi"/>
                <a:ea typeface="Courier New"/>
              </a:rPr>
              <a:t>ϴ</a:t>
            </a:r>
            <a:endParaRPr b="0" lang="en-IN" sz="2600" spc="-1" strike="noStrike">
              <a:latin typeface="Arial"/>
            </a:endParaRPr>
          </a:p>
        </p:txBody>
      </p:sp>
      <p:sp>
        <p:nvSpPr>
          <p:cNvPr id="200" name=""/>
          <p:cNvSpPr/>
          <p:nvPr/>
        </p:nvSpPr>
        <p:spPr>
          <a:xfrm>
            <a:off x="1240560" y="9241560"/>
            <a:ext cx="9557280" cy="34452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IN" sz="1800" spc="-1" strike="noStrike">
                <a:solidFill>
                  <a:srgbClr val="b00000"/>
                </a:solidFill>
                <a:latin typeface="Arial"/>
                <a:ea typeface="DejaVu Sans"/>
              </a:rPr>
              <a:t>https://lco.global/spacebook/sky/using-angles-describe-positions-and-apparent-sizes-objects/</a:t>
            </a:r>
            <a:endParaRPr b="0" lang="en-IN" sz="1800" spc="-1" strike="noStrike">
              <a:latin typeface="Arial"/>
            </a:endParaRPr>
          </a:p>
        </p:txBody>
      </p:sp>
      <p:sp>
        <p:nvSpPr>
          <p:cNvPr id="201" name=""/>
          <p:cNvSpPr/>
          <p:nvPr/>
        </p:nvSpPr>
        <p:spPr>
          <a:xfrm>
            <a:off x="180000" y="360000"/>
            <a:ext cx="4833360" cy="508644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1" lang="en-IN" sz="2400" spc="-1" strike="noStrike">
                <a:solidFill>
                  <a:srgbClr val="000000"/>
                </a:solidFill>
                <a:latin typeface="Arial"/>
                <a:ea typeface="DejaVu Sans"/>
              </a:rPr>
              <a:t>Important Units and Definitions</a:t>
            </a:r>
            <a:endParaRPr b="0" lang="en-IN" sz="24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000" spc="-1" strike="noStrike">
                <a:solidFill>
                  <a:srgbClr val="000000"/>
                </a:solidFill>
                <a:latin typeface="Arial"/>
                <a:ea typeface="DejaVu Sans"/>
              </a:rPr>
              <a:t>Light-year (ly) = distance light travels in 1 year ≈ 9.5 × 10</a:t>
            </a:r>
            <a:r>
              <a:rPr b="0" lang="en-IN" sz="2000" spc="-1" strike="noStrike" baseline="33000">
                <a:solidFill>
                  <a:srgbClr val="000000"/>
                </a:solidFill>
                <a:latin typeface="Arial"/>
                <a:ea typeface="DejaVu Sans"/>
              </a:rPr>
              <a:t>12</a:t>
            </a:r>
            <a:r>
              <a:rPr b="0" lang="en-IN" sz="2000" spc="-1" strike="noStrike">
                <a:solidFill>
                  <a:srgbClr val="000000"/>
                </a:solidFill>
                <a:latin typeface="Arial"/>
                <a:ea typeface="DejaVu Sans"/>
              </a:rPr>
              <a:t> km</a:t>
            </a:r>
            <a:endParaRPr b="0" lang="en-IN" sz="20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000" spc="-1" strike="noStrike">
                <a:solidFill>
                  <a:srgbClr val="000000"/>
                </a:solidFill>
                <a:latin typeface="Arial"/>
                <a:ea typeface="DejaVu Sans"/>
              </a:rPr>
              <a:t>Astronomical Unit (AU) = mean Earth--Sun distance ≈ 1.5 × 10</a:t>
            </a:r>
            <a:r>
              <a:rPr b="0" lang="en-IN" sz="2000" spc="-1" strike="noStrike" baseline="33000">
                <a:solidFill>
                  <a:srgbClr val="000000"/>
                </a:solidFill>
                <a:latin typeface="Arial"/>
                <a:ea typeface="DejaVu Sans"/>
              </a:rPr>
              <a:t>8</a:t>
            </a:r>
            <a:r>
              <a:rPr b="0" lang="en-IN" sz="2000" spc="-1" strike="noStrike">
                <a:solidFill>
                  <a:srgbClr val="000000"/>
                </a:solidFill>
                <a:latin typeface="Arial"/>
                <a:ea typeface="DejaVu Sans"/>
              </a:rPr>
              <a:t> km (150 Million km)</a:t>
            </a:r>
            <a:endParaRPr b="0" lang="en-IN" sz="20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000" spc="-1" strike="noStrike">
                <a:solidFill>
                  <a:srgbClr val="000000"/>
                </a:solidFill>
                <a:latin typeface="Arial"/>
                <a:ea typeface="DejaVu Sans"/>
              </a:rPr>
              <a:t>Angular size (small-angle approximation):</a:t>
            </a:r>
            <a:r>
              <a:rPr b="1" lang="en-IN" sz="2000" spc="-1" strike="noStrike">
                <a:solidFill>
                  <a:srgbClr val="000000"/>
                </a:solidFill>
                <a:latin typeface="Arial"/>
                <a:ea typeface="DejaVu Sans"/>
              </a:rPr>
              <a:t> θ ≈ D / d</a:t>
            </a:r>
            <a:r>
              <a:rPr b="0" lang="en-IN" sz="2000" spc="-1" strike="noStrike">
                <a:solidFill>
                  <a:srgbClr val="000000"/>
                </a:solidFill>
                <a:latin typeface="Arial"/>
                <a:ea typeface="DejaVu Sans"/>
              </a:rPr>
              <a:t> (θ in radians; units: degree, arcminute, arcsecond)</a:t>
            </a:r>
            <a:endParaRPr b="0" lang="en-IN" sz="20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000" spc="-1" strike="noStrike">
                <a:solidFill>
                  <a:srgbClr val="000000"/>
                </a:solidFill>
                <a:latin typeface="Arial"/>
                <a:ea typeface="DejaVu Sans"/>
              </a:rPr>
              <a:t>Parsec (pc) = 3.26 light-years = 206,265 AU</a:t>
            </a:r>
            <a:endParaRPr b="0" lang="en-IN" sz="2000" spc="-1" strike="noStrike">
              <a:latin typeface="Arial"/>
            </a:endParaRPr>
          </a:p>
          <a:p>
            <a:pPr>
              <a:lnSpc>
                <a:spcPct val="100000"/>
              </a:lnSpc>
              <a:buNone/>
            </a:pPr>
            <a:endParaRPr b="0" lang="en-IN" sz="1500" spc="-1" strike="noStrike">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02" name="" descr=""/>
          <p:cNvPicPr/>
          <p:nvPr/>
        </p:nvPicPr>
        <p:blipFill>
          <a:blip r:embed="rId1"/>
          <a:stretch/>
        </p:blipFill>
        <p:spPr>
          <a:xfrm rot="21591600">
            <a:off x="3053520" y="164880"/>
            <a:ext cx="6827400" cy="4503600"/>
          </a:xfrm>
          <a:prstGeom prst="rect">
            <a:avLst/>
          </a:prstGeom>
          <a:ln w="0">
            <a:noFill/>
          </a:ln>
        </p:spPr>
      </p:pic>
      <p:sp>
        <p:nvSpPr>
          <p:cNvPr id="203" name=""/>
          <p:cNvSpPr/>
          <p:nvPr/>
        </p:nvSpPr>
        <p:spPr>
          <a:xfrm>
            <a:off x="236520" y="4862160"/>
            <a:ext cx="12362040" cy="45273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1" lang="en-IN" sz="2800" spc="-1" strike="noStrike">
                <a:solidFill>
                  <a:srgbClr val="000000"/>
                </a:solidFill>
                <a:latin typeface="Arial"/>
                <a:ea typeface="DejaVu Sans"/>
              </a:rPr>
              <a:t>Early Estimates of the Age of the Universe</a:t>
            </a:r>
            <a:endParaRPr b="0" lang="en-IN" sz="28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DejaVu Sans"/>
              </a:rPr>
              <a:t>In the 1920s, Edwin Hubble discovered cosmic expansion</a:t>
            </a:r>
            <a:r>
              <a:rPr b="0" i="1" lang="en-IN" sz="2400" spc="-1" strike="noStrike">
                <a:solidFill>
                  <a:srgbClr val="000000"/>
                </a:solidFill>
                <a:latin typeface="Arial"/>
                <a:ea typeface="DejaVu Sans"/>
              </a:rPr>
              <a:t>: </a:t>
            </a:r>
            <a:r>
              <a:rPr b="1" i="1" lang="en-IN" sz="2400" spc="-1" strike="noStrike">
                <a:solidFill>
                  <a:srgbClr val="000000"/>
                </a:solidFill>
                <a:latin typeface="Arial"/>
                <a:ea typeface="DejaVu Sans"/>
              </a:rPr>
              <a:t>v = H₀ d </a:t>
            </a:r>
            <a:r>
              <a:rPr b="0" lang="en-IN" sz="2400" spc="-1" strike="noStrike">
                <a:solidFill>
                  <a:srgbClr val="000000"/>
                </a:solidFill>
                <a:latin typeface="Arial"/>
                <a:ea typeface="DejaVu Sans"/>
              </a:rPr>
              <a:t>(</a:t>
            </a:r>
            <a:r>
              <a:rPr b="1" i="1" lang="en-IN" sz="2400" spc="-1" strike="noStrike">
                <a:solidFill>
                  <a:srgbClr val="000000"/>
                </a:solidFill>
                <a:latin typeface="Arial"/>
                <a:ea typeface="DejaVu Sans"/>
              </a:rPr>
              <a:t>v </a:t>
            </a:r>
            <a:r>
              <a:rPr b="0" lang="en-IN" sz="2400" spc="-1" strike="noStrike">
                <a:solidFill>
                  <a:srgbClr val="000000"/>
                </a:solidFill>
                <a:latin typeface="Arial"/>
                <a:ea typeface="DejaVu Sans"/>
              </a:rPr>
              <a:t>in km/s, </a:t>
            </a:r>
            <a:r>
              <a:rPr b="1" i="1" lang="en-IN" sz="2400" spc="-1" strike="noStrike">
                <a:solidFill>
                  <a:srgbClr val="000000"/>
                </a:solidFill>
                <a:latin typeface="Arial"/>
                <a:ea typeface="DejaVu Sans"/>
              </a:rPr>
              <a:t>d</a:t>
            </a:r>
            <a:r>
              <a:rPr b="0" lang="en-IN" sz="2400" spc="-1" strike="noStrike">
                <a:solidFill>
                  <a:srgbClr val="000000"/>
                </a:solidFill>
                <a:latin typeface="Arial"/>
                <a:ea typeface="DejaVu Sans"/>
              </a:rPr>
              <a:t> in Mpc, </a:t>
            </a:r>
            <a:r>
              <a:rPr b="1" i="1" lang="en-IN" sz="2400" spc="-1" strike="noStrike">
                <a:solidFill>
                  <a:srgbClr val="000000"/>
                </a:solidFill>
                <a:latin typeface="Arial"/>
                <a:ea typeface="DejaVu Sans"/>
              </a:rPr>
              <a:t>H₀</a:t>
            </a:r>
            <a:r>
              <a:rPr b="0" lang="en-IN" sz="2400" spc="-1" strike="noStrike">
                <a:solidFill>
                  <a:srgbClr val="000000"/>
                </a:solidFill>
                <a:latin typeface="Arial"/>
                <a:ea typeface="DejaVu Sans"/>
              </a:rPr>
              <a:t> in km/s/Mpc).</a:t>
            </a:r>
            <a:endParaRPr b="0" lang="en-IN" sz="24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DejaVu Sans"/>
              </a:rPr>
              <a:t>Universe age linked to </a:t>
            </a:r>
            <a:r>
              <a:rPr b="1" i="1" lang="en-IN" sz="2400" spc="-1" strike="noStrike">
                <a:solidFill>
                  <a:srgbClr val="000000"/>
                </a:solidFill>
                <a:latin typeface="Arial"/>
                <a:ea typeface="DejaVu Sans"/>
              </a:rPr>
              <a:t>H₀</a:t>
            </a:r>
            <a:r>
              <a:rPr b="0" lang="en-IN" sz="2400" spc="-1" strike="noStrike">
                <a:solidFill>
                  <a:srgbClr val="000000"/>
                </a:solidFill>
                <a:latin typeface="Arial"/>
                <a:ea typeface="DejaVu Sans"/>
              </a:rPr>
              <a:t>: Age ≈ </a:t>
            </a:r>
            <a:r>
              <a:rPr b="1" i="1" lang="en-IN" sz="2400" spc="-1" strike="noStrike">
                <a:solidFill>
                  <a:srgbClr val="000000"/>
                </a:solidFill>
                <a:latin typeface="Arial"/>
                <a:ea typeface="DejaVu Sans"/>
              </a:rPr>
              <a:t>1/H₀</a:t>
            </a:r>
            <a:r>
              <a:rPr b="0" lang="en-IN" sz="2400" spc="-1" strike="noStrike">
                <a:solidFill>
                  <a:srgbClr val="000000"/>
                </a:solidFill>
                <a:latin typeface="Arial"/>
                <a:ea typeface="DejaVu Sans"/>
              </a:rPr>
              <a:t> to </a:t>
            </a:r>
            <a:r>
              <a:rPr b="1" i="1" lang="en-IN" sz="2400" spc="-1" strike="noStrike">
                <a:solidFill>
                  <a:srgbClr val="000000"/>
                </a:solidFill>
                <a:latin typeface="Arial"/>
                <a:ea typeface="DejaVu Sans"/>
              </a:rPr>
              <a:t>2/(3H₀) </a:t>
            </a:r>
            <a:r>
              <a:rPr b="0" lang="en-IN" sz="2400" spc="-1" strike="noStrike">
                <a:solidFill>
                  <a:srgbClr val="000000"/>
                </a:solidFill>
                <a:latin typeface="Arial"/>
                <a:ea typeface="DejaVu Sans"/>
              </a:rPr>
              <a:t>(model dependent).</a:t>
            </a:r>
            <a:endParaRPr b="0" lang="en-IN" sz="24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1" i="1" lang="en-IN" sz="2400" spc="-1" strike="noStrike">
                <a:solidFill>
                  <a:srgbClr val="000000"/>
                </a:solidFill>
                <a:latin typeface="Arial"/>
                <a:ea typeface="DejaVu Sans"/>
              </a:rPr>
              <a:t>v </a:t>
            </a:r>
            <a:r>
              <a:rPr b="0" lang="en-IN" sz="2400" spc="-1" strike="noStrike">
                <a:solidFill>
                  <a:srgbClr val="000000"/>
                </a:solidFill>
                <a:latin typeface="Arial"/>
                <a:ea typeface="DejaVu Sans"/>
              </a:rPr>
              <a:t>from galaxy redshift; </a:t>
            </a:r>
            <a:r>
              <a:rPr b="1" i="1" lang="en-IN" sz="2400" spc="-1" strike="noStrike">
                <a:solidFill>
                  <a:srgbClr val="000000"/>
                </a:solidFill>
                <a:latin typeface="Arial"/>
                <a:ea typeface="DejaVu Sans"/>
              </a:rPr>
              <a:t>d</a:t>
            </a:r>
            <a:r>
              <a:rPr b="0" lang="en-IN" sz="2400" spc="-1" strike="noStrike">
                <a:solidFill>
                  <a:srgbClr val="000000"/>
                </a:solidFill>
                <a:latin typeface="Arial"/>
                <a:ea typeface="DejaVu Sans"/>
              </a:rPr>
              <a:t> from Cepheid variable stars (period-luminosity relation).</a:t>
            </a:r>
            <a:endParaRPr b="0" lang="en-IN" sz="24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DejaVu Sans"/>
              </a:rPr>
              <a:t>Early distance limits due to faint objects in ground-based telescopes.</a:t>
            </a:r>
            <a:endParaRPr b="0" lang="en-IN" sz="24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DejaVu Sans"/>
              </a:rPr>
              <a:t>Pre-1990s: H₀ ≈ 50–90 km/s/Mpc → Age ≈ 7–20 Gyr.</a:t>
            </a:r>
            <a:endParaRPr b="0" lang="en-IN" sz="24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DejaVu Sans"/>
              </a:rPr>
              <a:t>Modern value: Age ≈ 13.7 Gyr</a:t>
            </a:r>
            <a:endParaRPr b="0" lang="en-IN" sz="2400" spc="-1" strike="noStrike">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04" name="" descr=""/>
          <p:cNvPicPr/>
          <p:nvPr/>
        </p:nvPicPr>
        <p:blipFill>
          <a:blip r:embed="rId1"/>
          <a:stretch/>
        </p:blipFill>
        <p:spPr>
          <a:xfrm rot="21591600">
            <a:off x="483120" y="1321920"/>
            <a:ext cx="6169320" cy="4069440"/>
          </a:xfrm>
          <a:prstGeom prst="rect">
            <a:avLst/>
          </a:prstGeom>
          <a:ln w="0">
            <a:noFill/>
          </a:ln>
        </p:spPr>
      </p:pic>
      <p:sp>
        <p:nvSpPr>
          <p:cNvPr id="205" name="CustomShape 37"/>
          <p:cNvSpPr/>
          <p:nvPr/>
        </p:nvSpPr>
        <p:spPr>
          <a:xfrm>
            <a:off x="684360" y="5753880"/>
            <a:ext cx="6185880" cy="5403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IN" sz="2600" spc="-1" strike="noStrike">
                <a:solidFill>
                  <a:srgbClr val="000000"/>
                </a:solidFill>
                <a:latin typeface="Arial"/>
                <a:ea typeface="DejaVu Sans"/>
              </a:rPr>
              <a:t>Age of the universe: 13.77 billion years</a:t>
            </a:r>
            <a:endParaRPr b="0" lang="en-IN" sz="2600" spc="-1" strike="noStrike">
              <a:latin typeface="Arial"/>
            </a:endParaRPr>
          </a:p>
        </p:txBody>
      </p:sp>
      <p:sp>
        <p:nvSpPr>
          <p:cNvPr id="206" name="CustomShape 38"/>
          <p:cNvSpPr/>
          <p:nvPr/>
        </p:nvSpPr>
        <p:spPr>
          <a:xfrm>
            <a:off x="360000" y="7020000"/>
            <a:ext cx="12522240" cy="87732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buNone/>
            </a:pPr>
            <a:r>
              <a:rPr b="0" lang="en-IN" sz="2800" spc="-1" strike="noStrike">
                <a:solidFill>
                  <a:srgbClr val="000000"/>
                </a:solidFill>
                <a:latin typeface="Arial"/>
                <a:ea typeface="DejaVu Sans"/>
              </a:rPr>
              <a:t>Cosmic distances are measured through a range of methods that overlap in their useful distances, known as the </a:t>
            </a:r>
            <a:r>
              <a:rPr b="1" lang="en-IN" sz="2800" spc="-1" strike="noStrike">
                <a:solidFill>
                  <a:srgbClr val="000000"/>
                </a:solidFill>
                <a:latin typeface="Arial"/>
                <a:ea typeface="DejaVu Sans"/>
              </a:rPr>
              <a:t>Cosmic Distance Ladder.  </a:t>
            </a:r>
            <a:endParaRPr b="0" lang="en-IN" sz="2800" spc="-1" strike="noStrike">
              <a:latin typeface="Arial"/>
            </a:endParaRPr>
          </a:p>
        </p:txBody>
      </p:sp>
      <p:sp>
        <p:nvSpPr>
          <p:cNvPr id="207" name="CustomShape 39"/>
          <p:cNvSpPr/>
          <p:nvPr/>
        </p:nvSpPr>
        <p:spPr>
          <a:xfrm>
            <a:off x="6916320" y="2002320"/>
            <a:ext cx="5502240" cy="231660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buNone/>
            </a:pPr>
            <a:r>
              <a:rPr b="0" lang="en-IN" sz="2800" spc="-1" strike="noStrike">
                <a:solidFill>
                  <a:srgbClr val="000000"/>
                </a:solidFill>
                <a:latin typeface="Arial"/>
                <a:ea typeface="DejaVu Sans"/>
              </a:rPr>
              <a:t>Previously, </a:t>
            </a:r>
            <a:r>
              <a:rPr b="1" lang="en-IN" sz="2800" spc="-1" strike="noStrike">
                <a:solidFill>
                  <a:srgbClr val="000000"/>
                </a:solidFill>
                <a:latin typeface="Arial"/>
                <a:ea typeface="DejaVu Sans"/>
              </a:rPr>
              <a:t>age of the Universe </a:t>
            </a:r>
            <a:r>
              <a:rPr b="0" lang="en-IN" sz="2800" spc="-1" strike="noStrike">
                <a:solidFill>
                  <a:srgbClr val="000000"/>
                </a:solidFill>
                <a:latin typeface="Arial"/>
                <a:ea typeface="DejaVu Sans"/>
              </a:rPr>
              <a:t>was known to be </a:t>
            </a:r>
            <a:r>
              <a:rPr b="1" lang="en-IN" sz="2800" spc="-1" strike="noStrike">
                <a:solidFill>
                  <a:srgbClr val="000000"/>
                </a:solidFill>
                <a:latin typeface="Arial"/>
                <a:ea typeface="DejaVu Sans"/>
              </a:rPr>
              <a:t>several billion years </a:t>
            </a:r>
            <a:endParaRPr b="0" lang="en-IN" sz="2800" spc="-1" strike="noStrike">
              <a:latin typeface="Arial"/>
            </a:endParaRPr>
          </a:p>
          <a:p>
            <a:pPr algn="just">
              <a:lnSpc>
                <a:spcPct val="100000"/>
              </a:lnSpc>
              <a:buNone/>
            </a:pPr>
            <a:endParaRPr b="0" lang="en-IN" sz="2800" spc="-1" strike="noStrike">
              <a:latin typeface="Arial"/>
            </a:endParaRPr>
          </a:p>
          <a:p>
            <a:pPr algn="just">
              <a:lnSpc>
                <a:spcPct val="100000"/>
              </a:lnSpc>
              <a:buNone/>
            </a:pPr>
            <a:r>
              <a:rPr b="0" lang="en-IN" sz="2800" spc="-1" strike="noStrike">
                <a:solidFill>
                  <a:srgbClr val="000000"/>
                </a:solidFill>
                <a:latin typeface="Arial"/>
                <a:ea typeface="DejaVu Sans"/>
              </a:rPr>
              <a:t> </a:t>
            </a:r>
            <a:r>
              <a:rPr b="0" lang="en-IN" sz="2800" spc="-1" strike="noStrike">
                <a:solidFill>
                  <a:srgbClr val="000000"/>
                </a:solidFill>
                <a:latin typeface="Arial"/>
                <a:ea typeface="DejaVu Sans"/>
              </a:rPr>
              <a:t>because cosmic distances and the Hubble parameters were only loosely known!</a:t>
            </a:r>
            <a:endParaRPr b="0" lang="en-IN" sz="2800" spc="-1" strike="noStrike">
              <a:latin typeface="Arial"/>
            </a:endParaRPr>
          </a:p>
        </p:txBody>
      </p:sp>
      <p:sp>
        <p:nvSpPr>
          <p:cNvPr id="208" name="CustomShape 40"/>
          <p:cNvSpPr/>
          <p:nvPr/>
        </p:nvSpPr>
        <p:spPr>
          <a:xfrm>
            <a:off x="4726800" y="9197640"/>
            <a:ext cx="8096400" cy="34092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IN" sz="1800" spc="-1" strike="noStrike">
                <a:solidFill>
                  <a:srgbClr val="000000"/>
                </a:solidFill>
                <a:latin typeface="Arial"/>
                <a:ea typeface="DejaVu Sans"/>
              </a:rPr>
              <a:t>https://archive.briankoberlein.com/2016/07/01/bell-book-candle/index.html</a:t>
            </a:r>
            <a:endParaRPr b="0" lang="en-IN" sz="1800" spc="-1" strike="noStrike">
              <a:latin typeface="Arial"/>
            </a:endParaRPr>
          </a:p>
        </p:txBody>
      </p:sp>
      <p:sp>
        <p:nvSpPr>
          <p:cNvPr id="209" name=""/>
          <p:cNvSpPr/>
          <p:nvPr/>
        </p:nvSpPr>
        <p:spPr>
          <a:xfrm>
            <a:off x="2520000" y="360000"/>
            <a:ext cx="7329600" cy="7185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IN" sz="4000" spc="-1" strike="noStrike">
                <a:solidFill>
                  <a:srgbClr val="000000"/>
                </a:solidFill>
                <a:latin typeface="Arial"/>
                <a:ea typeface="DejaVu Sans"/>
              </a:rPr>
              <a:t> </a:t>
            </a:r>
            <a:r>
              <a:rPr b="1" lang="en-IN" sz="4000" spc="-1" strike="noStrike">
                <a:solidFill>
                  <a:srgbClr val="000000"/>
                </a:solidFill>
                <a:latin typeface="Arial"/>
                <a:ea typeface="DejaVu Sans"/>
              </a:rPr>
              <a:t>Cosmic Distance Ladder  </a:t>
            </a:r>
            <a:endParaRPr b="0" lang="en-IN" sz="4000" spc="-1" strike="noStrike">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CustomShape 41"/>
          <p:cNvSpPr/>
          <p:nvPr/>
        </p:nvSpPr>
        <p:spPr>
          <a:xfrm>
            <a:off x="293040" y="1260000"/>
            <a:ext cx="12335400" cy="487656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spcBef>
                <a:spcPts val="1191"/>
              </a:spcBef>
              <a:spcAft>
                <a:spcPts val="992"/>
              </a:spcAft>
              <a:buNone/>
            </a:pPr>
            <a:r>
              <a:rPr b="1" lang="en-IN" sz="3200" spc="-1" strike="noStrike">
                <a:solidFill>
                  <a:srgbClr val="000000"/>
                </a:solidFill>
                <a:latin typeface="Arial"/>
                <a:ea typeface="DejaVu Sans"/>
              </a:rPr>
              <a:t>Various methods to determine distances:</a:t>
            </a:r>
            <a:endParaRPr b="0" lang="en-IN" sz="3200" spc="-1" strike="noStrike">
              <a:latin typeface="Arial"/>
            </a:endParaRPr>
          </a:p>
          <a:p>
            <a:pPr algn="just">
              <a:lnSpc>
                <a:spcPct val="100000"/>
              </a:lnSpc>
              <a:spcBef>
                <a:spcPts val="1191"/>
              </a:spcBef>
              <a:spcAft>
                <a:spcPts val="992"/>
              </a:spcAft>
              <a:buNone/>
            </a:pPr>
            <a:r>
              <a:rPr b="0" lang="en-IN" sz="2400" spc="-1" strike="noStrike">
                <a:solidFill>
                  <a:srgbClr val="000000"/>
                </a:solidFill>
                <a:latin typeface="Arial"/>
                <a:ea typeface="DejaVu Sans"/>
              </a:rPr>
              <a:t> </a:t>
            </a:r>
            <a:r>
              <a:rPr b="0" lang="en-IN" sz="2400" spc="-1" strike="noStrike">
                <a:solidFill>
                  <a:srgbClr val="000000"/>
                </a:solidFill>
                <a:latin typeface="Arial"/>
                <a:ea typeface="DejaVu Sans"/>
              </a:rPr>
              <a:t>(1) radar, </a:t>
            </a:r>
            <a:endParaRPr b="0" lang="en-IN" sz="2400" spc="-1" strike="noStrike">
              <a:latin typeface="Arial"/>
            </a:endParaRPr>
          </a:p>
          <a:p>
            <a:pPr algn="just">
              <a:lnSpc>
                <a:spcPct val="100000"/>
              </a:lnSpc>
              <a:spcBef>
                <a:spcPts val="1191"/>
              </a:spcBef>
              <a:spcAft>
                <a:spcPts val="992"/>
              </a:spcAft>
              <a:buNone/>
            </a:pPr>
            <a:r>
              <a:rPr b="0" lang="en-IN" sz="2400" spc="-1" strike="noStrike">
                <a:solidFill>
                  <a:srgbClr val="000000"/>
                </a:solidFill>
                <a:latin typeface="Arial"/>
                <a:ea typeface="DejaVu Sans"/>
              </a:rPr>
              <a:t>(2) parallax, </a:t>
            </a:r>
            <a:endParaRPr b="0" lang="en-IN" sz="2400" spc="-1" strike="noStrike">
              <a:latin typeface="Arial"/>
            </a:endParaRPr>
          </a:p>
          <a:p>
            <a:pPr algn="just">
              <a:lnSpc>
                <a:spcPct val="100000"/>
              </a:lnSpc>
              <a:spcBef>
                <a:spcPts val="1191"/>
              </a:spcBef>
              <a:spcAft>
                <a:spcPts val="992"/>
              </a:spcAft>
              <a:buNone/>
            </a:pPr>
            <a:r>
              <a:rPr b="0" lang="en-IN" sz="2400" spc="-1" strike="noStrike">
                <a:solidFill>
                  <a:srgbClr val="000000"/>
                </a:solidFill>
                <a:latin typeface="Arial"/>
                <a:ea typeface="DejaVu Sans"/>
              </a:rPr>
              <a:t>(3) spectroscopic parallax, </a:t>
            </a:r>
            <a:endParaRPr b="0" lang="en-IN" sz="2400" spc="-1" strike="noStrike">
              <a:latin typeface="Arial"/>
            </a:endParaRPr>
          </a:p>
          <a:p>
            <a:pPr algn="just">
              <a:lnSpc>
                <a:spcPct val="100000"/>
              </a:lnSpc>
              <a:spcBef>
                <a:spcPts val="1191"/>
              </a:spcBef>
              <a:spcAft>
                <a:spcPts val="992"/>
              </a:spcAft>
              <a:buNone/>
            </a:pPr>
            <a:r>
              <a:rPr b="0" lang="en-IN" sz="2400" spc="-1" strike="noStrike">
                <a:solidFill>
                  <a:srgbClr val="000000"/>
                </a:solidFill>
                <a:latin typeface="Arial"/>
                <a:ea typeface="DejaVu Sans"/>
              </a:rPr>
              <a:t>(4) main-sequence fitting, </a:t>
            </a:r>
            <a:endParaRPr b="0" lang="en-IN" sz="2400" spc="-1" strike="noStrike">
              <a:latin typeface="Arial"/>
            </a:endParaRPr>
          </a:p>
          <a:p>
            <a:pPr algn="just">
              <a:lnSpc>
                <a:spcPct val="100000"/>
              </a:lnSpc>
              <a:spcBef>
                <a:spcPts val="1191"/>
              </a:spcBef>
              <a:spcAft>
                <a:spcPts val="992"/>
              </a:spcAft>
              <a:buNone/>
            </a:pPr>
            <a:r>
              <a:rPr b="0" lang="en-IN" sz="2400" spc="-1" strike="noStrike">
                <a:solidFill>
                  <a:srgbClr val="000000"/>
                </a:solidFill>
                <a:latin typeface="Arial"/>
                <a:ea typeface="DejaVu Sans"/>
              </a:rPr>
              <a:t>(5) Cepheid/RR Lyrae variables, </a:t>
            </a:r>
            <a:endParaRPr b="0" lang="en-IN" sz="2400" spc="-1" strike="noStrike">
              <a:latin typeface="Arial"/>
            </a:endParaRPr>
          </a:p>
          <a:p>
            <a:pPr algn="just">
              <a:lnSpc>
                <a:spcPct val="100000"/>
              </a:lnSpc>
              <a:spcBef>
                <a:spcPts val="1191"/>
              </a:spcBef>
              <a:spcAft>
                <a:spcPts val="992"/>
              </a:spcAft>
              <a:buNone/>
            </a:pPr>
            <a:r>
              <a:rPr b="0" lang="en-IN" sz="2400" spc="-1" strike="noStrike">
                <a:solidFill>
                  <a:srgbClr val="000000"/>
                </a:solidFill>
                <a:latin typeface="Arial"/>
                <a:ea typeface="DejaVu Sans"/>
              </a:rPr>
              <a:t>(6) Tully-Fisher relation, </a:t>
            </a:r>
            <a:endParaRPr b="0" lang="en-IN" sz="2400" spc="-1" strike="noStrike">
              <a:latin typeface="Arial"/>
            </a:endParaRPr>
          </a:p>
          <a:p>
            <a:pPr algn="just">
              <a:lnSpc>
                <a:spcPct val="100000"/>
              </a:lnSpc>
              <a:spcBef>
                <a:spcPts val="1191"/>
              </a:spcBef>
              <a:spcAft>
                <a:spcPts val="992"/>
              </a:spcAft>
              <a:buNone/>
            </a:pPr>
            <a:r>
              <a:rPr b="0" lang="en-IN" sz="2400" spc="-1" strike="noStrike">
                <a:solidFill>
                  <a:srgbClr val="000000"/>
                </a:solidFill>
                <a:latin typeface="Arial"/>
                <a:ea typeface="DejaVu Sans"/>
              </a:rPr>
              <a:t>(7) Type Ia supernovae, and</a:t>
            </a:r>
            <a:endParaRPr b="0" lang="en-IN" sz="2400" spc="-1" strike="noStrike">
              <a:latin typeface="Arial"/>
            </a:endParaRPr>
          </a:p>
          <a:p>
            <a:pPr algn="just">
              <a:lnSpc>
                <a:spcPct val="100000"/>
              </a:lnSpc>
              <a:spcBef>
                <a:spcPts val="1191"/>
              </a:spcBef>
              <a:spcAft>
                <a:spcPts val="992"/>
              </a:spcAft>
              <a:buNone/>
            </a:pPr>
            <a:r>
              <a:rPr b="0" lang="en-IN" sz="2400" spc="-1" strike="noStrike">
                <a:solidFill>
                  <a:srgbClr val="000000"/>
                </a:solidFill>
                <a:latin typeface="Arial"/>
                <a:ea typeface="DejaVu Sans"/>
              </a:rPr>
              <a:t>(8) Hubble’s law</a:t>
            </a:r>
            <a:endParaRPr b="0" lang="en-IN" sz="2400" spc="-1" strike="noStrike">
              <a:latin typeface="Arial"/>
            </a:endParaRPr>
          </a:p>
          <a:p>
            <a:pPr algn="just">
              <a:lnSpc>
                <a:spcPct val="100000"/>
              </a:lnSpc>
              <a:spcBef>
                <a:spcPts val="1191"/>
              </a:spcBef>
              <a:spcAft>
                <a:spcPts val="992"/>
              </a:spcAft>
              <a:buNone/>
            </a:pPr>
            <a:endParaRPr b="0" lang="en-IN" sz="3600" spc="-1" strike="noStrike">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1" name="" descr=""/>
          <p:cNvPicPr/>
          <p:nvPr/>
        </p:nvPicPr>
        <p:blipFill>
          <a:blip r:embed="rId1"/>
          <a:stretch/>
        </p:blipFill>
        <p:spPr>
          <a:xfrm>
            <a:off x="306360" y="576000"/>
            <a:ext cx="11932200" cy="6661440"/>
          </a:xfrm>
          <a:prstGeom prst="rect">
            <a:avLst/>
          </a:prstGeom>
          <a:ln w="0">
            <a:noFill/>
          </a:ln>
        </p:spPr>
      </p:pic>
      <p:sp>
        <p:nvSpPr>
          <p:cNvPr id="212" name="CustomShape 42"/>
          <p:cNvSpPr/>
          <p:nvPr/>
        </p:nvSpPr>
        <p:spPr>
          <a:xfrm>
            <a:off x="216000" y="239760"/>
            <a:ext cx="4890240" cy="36792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1" lang="en-IN" sz="3200" spc="-1" strike="noStrike">
                <a:solidFill>
                  <a:srgbClr val="000000"/>
                </a:solidFill>
                <a:latin typeface="AnjaliOldLipi"/>
                <a:ea typeface="DejaVu Sans"/>
              </a:rPr>
              <a:t>Cosmic Distance ladder</a:t>
            </a:r>
            <a:endParaRPr b="0" lang="en-IN" sz="3200" spc="-1" strike="noStrike">
              <a:latin typeface="Arial"/>
            </a:endParaRPr>
          </a:p>
        </p:txBody>
      </p:sp>
      <p:sp>
        <p:nvSpPr>
          <p:cNvPr id="213" name="CustomShape 43"/>
          <p:cNvSpPr/>
          <p:nvPr/>
        </p:nvSpPr>
        <p:spPr>
          <a:xfrm>
            <a:off x="362520" y="8029440"/>
            <a:ext cx="12159720" cy="1468800"/>
          </a:xfrm>
          <a:prstGeom prst="rect">
            <a:avLst/>
          </a:prstGeom>
          <a:noFill/>
          <a:ln w="0">
            <a:noFill/>
          </a:ln>
        </p:spPr>
        <p:style>
          <a:lnRef idx="0"/>
          <a:fillRef idx="0"/>
          <a:effectRef idx="0"/>
          <a:fontRef idx="minor"/>
        </p:style>
      </p:sp>
      <p:sp>
        <p:nvSpPr>
          <p:cNvPr id="214" name="CustomShape 44"/>
          <p:cNvSpPr/>
          <p:nvPr/>
        </p:nvSpPr>
        <p:spPr>
          <a:xfrm>
            <a:off x="-3705120" y="-1166040"/>
            <a:ext cx="2620800" cy="36972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IN" sz="2000" spc="-1" strike="noStrike">
                <a:solidFill>
                  <a:srgbClr val="000000"/>
                </a:solidFill>
                <a:latin typeface="Arial"/>
                <a:ea typeface="DejaVu Sans"/>
              </a:rPr>
              <a:t>Source: Bennett, et al</a:t>
            </a:r>
            <a:endParaRPr b="0" lang="en-IN" sz="2000" spc="-1" strike="noStrike">
              <a:latin typeface="Arial"/>
            </a:endParaRPr>
          </a:p>
        </p:txBody>
      </p:sp>
      <p:sp>
        <p:nvSpPr>
          <p:cNvPr id="215" name="CustomShape 45"/>
          <p:cNvSpPr/>
          <p:nvPr/>
        </p:nvSpPr>
        <p:spPr>
          <a:xfrm>
            <a:off x="2124000" y="1872000"/>
            <a:ext cx="1359360" cy="7905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IN" sz="1400" spc="-1" strike="noStrike">
                <a:solidFill>
                  <a:srgbClr val="000000"/>
                </a:solidFill>
                <a:latin typeface="Arial"/>
                <a:ea typeface="DejaVu Sans"/>
              </a:rPr>
              <a:t>3.1e-6 pc = 0.64 AU</a:t>
            </a:r>
            <a:endParaRPr b="0" lang="en-IN" sz="1400" spc="-1" strike="noStrike">
              <a:latin typeface="Arial"/>
            </a:endParaRPr>
          </a:p>
        </p:txBody>
      </p:sp>
      <p:sp>
        <p:nvSpPr>
          <p:cNvPr id="216" name="CustomShape 46"/>
          <p:cNvSpPr/>
          <p:nvPr/>
        </p:nvSpPr>
        <p:spPr>
          <a:xfrm>
            <a:off x="4075200" y="1836000"/>
            <a:ext cx="996480" cy="3556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IN" sz="1400" spc="-1" strike="noStrike">
                <a:solidFill>
                  <a:srgbClr val="000000"/>
                </a:solidFill>
                <a:latin typeface="Arial"/>
                <a:ea typeface="DejaVu Sans"/>
              </a:rPr>
              <a:t>~30 pc</a:t>
            </a:r>
            <a:endParaRPr b="0" lang="en-IN" sz="1400" spc="-1" strike="noStrike">
              <a:latin typeface="Arial"/>
            </a:endParaRPr>
          </a:p>
        </p:txBody>
      </p:sp>
      <p:sp>
        <p:nvSpPr>
          <p:cNvPr id="217" name="CustomShape 47"/>
          <p:cNvSpPr/>
          <p:nvPr/>
        </p:nvSpPr>
        <p:spPr>
          <a:xfrm>
            <a:off x="6012000" y="1152000"/>
            <a:ext cx="996480" cy="3556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IN" sz="1400" spc="-1" strike="noStrike">
                <a:solidFill>
                  <a:srgbClr val="000000"/>
                </a:solidFill>
                <a:latin typeface="Arial"/>
                <a:ea typeface="DejaVu Sans"/>
              </a:rPr>
              <a:t>~30 kpc</a:t>
            </a:r>
            <a:endParaRPr b="0" lang="en-IN" sz="1400" spc="-1" strike="noStrike">
              <a:latin typeface="Arial"/>
            </a:endParaRPr>
          </a:p>
        </p:txBody>
      </p:sp>
      <p:sp>
        <p:nvSpPr>
          <p:cNvPr id="218" name="CustomShape 48"/>
          <p:cNvSpPr/>
          <p:nvPr/>
        </p:nvSpPr>
        <p:spPr>
          <a:xfrm>
            <a:off x="7884000" y="720000"/>
            <a:ext cx="996480" cy="3556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IN" sz="1400" spc="-1" strike="noStrike">
                <a:solidFill>
                  <a:srgbClr val="000000"/>
                </a:solidFill>
                <a:latin typeface="Arial"/>
                <a:ea typeface="DejaVu Sans"/>
              </a:rPr>
              <a:t>~3 Mpc</a:t>
            </a:r>
            <a:endParaRPr b="0" lang="en-IN" sz="1400" spc="-1" strike="noStrike">
              <a:latin typeface="Arial"/>
            </a:endParaRPr>
          </a:p>
        </p:txBody>
      </p:sp>
      <p:sp>
        <p:nvSpPr>
          <p:cNvPr id="219" name="CustomShape 49"/>
          <p:cNvSpPr/>
          <p:nvPr/>
        </p:nvSpPr>
        <p:spPr>
          <a:xfrm>
            <a:off x="9223200" y="252000"/>
            <a:ext cx="2292480" cy="4827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IN" sz="1400" spc="-1" strike="noStrike">
                <a:solidFill>
                  <a:srgbClr val="000000"/>
                </a:solidFill>
                <a:latin typeface="Arial"/>
                <a:ea typeface="DejaVu Sans"/>
              </a:rPr>
              <a:t>~3000 Mpc ~3Gpc</a:t>
            </a:r>
            <a:endParaRPr b="0" lang="en-IN" sz="1400" spc="-1" strike="noStrike">
              <a:latin typeface="Arial"/>
            </a:endParaRPr>
          </a:p>
        </p:txBody>
      </p:sp>
      <p:sp>
        <p:nvSpPr>
          <p:cNvPr id="220" name=""/>
          <p:cNvSpPr/>
          <p:nvPr/>
        </p:nvSpPr>
        <p:spPr>
          <a:xfrm>
            <a:off x="569520" y="7384680"/>
            <a:ext cx="12209040" cy="2081880"/>
          </a:xfrm>
          <a:prstGeom prst="rect">
            <a:avLst/>
          </a:prstGeom>
          <a:noFill/>
          <a:ln w="0">
            <a:noFill/>
          </a:ln>
        </p:spPr>
        <p:style>
          <a:lnRef idx="0"/>
          <a:fillRef idx="0"/>
          <a:effectRef idx="0"/>
          <a:fontRef idx="minor"/>
        </p:style>
        <p:txBody>
          <a:bodyPr lIns="90000" rIns="90000" tIns="45000" bIns="45000" anchor="t">
            <a:noAutofit/>
          </a:bodyPr>
          <a:p>
            <a:pPr marL="216000" indent="-216000">
              <a:lnSpc>
                <a:spcPct val="100000"/>
              </a:lnSpc>
              <a:spcBef>
                <a:spcPts val="1191"/>
              </a:spcBef>
              <a:spcAft>
                <a:spcPts val="992"/>
              </a:spcAft>
              <a:buClr>
                <a:srgbClr val="000000"/>
              </a:buClr>
              <a:buSzPct val="45000"/>
              <a:buFont typeface="Wingdings" charset="2"/>
              <a:buChar char=""/>
            </a:pPr>
            <a:r>
              <a:rPr b="1" i="1" lang="en-IN" sz="2400" spc="-1" strike="noStrike">
                <a:solidFill>
                  <a:srgbClr val="000000"/>
                </a:solidFill>
                <a:latin typeface="Arial"/>
                <a:ea typeface="DejaVu Sans"/>
              </a:rPr>
              <a:t>Cosmic Distance Ladder </a:t>
            </a:r>
            <a:r>
              <a:rPr b="0" lang="en-IN" sz="2400" spc="-1" strike="noStrike">
                <a:solidFill>
                  <a:srgbClr val="000000"/>
                </a:solidFill>
                <a:latin typeface="Arial"/>
                <a:ea typeface="DejaVu Sans"/>
              </a:rPr>
              <a:t>= sequence of methods to measure astronomical distances.</a:t>
            </a:r>
            <a:endParaRPr b="0" lang="en-IN" sz="24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DejaVu Sans"/>
              </a:rPr>
              <a:t>No single method works for all scales; each covers a specific distance range.</a:t>
            </a:r>
            <a:endParaRPr b="0" lang="en-IN" sz="24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DejaVu Sans"/>
              </a:rPr>
              <a:t>Each step calibrates the next, building our knowledge of the Universe’s size.</a:t>
            </a:r>
            <a:endParaRPr b="0" lang="en-IN" sz="2400" spc="-1" strike="noStrike">
              <a:latin typeface="Arial"/>
            </a:endParaRPr>
          </a:p>
          <a:p>
            <a:pPr>
              <a:lnSpc>
                <a:spcPct val="100000"/>
              </a:lnSpc>
              <a:buNone/>
            </a:pPr>
            <a:endParaRPr b="0" lang="en-IN" sz="1000" spc="-1" strike="noStrike">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1" name="" descr=""/>
          <p:cNvPicPr/>
          <p:nvPr/>
        </p:nvPicPr>
        <p:blipFill>
          <a:blip r:embed="rId1"/>
          <a:stretch/>
        </p:blipFill>
        <p:spPr>
          <a:xfrm>
            <a:off x="720000" y="250200"/>
            <a:ext cx="8818560" cy="8388360"/>
          </a:xfrm>
          <a:prstGeom prst="rect">
            <a:avLst/>
          </a:prstGeom>
          <a:ln w="0">
            <a:noFill/>
          </a:ln>
        </p:spPr>
      </p:pic>
      <p:sp>
        <p:nvSpPr>
          <p:cNvPr id="222" name="CustomShape 50"/>
          <p:cNvSpPr/>
          <p:nvPr/>
        </p:nvSpPr>
        <p:spPr>
          <a:xfrm>
            <a:off x="5547960" y="8349840"/>
            <a:ext cx="7410600" cy="100872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buNone/>
            </a:pPr>
            <a:r>
              <a:rPr b="1" i="1" lang="en-IN" sz="2200" spc="-1" strike="noStrike">
                <a:solidFill>
                  <a:srgbClr val="00a0fc"/>
                </a:solidFill>
                <a:latin typeface="AnjaliOldLipi"/>
                <a:ea typeface="DejaVu Sans"/>
              </a:rPr>
              <a:t>A combination of methods involving standard candles allows astronomers to build up a cosmic distance ladder from nearby stars to distant galaxies.</a:t>
            </a:r>
            <a:endParaRPr b="0" lang="en-IN" sz="2200" spc="-1" strike="noStrike">
              <a:latin typeface="Arial"/>
            </a:endParaRPr>
          </a:p>
        </p:txBody>
      </p:sp>
      <p:sp>
        <p:nvSpPr>
          <p:cNvPr id="223" name="CustomShape 51"/>
          <p:cNvSpPr/>
          <p:nvPr/>
        </p:nvSpPr>
        <p:spPr>
          <a:xfrm>
            <a:off x="9072000" y="5328000"/>
            <a:ext cx="3346560" cy="9705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IN" sz="2200" spc="-1" strike="noStrike">
                <a:solidFill>
                  <a:srgbClr val="000000"/>
                </a:solidFill>
                <a:latin typeface="AnjaliOldLipi"/>
                <a:ea typeface="DejaVu Sans"/>
              </a:rPr>
              <a:t>Alternatively, the</a:t>
            </a:r>
            <a:endParaRPr b="0" lang="en-IN" sz="2200" spc="-1" strike="noStrike">
              <a:latin typeface="Arial"/>
            </a:endParaRPr>
          </a:p>
          <a:p>
            <a:pPr>
              <a:lnSpc>
                <a:spcPct val="100000"/>
              </a:lnSpc>
              <a:buNone/>
            </a:pPr>
            <a:r>
              <a:rPr b="0" lang="en-IN" sz="2200" spc="-1" strike="noStrike">
                <a:solidFill>
                  <a:srgbClr val="000000"/>
                </a:solidFill>
                <a:latin typeface="AnjaliOldLipi"/>
                <a:ea typeface="DejaVu Sans"/>
              </a:rPr>
              <a:t>main sequence fitting</a:t>
            </a:r>
            <a:endParaRPr b="0" lang="en-IN" sz="2200" spc="-1" strike="noStrike">
              <a:latin typeface="Arial"/>
            </a:endParaRPr>
          </a:p>
        </p:txBody>
      </p:sp>
      <p:sp>
        <p:nvSpPr>
          <p:cNvPr id="224" name="Line 2"/>
          <p:cNvSpPr/>
          <p:nvPr/>
        </p:nvSpPr>
        <p:spPr>
          <a:xfrm>
            <a:off x="8532000" y="5724000"/>
            <a:ext cx="504000" cy="360"/>
          </a:xfrm>
          <a:prstGeom prst="line">
            <a:avLst/>
          </a:prstGeom>
          <a:ln w="0">
            <a:solidFill>
              <a:srgbClr val="3465a4"/>
            </a:solidFill>
            <a:tailEnd len="med" type="triangle" w="med"/>
          </a:ln>
        </p:spPr>
        <p:style>
          <a:lnRef idx="0"/>
          <a:fillRef idx="0"/>
          <a:effectRef idx="0"/>
          <a:fontRef idx="minor"/>
        </p:style>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5" name="" descr=""/>
          <p:cNvPicPr/>
          <p:nvPr/>
        </p:nvPicPr>
        <p:blipFill>
          <a:blip r:embed="rId1"/>
          <a:stretch/>
        </p:blipFill>
        <p:spPr>
          <a:xfrm>
            <a:off x="720000" y="272160"/>
            <a:ext cx="10978560" cy="5626440"/>
          </a:xfrm>
          <a:prstGeom prst="rect">
            <a:avLst/>
          </a:prstGeom>
          <a:ln w="0">
            <a:noFill/>
          </a:ln>
        </p:spPr>
      </p:pic>
      <p:sp>
        <p:nvSpPr>
          <p:cNvPr id="226" name="CustomShape 52"/>
          <p:cNvSpPr/>
          <p:nvPr/>
        </p:nvSpPr>
        <p:spPr>
          <a:xfrm>
            <a:off x="9000000" y="9083160"/>
            <a:ext cx="3778560" cy="5385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IN" sz="1400" spc="-1" strike="noStrike">
                <a:solidFill>
                  <a:srgbClr val="000000"/>
                </a:solidFill>
                <a:latin typeface="Arial"/>
                <a:ea typeface="DejaVu Sans"/>
              </a:rPr>
              <a:t>More details about RADAR:</a:t>
            </a:r>
            <a:endParaRPr b="0" lang="en-IN" sz="1400" spc="-1" strike="noStrike">
              <a:latin typeface="Arial"/>
            </a:endParaRPr>
          </a:p>
          <a:p>
            <a:pPr>
              <a:lnSpc>
                <a:spcPct val="100000"/>
              </a:lnSpc>
              <a:buNone/>
            </a:pPr>
            <a:r>
              <a:rPr b="0" lang="en-IN" sz="1400" spc="-1" strike="noStrike">
                <a:solidFill>
                  <a:srgbClr val="000000"/>
                </a:solidFill>
                <a:latin typeface="Arial"/>
                <a:ea typeface="DejaVu Sans"/>
              </a:rPr>
              <a:t>https://www.britannica.com/technology/radar</a:t>
            </a:r>
            <a:endParaRPr b="0" lang="en-IN" sz="1400" spc="-1" strike="noStrike">
              <a:latin typeface="Arial"/>
            </a:endParaRPr>
          </a:p>
        </p:txBody>
      </p:sp>
      <p:sp>
        <p:nvSpPr>
          <p:cNvPr id="227" name=""/>
          <p:cNvSpPr/>
          <p:nvPr/>
        </p:nvSpPr>
        <p:spPr>
          <a:xfrm>
            <a:off x="388440" y="6203880"/>
            <a:ext cx="11850120" cy="3154680"/>
          </a:xfrm>
          <a:prstGeom prst="rect">
            <a:avLst/>
          </a:prstGeom>
          <a:noFill/>
          <a:ln w="0">
            <a:noFill/>
          </a:ln>
        </p:spPr>
        <p:style>
          <a:lnRef idx="0"/>
          <a:fillRef idx="0"/>
          <a:effectRef idx="0"/>
          <a:fontRef idx="minor"/>
        </p:style>
        <p:txBody>
          <a:bodyPr lIns="90000" rIns="90000" tIns="45000" bIns="45000" anchor="t">
            <a:noAutofit/>
          </a:bodyPr>
          <a:p>
            <a:pPr marL="216000" indent="-216000">
              <a:lnSpc>
                <a:spcPct val="100000"/>
              </a:lnSpc>
              <a:spcBef>
                <a:spcPts val="1191"/>
              </a:spcBef>
              <a:spcAft>
                <a:spcPts val="992"/>
              </a:spcAft>
              <a:buClr>
                <a:srgbClr val="000000"/>
              </a:buClr>
              <a:buSzPct val="45000"/>
              <a:buFont typeface="Wingdings" charset="2"/>
              <a:buChar char=""/>
            </a:pPr>
            <a:r>
              <a:rPr b="1" lang="en-IN" sz="3200" spc="-1" strike="noStrike">
                <a:solidFill>
                  <a:srgbClr val="000000"/>
                </a:solidFill>
                <a:latin typeface="Arial"/>
                <a:ea typeface="DejaVu Sans"/>
              </a:rPr>
              <a:t>RADAR = Ra</a:t>
            </a:r>
            <a:r>
              <a:rPr b="0" lang="en-IN" sz="3200" spc="-1" strike="noStrike">
                <a:solidFill>
                  <a:srgbClr val="000000"/>
                </a:solidFill>
                <a:latin typeface="Arial"/>
                <a:ea typeface="DejaVu Sans"/>
              </a:rPr>
              <a:t>dio</a:t>
            </a:r>
            <a:r>
              <a:rPr b="1" lang="en-IN" sz="3200" spc="-1" strike="noStrike">
                <a:solidFill>
                  <a:srgbClr val="000000"/>
                </a:solidFill>
                <a:latin typeface="Arial"/>
                <a:ea typeface="DejaVu Sans"/>
              </a:rPr>
              <a:t> D</a:t>
            </a:r>
            <a:r>
              <a:rPr b="0" lang="en-IN" sz="3200" spc="-1" strike="noStrike">
                <a:solidFill>
                  <a:srgbClr val="000000"/>
                </a:solidFill>
                <a:latin typeface="Arial"/>
                <a:ea typeface="DejaVu Sans"/>
              </a:rPr>
              <a:t>etection</a:t>
            </a:r>
            <a:r>
              <a:rPr b="1" lang="en-IN" sz="3200" spc="-1" strike="noStrike">
                <a:solidFill>
                  <a:srgbClr val="000000"/>
                </a:solidFill>
                <a:latin typeface="Arial"/>
                <a:ea typeface="DejaVu Sans"/>
              </a:rPr>
              <a:t> A</a:t>
            </a:r>
            <a:r>
              <a:rPr b="0" lang="en-IN" sz="3200" spc="-1" strike="noStrike">
                <a:solidFill>
                  <a:srgbClr val="000000"/>
                </a:solidFill>
                <a:latin typeface="Arial"/>
                <a:ea typeface="DejaVu Sans"/>
              </a:rPr>
              <a:t>nd</a:t>
            </a:r>
            <a:r>
              <a:rPr b="1" lang="en-IN" sz="3200" spc="-1" strike="noStrike">
                <a:solidFill>
                  <a:srgbClr val="000000"/>
                </a:solidFill>
                <a:latin typeface="Arial"/>
                <a:ea typeface="DejaVu Sans"/>
              </a:rPr>
              <a:t> R</a:t>
            </a:r>
            <a:r>
              <a:rPr b="0" lang="en-IN" sz="3200" spc="-1" strike="noStrike">
                <a:solidFill>
                  <a:srgbClr val="000000"/>
                </a:solidFill>
                <a:latin typeface="Arial"/>
                <a:ea typeface="DejaVu Sans"/>
              </a:rPr>
              <a:t>anging</a:t>
            </a:r>
            <a:endParaRPr b="0" lang="en-IN" sz="32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DejaVu Sans"/>
              </a:rPr>
              <a:t>Transmit a radio waves toward a nearby object (e.g., Venus, Moon, Mars, etc) and detect the reflected echo.</a:t>
            </a:r>
            <a:endParaRPr b="0" lang="en-IN" sz="24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DejaVu Sans"/>
              </a:rPr>
              <a:t>Measure the round-trip time delay Δt of the returned signal.</a:t>
            </a:r>
            <a:endParaRPr b="0" lang="en-IN" sz="24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DejaVu Sans"/>
              </a:rPr>
              <a:t>Distance is calculated using </a:t>
            </a:r>
            <a:r>
              <a:rPr b="1" i="1" lang="en-IN" sz="2400" spc="-1" strike="noStrike">
                <a:solidFill>
                  <a:srgbClr val="000000"/>
                </a:solidFill>
                <a:latin typeface="Arial"/>
                <a:ea typeface="DejaVu Sans"/>
              </a:rPr>
              <a:t>d </a:t>
            </a:r>
            <a:r>
              <a:rPr b="1" lang="en-IN" sz="2400" spc="-1" strike="noStrike">
                <a:solidFill>
                  <a:srgbClr val="000000"/>
                </a:solidFill>
                <a:latin typeface="Arial"/>
                <a:ea typeface="DejaVu Sans"/>
              </a:rPr>
              <a:t>=</a:t>
            </a:r>
            <a:r>
              <a:rPr b="1" i="1" lang="en-IN" sz="2400" spc="-1" strike="noStrike">
                <a:solidFill>
                  <a:srgbClr val="000000"/>
                </a:solidFill>
                <a:latin typeface="Arial"/>
                <a:ea typeface="DejaVu Sans"/>
              </a:rPr>
              <a:t> (c Δt) / 2</a:t>
            </a:r>
            <a:r>
              <a:rPr b="0" lang="en-IN" sz="2400" spc="-1" strike="noStrike">
                <a:solidFill>
                  <a:srgbClr val="000000"/>
                </a:solidFill>
                <a:latin typeface="Arial"/>
                <a:ea typeface="DejaVu Sans"/>
              </a:rPr>
              <a:t>, where c = 3 × 10</a:t>
            </a:r>
            <a:r>
              <a:rPr b="0" lang="en-IN" sz="2400" spc="-1" strike="noStrike" baseline="33000">
                <a:solidFill>
                  <a:srgbClr val="000000"/>
                </a:solidFill>
                <a:latin typeface="Arial"/>
                <a:ea typeface="DejaVu Sans"/>
              </a:rPr>
              <a:t>8</a:t>
            </a:r>
            <a:r>
              <a:rPr b="0" lang="en-IN" sz="2400" spc="-1" strike="noStrike">
                <a:solidFill>
                  <a:srgbClr val="000000"/>
                </a:solidFill>
                <a:latin typeface="Arial"/>
                <a:ea typeface="DejaVu Sans"/>
              </a:rPr>
              <a:t> m s</a:t>
            </a:r>
            <a:r>
              <a:rPr b="0" lang="en-IN" sz="2400" spc="-1" strike="noStrike" baseline="33000">
                <a:solidFill>
                  <a:srgbClr val="000000"/>
                </a:solidFill>
                <a:latin typeface="Arial"/>
                <a:ea typeface="DejaVu Sans"/>
              </a:rPr>
              <a:t>-¹.</a:t>
            </a:r>
            <a:endParaRPr b="0" lang="en-IN" sz="2400" spc="-1" strike="noStrike">
              <a:latin typeface="Arial"/>
            </a:endParaRPr>
          </a:p>
          <a:p>
            <a:pPr>
              <a:lnSpc>
                <a:spcPct val="100000"/>
              </a:lnSpc>
              <a:buNone/>
            </a:pPr>
            <a:endParaRPr b="0" lang="en-IN" sz="1000" spc="-1" strike="noStrike">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8" name="Picture 1" descr=""/>
          <p:cNvPicPr/>
          <p:nvPr/>
        </p:nvPicPr>
        <p:blipFill>
          <a:blip r:embed="rId1"/>
          <a:stretch/>
        </p:blipFill>
        <p:spPr>
          <a:xfrm>
            <a:off x="180000" y="118440"/>
            <a:ext cx="5579640" cy="4200120"/>
          </a:xfrm>
          <a:prstGeom prst="rect">
            <a:avLst/>
          </a:prstGeom>
          <a:ln w="0">
            <a:noFill/>
          </a:ln>
        </p:spPr>
      </p:pic>
      <p:pic>
        <p:nvPicPr>
          <p:cNvPr id="229" name="Image_ 3" descr="Image"/>
          <p:cNvPicPr/>
          <p:nvPr/>
        </p:nvPicPr>
        <p:blipFill>
          <a:blip r:embed="rId2"/>
          <a:stretch/>
        </p:blipFill>
        <p:spPr>
          <a:xfrm>
            <a:off x="5904000" y="72000"/>
            <a:ext cx="6838560" cy="4843800"/>
          </a:xfrm>
          <a:prstGeom prst="rect">
            <a:avLst/>
          </a:prstGeom>
          <a:ln w="12600">
            <a:noFill/>
          </a:ln>
        </p:spPr>
      </p:pic>
      <p:pic>
        <p:nvPicPr>
          <p:cNvPr id="230" name="Picture 2_ 4" descr=""/>
          <p:cNvPicPr/>
          <p:nvPr/>
        </p:nvPicPr>
        <p:blipFill>
          <a:blip r:embed="rId3"/>
          <a:stretch/>
        </p:blipFill>
        <p:spPr>
          <a:xfrm>
            <a:off x="72360" y="5194440"/>
            <a:ext cx="5950440" cy="4056120"/>
          </a:xfrm>
          <a:prstGeom prst="rect">
            <a:avLst/>
          </a:prstGeom>
          <a:ln w="0">
            <a:noFill/>
          </a:ln>
        </p:spPr>
      </p:pic>
      <p:pic>
        <p:nvPicPr>
          <p:cNvPr id="231" name="Image_ 4" descr="Image"/>
          <p:cNvPicPr/>
          <p:nvPr/>
        </p:nvPicPr>
        <p:blipFill>
          <a:blip r:embed="rId4"/>
          <a:stretch/>
        </p:blipFill>
        <p:spPr>
          <a:xfrm>
            <a:off x="6048000" y="5400000"/>
            <a:ext cx="6711480" cy="3958560"/>
          </a:xfrm>
          <a:prstGeom prst="rect">
            <a:avLst/>
          </a:prstGeom>
          <a:ln w="12600">
            <a:noFill/>
          </a:ln>
        </p:spPr>
      </p:pic>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32" name="" descr=""/>
          <p:cNvPicPr/>
          <p:nvPr/>
        </p:nvPicPr>
        <p:blipFill>
          <a:blip r:embed="rId1"/>
          <a:stretch/>
        </p:blipFill>
        <p:spPr>
          <a:xfrm>
            <a:off x="4680000" y="6120000"/>
            <a:ext cx="4305600" cy="3228120"/>
          </a:xfrm>
          <a:prstGeom prst="rect">
            <a:avLst/>
          </a:prstGeom>
          <a:ln w="0">
            <a:noFill/>
          </a:ln>
        </p:spPr>
      </p:pic>
      <p:sp>
        <p:nvSpPr>
          <p:cNvPr id="233" name="CustomShape 53"/>
          <p:cNvSpPr/>
          <p:nvPr/>
        </p:nvSpPr>
        <p:spPr>
          <a:xfrm>
            <a:off x="7836120" y="5379120"/>
            <a:ext cx="4689000" cy="2462760"/>
          </a:xfrm>
          <a:prstGeom prst="rect">
            <a:avLst/>
          </a:prstGeom>
          <a:noFill/>
          <a:ln w="0">
            <a:noFill/>
          </a:ln>
        </p:spPr>
        <p:style>
          <a:lnRef idx="0"/>
          <a:fillRef idx="0"/>
          <a:effectRef idx="0"/>
          <a:fontRef idx="minor"/>
        </p:style>
      </p:sp>
      <p:sp>
        <p:nvSpPr>
          <p:cNvPr id="234" name=""/>
          <p:cNvSpPr/>
          <p:nvPr/>
        </p:nvSpPr>
        <p:spPr>
          <a:xfrm rot="1870200">
            <a:off x="8602920" y="6129360"/>
            <a:ext cx="3742560" cy="561960"/>
          </a:xfrm>
          <a:prstGeom prst="rect">
            <a:avLst/>
          </a:prstGeom>
          <a:noFill/>
          <a:ln w="0">
            <a:noFill/>
          </a:ln>
        </p:spPr>
        <p:style>
          <a:lnRef idx="0"/>
          <a:fillRef idx="0"/>
          <a:effectRef idx="0"/>
          <a:fontRef idx="minor"/>
        </p:style>
      </p:sp>
      <p:sp>
        <p:nvSpPr>
          <p:cNvPr id="235" name=""/>
          <p:cNvSpPr/>
          <p:nvPr/>
        </p:nvSpPr>
        <p:spPr>
          <a:xfrm>
            <a:off x="180000" y="180000"/>
            <a:ext cx="12598560" cy="624312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1" lang="en-IN" sz="2800" spc="-1" strike="noStrike">
                <a:solidFill>
                  <a:srgbClr val="000000"/>
                </a:solidFill>
                <a:latin typeface="Arial"/>
                <a:ea typeface="DejaVu Sans"/>
              </a:rPr>
              <a:t>Main Sequence Fitting (Distance to Star Clusters)</a:t>
            </a:r>
            <a:endParaRPr b="0" lang="en-IN" sz="28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DejaVu Sans"/>
              </a:rPr>
              <a:t>Uses the H–R diagram to estimate distances to star clusters.</a:t>
            </a:r>
            <a:endParaRPr b="0" lang="en-IN" sz="24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DejaVu Sans"/>
              </a:rPr>
              <a:t>Cluster stars form together, are gravitationally bound, and lie at nearly the same distance.</a:t>
            </a:r>
            <a:endParaRPr b="0" lang="en-IN" sz="24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DejaVu Sans"/>
              </a:rPr>
              <a:t>Applicable only to clusters with stars still on the Main Sequence (Luminosity Class V; core H → He fusion).</a:t>
            </a:r>
            <a:endParaRPr b="0" lang="en-IN" sz="24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1" i="1" lang="en-IN" sz="2400" spc="-1" strike="noStrike">
                <a:solidFill>
                  <a:srgbClr val="000000"/>
                </a:solidFill>
                <a:latin typeface="Arial"/>
                <a:ea typeface="DejaVu Sans"/>
              </a:rPr>
              <a:t>Shift the observed cluster main sequence vertically to match the standard (absolute) main sequence.</a:t>
            </a:r>
            <a:endParaRPr b="0" lang="en-IN" sz="24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DejaVu Sans"/>
              </a:rPr>
              <a:t>The vertical displacement gives the distance modulus: </a:t>
            </a:r>
            <a:r>
              <a:rPr b="1" i="1" lang="en-IN" sz="2400" spc="-1" strike="noStrike">
                <a:solidFill>
                  <a:srgbClr val="000000"/>
                </a:solidFill>
                <a:latin typeface="Arial"/>
                <a:ea typeface="DejaVu Sans"/>
              </a:rPr>
              <a:t>m-M = 5*log(d) - 5.</a:t>
            </a:r>
            <a:endParaRPr b="0" lang="en-IN" sz="24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DejaVu Sans"/>
              </a:rPr>
              <a:t>Distance relation: d=10</a:t>
            </a:r>
            <a:r>
              <a:rPr b="0" lang="en-IN" sz="2400" spc="-1" strike="noStrike" baseline="33000">
                <a:solidFill>
                  <a:srgbClr val="000000"/>
                </a:solidFill>
                <a:latin typeface="Arial"/>
                <a:ea typeface="DejaVu Sans"/>
              </a:rPr>
              <a:t>(m−M+5)/5</a:t>
            </a:r>
            <a:r>
              <a:rPr b="0" lang="en-IN" sz="2400" spc="-1" strike="noStrike">
                <a:solidFill>
                  <a:srgbClr val="000000"/>
                </a:solidFill>
                <a:latin typeface="Arial"/>
                <a:ea typeface="DejaVu Sans"/>
              </a:rPr>
              <a:t> pc</a:t>
            </a:r>
            <a:endParaRPr b="0" lang="en-IN" sz="24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DejaVu Sans"/>
              </a:rPr>
              <a:t>Limitation: In older clusters, massive stars evolve off the main sequence → reduced accuracy.</a:t>
            </a:r>
            <a:endParaRPr b="0" lang="en-IN" sz="2400" spc="-1" strike="noStrike">
              <a:latin typeface="Arial"/>
            </a:endParaRPr>
          </a:p>
          <a:p>
            <a:pPr>
              <a:lnSpc>
                <a:spcPct val="100000"/>
              </a:lnSpc>
              <a:buNone/>
            </a:pPr>
            <a:endParaRPr b="0" lang="en-IN" sz="1000" spc="-1" strike="noStrike">
              <a:latin typeface="Arial"/>
            </a:endParaRPr>
          </a:p>
        </p:txBody>
      </p:sp>
      <p:sp>
        <p:nvSpPr>
          <p:cNvPr id="236" name=""/>
          <p:cNvSpPr/>
          <p:nvPr/>
        </p:nvSpPr>
        <p:spPr>
          <a:xfrm rot="1839600">
            <a:off x="5723280" y="6734880"/>
            <a:ext cx="2773080" cy="38664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IN" sz="2100" spc="-1" strike="noStrike">
                <a:solidFill>
                  <a:srgbClr val="ff0000"/>
                </a:solidFill>
                <a:latin typeface="Arial"/>
                <a:ea typeface="DejaVu Sans"/>
              </a:rPr>
              <a:t>actual main sequence</a:t>
            </a:r>
            <a:endParaRPr b="0" lang="en-IN" sz="2100" spc="-1" strike="noStrike">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37" name="" descr=""/>
          <p:cNvPicPr/>
          <p:nvPr/>
        </p:nvPicPr>
        <p:blipFill>
          <a:blip r:embed="rId1"/>
          <a:stretch/>
        </p:blipFill>
        <p:spPr>
          <a:xfrm>
            <a:off x="1800000" y="1344240"/>
            <a:ext cx="9695880" cy="7060320"/>
          </a:xfrm>
          <a:prstGeom prst="rect">
            <a:avLst/>
          </a:prstGeom>
          <a:ln w="0">
            <a:noFill/>
          </a:ln>
        </p:spPr>
      </p:pic>
      <p:sp>
        <p:nvSpPr>
          <p:cNvPr id="238" name=""/>
          <p:cNvSpPr/>
          <p:nvPr/>
        </p:nvSpPr>
        <p:spPr>
          <a:xfrm>
            <a:off x="5940000" y="1620000"/>
            <a:ext cx="3240000" cy="3960000"/>
          </a:xfrm>
          <a:prstGeom prst="line">
            <a:avLst/>
          </a:prstGeom>
          <a:ln w="57240">
            <a:solidFill>
              <a:srgbClr val="260013"/>
            </a:solidFill>
            <a:round/>
          </a:ln>
        </p:spPr>
        <p:style>
          <a:lnRef idx="0"/>
          <a:fillRef idx="0"/>
          <a:effectRef idx="0"/>
          <a:fontRef idx="minor"/>
        </p:style>
      </p:sp>
      <p:sp>
        <p:nvSpPr>
          <p:cNvPr id="239" name=""/>
          <p:cNvSpPr/>
          <p:nvPr/>
        </p:nvSpPr>
        <p:spPr>
          <a:xfrm>
            <a:off x="5940000" y="1800000"/>
            <a:ext cx="177120" cy="1617120"/>
          </a:xfrm>
          <a:custGeom>
            <a:avLst/>
            <a:gdLst/>
            <a:ahLst/>
            <a:rect l="l" t="t" r="r" b="b"/>
            <a:pathLst>
              <a:path w="21600" h="21600">
                <a:moveTo>
                  <a:pt x="0" y="4300"/>
                </a:moveTo>
                <a:lnTo>
                  <a:pt x="10800" y="0"/>
                </a:lnTo>
                <a:lnTo>
                  <a:pt x="21600" y="4300"/>
                </a:lnTo>
                <a:lnTo>
                  <a:pt x="16200" y="4300"/>
                </a:lnTo>
                <a:lnTo>
                  <a:pt x="16200" y="17300"/>
                </a:lnTo>
                <a:lnTo>
                  <a:pt x="21600" y="17300"/>
                </a:lnTo>
                <a:lnTo>
                  <a:pt x="10800" y="21600"/>
                </a:lnTo>
                <a:lnTo>
                  <a:pt x="0" y="17300"/>
                </a:lnTo>
                <a:lnTo>
                  <a:pt x="5400" y="17300"/>
                </a:lnTo>
                <a:lnTo>
                  <a:pt x="5400" y="4300"/>
                </a:lnTo>
                <a:close/>
              </a:path>
            </a:pathLst>
          </a:custGeom>
          <a:solidFill>
            <a:srgbClr val="0000ff"/>
          </a:solidFill>
          <a:ln w="0">
            <a:solidFill>
              <a:srgbClr val="3465a4"/>
            </a:solidFill>
          </a:ln>
        </p:spPr>
        <p:style>
          <a:lnRef idx="0"/>
          <a:fillRef idx="0"/>
          <a:effectRef idx="0"/>
          <a:fontRef idx="minor"/>
        </p:style>
      </p:sp>
      <p:sp>
        <p:nvSpPr>
          <p:cNvPr id="240" name=""/>
          <p:cNvSpPr/>
          <p:nvPr/>
        </p:nvSpPr>
        <p:spPr>
          <a:xfrm>
            <a:off x="7740000" y="3960000"/>
            <a:ext cx="177120" cy="2697120"/>
          </a:xfrm>
          <a:custGeom>
            <a:avLst/>
            <a:gdLst/>
            <a:ahLst/>
            <a:rect l="l" t="t" r="r" b="b"/>
            <a:pathLst>
              <a:path w="21600" h="21600">
                <a:moveTo>
                  <a:pt x="0" y="4300"/>
                </a:moveTo>
                <a:lnTo>
                  <a:pt x="10800" y="0"/>
                </a:lnTo>
                <a:lnTo>
                  <a:pt x="21600" y="4300"/>
                </a:lnTo>
                <a:lnTo>
                  <a:pt x="16200" y="4300"/>
                </a:lnTo>
                <a:lnTo>
                  <a:pt x="16200" y="17300"/>
                </a:lnTo>
                <a:lnTo>
                  <a:pt x="21600" y="17300"/>
                </a:lnTo>
                <a:lnTo>
                  <a:pt x="10800" y="21600"/>
                </a:lnTo>
                <a:lnTo>
                  <a:pt x="0" y="17300"/>
                </a:lnTo>
                <a:lnTo>
                  <a:pt x="5400" y="17300"/>
                </a:lnTo>
                <a:lnTo>
                  <a:pt x="5400" y="4300"/>
                </a:lnTo>
                <a:close/>
              </a:path>
            </a:pathLst>
          </a:custGeom>
          <a:solidFill>
            <a:srgbClr val="ff0000"/>
          </a:solidFill>
          <a:ln w="0">
            <a:solidFill>
              <a:srgbClr val="3465a4"/>
            </a:solidFill>
          </a:ln>
        </p:spPr>
        <p:style>
          <a:lnRef idx="0"/>
          <a:fillRef idx="0"/>
          <a:effectRef idx="0"/>
          <a:fontRef idx="minor"/>
        </p:style>
      </p:sp>
      <p:sp>
        <p:nvSpPr>
          <p:cNvPr id="241" name=""/>
          <p:cNvSpPr/>
          <p:nvPr/>
        </p:nvSpPr>
        <p:spPr>
          <a:xfrm rot="3016200">
            <a:off x="6678360" y="3946680"/>
            <a:ext cx="3742560" cy="5619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IN" sz="2800" spc="-1" strike="noStrike">
                <a:solidFill>
                  <a:srgbClr val="000000"/>
                </a:solidFill>
                <a:highlight>
                  <a:srgbClr val="ffffff"/>
                </a:highlight>
                <a:latin typeface="AnjaliOldLipi"/>
                <a:ea typeface="DejaVu Sans"/>
              </a:rPr>
              <a:t>actual main sequence</a:t>
            </a:r>
            <a:endParaRPr b="0" lang="en-IN" sz="2800" spc="-1" strike="noStrike">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CustomShape 54"/>
          <p:cNvSpPr/>
          <p:nvPr/>
        </p:nvSpPr>
        <p:spPr>
          <a:xfrm>
            <a:off x="868320" y="360000"/>
            <a:ext cx="5430240" cy="5385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1" lang="en-IN" sz="3200" spc="-1" strike="noStrike">
                <a:solidFill>
                  <a:srgbClr val="000000"/>
                </a:solidFill>
                <a:latin typeface="Arial"/>
                <a:ea typeface="DejaVu Sans"/>
              </a:rPr>
              <a:t>Spectroscopic Parallax</a:t>
            </a:r>
            <a:endParaRPr b="0" lang="en-IN" sz="3200" spc="-1" strike="noStrike">
              <a:latin typeface="Arial"/>
            </a:endParaRPr>
          </a:p>
          <a:p>
            <a:pPr>
              <a:lnSpc>
                <a:spcPct val="100000"/>
              </a:lnSpc>
              <a:buNone/>
            </a:pPr>
            <a:endParaRPr b="0" lang="en-IN" sz="2600" spc="-1" strike="noStrike">
              <a:latin typeface="Arial"/>
            </a:endParaRPr>
          </a:p>
        </p:txBody>
      </p:sp>
      <p:pic>
        <p:nvPicPr>
          <p:cNvPr id="243" name="" descr=""/>
          <p:cNvPicPr/>
          <p:nvPr/>
        </p:nvPicPr>
        <p:blipFill>
          <a:blip r:embed="rId1"/>
          <a:stretch/>
        </p:blipFill>
        <p:spPr>
          <a:xfrm>
            <a:off x="360000" y="1980000"/>
            <a:ext cx="5589000" cy="5756760"/>
          </a:xfrm>
          <a:prstGeom prst="rect">
            <a:avLst/>
          </a:prstGeom>
          <a:ln w="0">
            <a:noFill/>
          </a:ln>
        </p:spPr>
      </p:pic>
      <p:sp>
        <p:nvSpPr>
          <p:cNvPr id="244" name=""/>
          <p:cNvSpPr/>
          <p:nvPr/>
        </p:nvSpPr>
        <p:spPr>
          <a:xfrm>
            <a:off x="6300000" y="1800000"/>
            <a:ext cx="6503400" cy="6843600"/>
          </a:xfrm>
          <a:prstGeom prst="rect">
            <a:avLst/>
          </a:prstGeom>
          <a:noFill/>
          <a:ln w="0">
            <a:noFill/>
          </a:ln>
        </p:spPr>
        <p:style>
          <a:lnRef idx="0"/>
          <a:fillRef idx="0"/>
          <a:effectRef idx="0"/>
          <a:fontRef idx="minor"/>
        </p:style>
        <p:txBody>
          <a:bodyPr lIns="90000" rIns="90000" tIns="45000" bIns="45000" anchor="t">
            <a:noAutofit/>
          </a:bodyPr>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DejaVu Sans"/>
              </a:rPr>
              <a:t>Not true parallax; the geometric method is called trigonometric parallax.</a:t>
            </a:r>
            <a:endParaRPr b="0" lang="en-IN" sz="24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1" i="1" lang="en-IN" sz="2400" spc="-1" strike="noStrike">
                <a:solidFill>
                  <a:srgbClr val="000000"/>
                </a:solidFill>
                <a:latin typeface="Arial"/>
                <a:ea typeface="DejaVu Sans"/>
              </a:rPr>
              <a:t>Requires measurement of a star’s apparent magnitude (m) and spectrum.</a:t>
            </a:r>
            <a:endParaRPr b="0" lang="en-IN" sz="24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DejaVu Sans"/>
              </a:rPr>
              <a:t>Spectrum → determines spectral class &amp; luminosity class.</a:t>
            </a:r>
            <a:endParaRPr b="0" lang="en-IN" sz="24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DejaVu Sans"/>
              </a:rPr>
              <a:t>Locate the star on the Hertzsprung–Russell Diagram (HR Diagram).</a:t>
            </a:r>
            <a:endParaRPr b="0" lang="en-IN" sz="24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DejaVu Sans"/>
              </a:rPr>
              <a:t>Read off the absolute magnitude (M) from its position.</a:t>
            </a:r>
            <a:endParaRPr b="0" lang="en-IN" sz="24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DejaVu Sans"/>
              </a:rPr>
              <a:t>Use the distance modulus relation:</a:t>
            </a:r>
            <a:endParaRPr b="0" lang="en-IN" sz="24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1" i="1" lang="en-IN" sz="2800" spc="-1" strike="noStrike">
                <a:solidFill>
                  <a:srgbClr val="000000"/>
                </a:solidFill>
                <a:latin typeface="Arial"/>
                <a:ea typeface="DejaVu Sans"/>
              </a:rPr>
              <a:t>m−M=−5+5log⁡(d)</a:t>
            </a:r>
            <a:endParaRPr b="0" lang="en-IN" sz="28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DejaVu Sans"/>
              </a:rPr>
              <a:t>Applicable for estimating the distance to a single star</a:t>
            </a:r>
            <a:endParaRPr b="0" lang="en-IN" sz="2400" spc="-1" strike="noStrike">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CustomShape 55"/>
          <p:cNvSpPr/>
          <p:nvPr/>
        </p:nvSpPr>
        <p:spPr>
          <a:xfrm>
            <a:off x="361080" y="716040"/>
            <a:ext cx="12413160" cy="846108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buNone/>
            </a:pPr>
            <a:r>
              <a:rPr b="1" lang="en-IN" sz="4000" spc="-1" strike="noStrike">
                <a:solidFill>
                  <a:srgbClr val="000000"/>
                </a:solidFill>
                <a:latin typeface="Arial"/>
                <a:ea typeface="DejaVu Sans"/>
              </a:rPr>
              <a:t>Using Standard Candles as a Distance Indicator</a:t>
            </a:r>
            <a:endParaRPr b="0" lang="en-IN" sz="4000" spc="-1" strike="noStrike">
              <a:latin typeface="Arial"/>
            </a:endParaRPr>
          </a:p>
          <a:p>
            <a:pPr>
              <a:lnSpc>
                <a:spcPct val="100000"/>
              </a:lnSpc>
              <a:spcBef>
                <a:spcPts val="1191"/>
              </a:spcBef>
              <a:spcAft>
                <a:spcPts val="992"/>
              </a:spcAft>
              <a:buNone/>
            </a:pPr>
            <a:endParaRPr b="0" lang="en-IN" sz="2400" spc="-1" strike="noStrike">
              <a:latin typeface="Arial"/>
            </a:endParaRPr>
          </a:p>
          <a:p>
            <a:pPr>
              <a:lnSpc>
                <a:spcPct val="100000"/>
              </a:lnSpc>
              <a:buNone/>
            </a:pPr>
            <a:endParaRPr b="0" lang="en-IN" sz="2400" spc="-1" strike="noStrike">
              <a:latin typeface="Arial"/>
            </a:endParaRPr>
          </a:p>
        </p:txBody>
      </p:sp>
      <p:pic>
        <p:nvPicPr>
          <p:cNvPr id="246" name="" descr=""/>
          <p:cNvPicPr/>
          <p:nvPr/>
        </p:nvPicPr>
        <p:blipFill>
          <a:blip r:embed="rId1"/>
          <a:stretch/>
        </p:blipFill>
        <p:spPr>
          <a:xfrm>
            <a:off x="238320" y="1681200"/>
            <a:ext cx="6600240" cy="5477040"/>
          </a:xfrm>
          <a:prstGeom prst="rect">
            <a:avLst/>
          </a:prstGeom>
          <a:ln w="0">
            <a:noFill/>
          </a:ln>
        </p:spPr>
      </p:pic>
      <p:sp>
        <p:nvSpPr>
          <p:cNvPr id="247" name=""/>
          <p:cNvSpPr/>
          <p:nvPr/>
        </p:nvSpPr>
        <p:spPr>
          <a:xfrm>
            <a:off x="3960000" y="4808880"/>
            <a:ext cx="8818560" cy="4550040"/>
          </a:xfrm>
          <a:prstGeom prst="rect">
            <a:avLst/>
          </a:prstGeom>
          <a:noFill/>
          <a:ln w="0">
            <a:noFill/>
          </a:ln>
        </p:spPr>
        <p:style>
          <a:lnRef idx="0"/>
          <a:fillRef idx="0"/>
          <a:effectRef idx="0"/>
          <a:fontRef idx="minor"/>
        </p:style>
        <p:txBody>
          <a:bodyPr lIns="90000" rIns="90000" tIns="45000" bIns="45000" anchor="t">
            <a:noAutofit/>
          </a:bodyPr>
          <a:p>
            <a:pPr marL="216000" indent="-216000">
              <a:lnSpc>
                <a:spcPct val="100000"/>
              </a:lnSpc>
              <a:spcBef>
                <a:spcPts val="1191"/>
              </a:spcBef>
              <a:spcAft>
                <a:spcPts val="992"/>
              </a:spcAft>
              <a:buClr>
                <a:srgbClr val="000000"/>
              </a:buClr>
              <a:buFont typeface="Wingdings" charset="2"/>
              <a:buChar char=""/>
            </a:pPr>
            <a:r>
              <a:rPr b="0" lang="en-IN" sz="2400" spc="-1" strike="noStrike">
                <a:solidFill>
                  <a:srgbClr val="000000"/>
                </a:solidFill>
                <a:latin typeface="Arial"/>
                <a:ea typeface="DejaVu Sans"/>
              </a:rPr>
              <a:t> </a:t>
            </a:r>
            <a:r>
              <a:rPr b="0" lang="en-IN" sz="2400" spc="-1" strike="noStrike">
                <a:solidFill>
                  <a:srgbClr val="000000"/>
                </a:solidFill>
                <a:latin typeface="Arial"/>
                <a:ea typeface="DejaVu Sans"/>
              </a:rPr>
              <a:t>Accurate distance measurement is challenging.</a:t>
            </a:r>
            <a:endParaRPr b="0" lang="en-IN" sz="2400" spc="-1" strike="noStrike">
              <a:latin typeface="Arial"/>
            </a:endParaRPr>
          </a:p>
          <a:p>
            <a:pPr marL="216000" indent="-216000">
              <a:lnSpc>
                <a:spcPct val="100000"/>
              </a:lnSpc>
              <a:spcBef>
                <a:spcPts val="1191"/>
              </a:spcBef>
              <a:spcAft>
                <a:spcPts val="992"/>
              </a:spcAft>
              <a:buClr>
                <a:srgbClr val="000000"/>
              </a:buClr>
              <a:buFont typeface="Wingdings" charset="2"/>
              <a:buChar char=""/>
            </a:pPr>
            <a:r>
              <a:rPr b="0" lang="en-IN" sz="2400" spc="-1" strike="noStrike">
                <a:solidFill>
                  <a:srgbClr val="000000"/>
                </a:solidFill>
                <a:latin typeface="Arial"/>
                <a:ea typeface="DejaVu Sans"/>
              </a:rPr>
              <a:t> </a:t>
            </a:r>
            <a:r>
              <a:rPr b="0" lang="en-IN" sz="2400" spc="-1" strike="noStrike">
                <a:solidFill>
                  <a:srgbClr val="000000"/>
                </a:solidFill>
                <a:latin typeface="Arial"/>
                <a:ea typeface="DejaVu Sans"/>
              </a:rPr>
              <a:t>Nearby stars: parallax (e.g., ~2 billion stars by Gaia).</a:t>
            </a:r>
            <a:endParaRPr b="0" lang="en-IN" sz="2400" spc="-1" strike="noStrike">
              <a:latin typeface="Arial"/>
            </a:endParaRPr>
          </a:p>
          <a:p>
            <a:pPr marL="216000" indent="-216000">
              <a:lnSpc>
                <a:spcPct val="100000"/>
              </a:lnSpc>
              <a:spcBef>
                <a:spcPts val="1191"/>
              </a:spcBef>
              <a:spcAft>
                <a:spcPts val="992"/>
              </a:spcAft>
              <a:buClr>
                <a:srgbClr val="000000"/>
              </a:buClr>
              <a:buFont typeface="Wingdings" charset="2"/>
              <a:buChar char=""/>
            </a:pPr>
            <a:r>
              <a:rPr b="0" lang="en-IN" sz="2400" spc="-1" strike="noStrike">
                <a:solidFill>
                  <a:srgbClr val="000000"/>
                </a:solidFill>
                <a:latin typeface="Arial"/>
                <a:ea typeface="DejaVu Sans"/>
              </a:rPr>
              <a:t> </a:t>
            </a:r>
            <a:r>
              <a:rPr b="0" lang="en-IN" sz="2400" spc="-1" strike="noStrike">
                <a:solidFill>
                  <a:srgbClr val="000000"/>
                </a:solidFill>
                <a:latin typeface="Arial"/>
                <a:ea typeface="DejaVu Sans"/>
              </a:rPr>
              <a:t>Distant objects: use standard candles </a:t>
            </a:r>
            <a:r>
              <a:rPr b="1" lang="en-IN" sz="2400" spc="-1" strike="noStrike">
                <a:solidFill>
                  <a:srgbClr val="000000"/>
                </a:solidFill>
                <a:latin typeface="Arial"/>
                <a:ea typeface="DejaVu Sans"/>
              </a:rPr>
              <a:t>(known luminosity </a:t>
            </a:r>
            <a:r>
              <a:rPr b="1" i="1" lang="en-IN" sz="2400" spc="-1" strike="noStrike">
                <a:solidFill>
                  <a:srgbClr val="000000"/>
                </a:solidFill>
                <a:latin typeface="Arial"/>
                <a:ea typeface="DejaVu Sans"/>
              </a:rPr>
              <a:t>L</a:t>
            </a:r>
            <a:r>
              <a:rPr b="1" lang="en-IN" sz="2400" spc="-1" strike="noStrike">
                <a:solidFill>
                  <a:srgbClr val="000000"/>
                </a:solidFill>
                <a:latin typeface="Arial"/>
                <a:ea typeface="DejaVu Sans"/>
              </a:rPr>
              <a:t>).</a:t>
            </a:r>
            <a:endParaRPr b="0" lang="en-IN" sz="2400" spc="-1" strike="noStrike">
              <a:latin typeface="Arial"/>
            </a:endParaRPr>
          </a:p>
          <a:p>
            <a:pPr marL="216000" indent="-216000">
              <a:lnSpc>
                <a:spcPct val="100000"/>
              </a:lnSpc>
              <a:spcBef>
                <a:spcPts val="1191"/>
              </a:spcBef>
              <a:spcAft>
                <a:spcPts val="992"/>
              </a:spcAft>
              <a:buClr>
                <a:srgbClr val="000000"/>
              </a:buClr>
              <a:buFont typeface="Wingdings" charset="2"/>
              <a:buChar char=""/>
            </a:pPr>
            <a:r>
              <a:rPr b="0" lang="en-IN" sz="2400" spc="-1" strike="noStrike">
                <a:solidFill>
                  <a:srgbClr val="000000"/>
                </a:solidFill>
                <a:latin typeface="Arial"/>
                <a:ea typeface="DejaVu Sans"/>
              </a:rPr>
              <a:t> </a:t>
            </a:r>
            <a:r>
              <a:rPr b="0" lang="en-IN" sz="2400" spc="-1" strike="noStrike">
                <a:solidFill>
                  <a:srgbClr val="000000"/>
                </a:solidFill>
                <a:latin typeface="Arial"/>
                <a:ea typeface="DejaVu Sans"/>
              </a:rPr>
              <a:t>Measure observed flux F at Earth.</a:t>
            </a:r>
            <a:endParaRPr b="0" lang="en-IN" sz="2400" spc="-1" strike="noStrike">
              <a:latin typeface="Arial"/>
            </a:endParaRPr>
          </a:p>
          <a:p>
            <a:pPr marL="216000" indent="-216000">
              <a:lnSpc>
                <a:spcPct val="100000"/>
              </a:lnSpc>
              <a:spcBef>
                <a:spcPts val="1191"/>
              </a:spcBef>
              <a:spcAft>
                <a:spcPts val="992"/>
              </a:spcAft>
              <a:buClr>
                <a:srgbClr val="000000"/>
              </a:buClr>
              <a:buFont typeface="Wingdings" charset="2"/>
              <a:buChar char=""/>
            </a:pPr>
            <a:r>
              <a:rPr b="0" lang="en-IN" sz="2400" spc="-1" strike="noStrike">
                <a:solidFill>
                  <a:srgbClr val="000000"/>
                </a:solidFill>
                <a:latin typeface="Arial"/>
                <a:ea typeface="DejaVu Sans"/>
              </a:rPr>
              <a:t> </a:t>
            </a:r>
            <a:r>
              <a:rPr b="0" lang="en-IN" sz="2400" spc="-1" strike="noStrike">
                <a:solidFill>
                  <a:srgbClr val="000000"/>
                </a:solidFill>
                <a:latin typeface="Arial"/>
                <a:ea typeface="DejaVu Sans"/>
              </a:rPr>
              <a:t>Apply inverse-square law: </a:t>
            </a:r>
            <a:r>
              <a:rPr b="1" i="1" lang="en-IN" sz="2400" spc="-1" strike="noStrike">
                <a:solidFill>
                  <a:srgbClr val="000000"/>
                </a:solidFill>
                <a:latin typeface="Arial"/>
                <a:ea typeface="DejaVu Sans"/>
              </a:rPr>
              <a:t>F = L / 4πR²</a:t>
            </a:r>
            <a:r>
              <a:rPr b="0" lang="en-IN" sz="2400" spc="-1" strike="noStrike">
                <a:solidFill>
                  <a:srgbClr val="000000"/>
                </a:solidFill>
                <a:latin typeface="Arial"/>
                <a:ea typeface="DejaVu Sans"/>
              </a:rPr>
              <a:t>.</a:t>
            </a:r>
            <a:endParaRPr b="0" lang="en-IN" sz="2400" spc="-1" strike="noStrike">
              <a:latin typeface="Arial"/>
            </a:endParaRPr>
          </a:p>
          <a:p>
            <a:pPr marL="216000" indent="-216000">
              <a:lnSpc>
                <a:spcPct val="100000"/>
              </a:lnSpc>
              <a:spcBef>
                <a:spcPts val="1191"/>
              </a:spcBef>
              <a:spcAft>
                <a:spcPts val="992"/>
              </a:spcAft>
              <a:buClr>
                <a:srgbClr val="000000"/>
              </a:buClr>
              <a:buFont typeface="Wingdings" charset="2"/>
              <a:buChar char=""/>
            </a:pPr>
            <a:r>
              <a:rPr b="0" lang="en-IN" sz="2400" spc="-1" strike="noStrike">
                <a:solidFill>
                  <a:srgbClr val="000000"/>
                </a:solidFill>
                <a:latin typeface="Arial"/>
                <a:ea typeface="DejaVu Sans"/>
              </a:rPr>
              <a:t> </a:t>
            </a:r>
            <a:r>
              <a:rPr b="0" lang="en-IN" sz="2400" spc="-1" strike="noStrike">
                <a:solidFill>
                  <a:srgbClr val="000000"/>
                </a:solidFill>
                <a:latin typeface="Arial"/>
                <a:ea typeface="DejaVu Sans"/>
              </a:rPr>
              <a:t>Each method works over a limited range.</a:t>
            </a:r>
            <a:endParaRPr b="0" lang="en-IN" sz="2400" spc="-1" strike="noStrike">
              <a:latin typeface="Arial"/>
            </a:endParaRPr>
          </a:p>
          <a:p>
            <a:pPr marL="216000" indent="-216000">
              <a:lnSpc>
                <a:spcPct val="100000"/>
              </a:lnSpc>
              <a:spcBef>
                <a:spcPts val="1191"/>
              </a:spcBef>
              <a:spcAft>
                <a:spcPts val="992"/>
              </a:spcAft>
              <a:buClr>
                <a:srgbClr val="000000"/>
              </a:buClr>
              <a:buFont typeface="Wingdings" charset="2"/>
              <a:buChar char=""/>
            </a:pPr>
            <a:r>
              <a:rPr b="0" lang="en-IN" sz="2400" spc="-1" strike="noStrike">
                <a:solidFill>
                  <a:srgbClr val="000000"/>
                </a:solidFill>
                <a:latin typeface="Arial"/>
                <a:ea typeface="DejaVu Sans"/>
              </a:rPr>
              <a:t> </a:t>
            </a:r>
            <a:r>
              <a:rPr b="0" lang="en-IN" sz="2400" spc="-1" strike="noStrike">
                <a:solidFill>
                  <a:srgbClr val="000000"/>
                </a:solidFill>
                <a:latin typeface="Arial"/>
                <a:ea typeface="DejaVu Sans"/>
              </a:rPr>
              <a:t>Combining methods forms the cosmic distance ladder.</a:t>
            </a:r>
            <a:endParaRPr b="0" lang="en-IN" sz="2400" spc="-1" strike="noStrike">
              <a:latin typeface="Arial"/>
            </a:endParaRPr>
          </a:p>
          <a:p>
            <a:pPr>
              <a:lnSpc>
                <a:spcPct val="100000"/>
              </a:lnSpc>
              <a:buNone/>
            </a:pPr>
            <a:endParaRPr b="0" lang="en-IN" sz="1000" spc="-1" strike="noStrike">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48" name="" descr=""/>
          <p:cNvPicPr/>
          <p:nvPr/>
        </p:nvPicPr>
        <p:blipFill>
          <a:blip r:embed="rId1"/>
          <a:stretch/>
        </p:blipFill>
        <p:spPr>
          <a:xfrm>
            <a:off x="426960" y="199800"/>
            <a:ext cx="8571600" cy="9158760"/>
          </a:xfrm>
          <a:prstGeom prst="rect">
            <a:avLst/>
          </a:prstGeom>
          <a:ln w="0">
            <a:noFill/>
          </a:ln>
        </p:spPr>
      </p:pic>
      <p:pic>
        <p:nvPicPr>
          <p:cNvPr id="249" name="" descr=""/>
          <p:cNvPicPr/>
          <p:nvPr/>
        </p:nvPicPr>
        <p:blipFill>
          <a:blip r:embed="rId2"/>
          <a:stretch/>
        </p:blipFill>
        <p:spPr>
          <a:xfrm>
            <a:off x="9360000" y="3060000"/>
            <a:ext cx="3058560" cy="3483000"/>
          </a:xfrm>
          <a:prstGeom prst="rect">
            <a:avLst/>
          </a:prstGeom>
          <a:ln w="0">
            <a:noFill/>
          </a:ln>
        </p:spPr>
      </p:pic>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50" name="" descr=""/>
          <p:cNvPicPr/>
          <p:nvPr/>
        </p:nvPicPr>
        <p:blipFill>
          <a:blip r:embed="rId1"/>
          <a:stretch/>
        </p:blipFill>
        <p:spPr>
          <a:xfrm>
            <a:off x="1584000" y="1605960"/>
            <a:ext cx="10471320" cy="5156280"/>
          </a:xfrm>
          <a:prstGeom prst="rect">
            <a:avLst/>
          </a:prstGeom>
          <a:ln w="0">
            <a:noFill/>
          </a:ln>
        </p:spPr>
      </p:pic>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
          <p:cNvSpPr/>
          <p:nvPr/>
        </p:nvSpPr>
        <p:spPr>
          <a:xfrm>
            <a:off x="116640" y="720000"/>
            <a:ext cx="12886560" cy="3095280"/>
          </a:xfrm>
          <a:prstGeom prst="rect">
            <a:avLst/>
          </a:prstGeom>
          <a:noFill/>
          <a:ln w="0">
            <a:noFill/>
          </a:ln>
        </p:spPr>
        <p:style>
          <a:lnRef idx="0"/>
          <a:fillRef idx="0"/>
          <a:effectRef idx="0"/>
          <a:fontRef idx="minor"/>
        </p:style>
        <p:txBody>
          <a:bodyPr lIns="90000" rIns="90000" tIns="45000" bIns="45000" anchor="t">
            <a:noAutofit/>
          </a:bodyPr>
          <a:p>
            <a:pPr marL="216000" indent="-216000">
              <a:lnSpc>
                <a:spcPct val="100000"/>
              </a:lnSpc>
              <a:spcBef>
                <a:spcPts val="1191"/>
              </a:spcBef>
              <a:spcAft>
                <a:spcPts val="992"/>
              </a:spcAft>
              <a:buClr>
                <a:srgbClr val="000000"/>
              </a:buClr>
              <a:buSzPct val="45000"/>
              <a:buFont typeface="Wingdings" charset="2"/>
              <a:buChar char=""/>
            </a:pPr>
            <a:r>
              <a:rPr b="1" lang="en-IN" sz="2800" spc="-1" strike="noStrike">
                <a:solidFill>
                  <a:srgbClr val="000000"/>
                </a:solidFill>
                <a:latin typeface="Arial"/>
                <a:ea typeface="DejaVu Sans"/>
              </a:rPr>
              <a:t>Cepheid Variables (Standard Candles)</a:t>
            </a:r>
            <a:endParaRPr b="0" lang="en-IN" sz="28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DejaVu Sans"/>
              </a:rPr>
              <a:t>Cepheids are periodically pulsating stars used to measure distances up to a few × 10 Mpc.</a:t>
            </a:r>
            <a:endParaRPr b="0" lang="en-IN" sz="24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DejaVu Sans"/>
              </a:rPr>
              <a:t>In 1912, </a:t>
            </a:r>
            <a:r>
              <a:rPr b="1" lang="en-IN" sz="2400" spc="-1" strike="noStrike">
                <a:solidFill>
                  <a:srgbClr val="000000"/>
                </a:solidFill>
                <a:latin typeface="Arial"/>
                <a:ea typeface="DejaVu Sans"/>
              </a:rPr>
              <a:t>Henrietta Swan Leavitt </a:t>
            </a:r>
            <a:r>
              <a:rPr b="0" lang="en-IN" sz="2400" spc="-1" strike="noStrike">
                <a:solidFill>
                  <a:srgbClr val="000000"/>
                </a:solidFill>
                <a:latin typeface="Arial"/>
                <a:ea typeface="DejaVu Sans"/>
              </a:rPr>
              <a:t>discovered the</a:t>
            </a:r>
            <a:r>
              <a:rPr b="1" lang="en-IN" sz="2400" spc="-1" strike="noStrike">
                <a:solidFill>
                  <a:srgbClr val="000000"/>
                </a:solidFill>
                <a:latin typeface="Arial"/>
                <a:ea typeface="DejaVu Sans"/>
              </a:rPr>
              <a:t> Period–Luminosity relation</a:t>
            </a:r>
            <a:r>
              <a:rPr b="0" lang="en-IN" sz="2400" spc="-1" strike="noStrike">
                <a:solidFill>
                  <a:srgbClr val="000000"/>
                </a:solidFill>
                <a:latin typeface="Arial"/>
                <a:ea typeface="DejaVu Sans"/>
              </a:rPr>
              <a:t> in the Small Magellanic Cloud.</a:t>
            </a:r>
            <a:endParaRPr b="0" lang="en-IN" sz="24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DejaVu Sans"/>
              </a:rPr>
              <a:t>Period–Luminosity relation:</a:t>
            </a:r>
            <a:r>
              <a:rPr b="1" i="1" lang="en-IN" sz="2400" spc="-1" strike="noStrike">
                <a:solidFill>
                  <a:srgbClr val="000000"/>
                </a:solidFill>
                <a:latin typeface="Arial"/>
                <a:ea typeface="DejaVu Sans"/>
              </a:rPr>
              <a:t> L∝ P (longer period → higher luminosity).</a:t>
            </a:r>
            <a:endParaRPr b="0" lang="en-IN" sz="2400" spc="-1" strike="noStrike">
              <a:latin typeface="Arial"/>
            </a:endParaRPr>
          </a:p>
          <a:p>
            <a:pPr>
              <a:lnSpc>
                <a:spcPct val="100000"/>
              </a:lnSpc>
              <a:buNone/>
            </a:pPr>
            <a:endParaRPr b="0" lang="en-IN" sz="1000" spc="-1" strike="noStrike">
              <a:latin typeface="Arial"/>
            </a:endParaRPr>
          </a:p>
        </p:txBody>
      </p:sp>
      <p:pic>
        <p:nvPicPr>
          <p:cNvPr id="252" name="" descr=""/>
          <p:cNvPicPr/>
          <p:nvPr/>
        </p:nvPicPr>
        <p:blipFill>
          <a:blip r:embed="rId1"/>
          <a:stretch/>
        </p:blipFill>
        <p:spPr>
          <a:xfrm>
            <a:off x="2160000" y="4860000"/>
            <a:ext cx="2698560" cy="3072960"/>
          </a:xfrm>
          <a:prstGeom prst="rect">
            <a:avLst/>
          </a:prstGeom>
          <a:ln w="0">
            <a:noFill/>
          </a:ln>
        </p:spPr>
      </p:pic>
      <p:pic>
        <p:nvPicPr>
          <p:cNvPr id="253" name="" descr=""/>
          <p:cNvPicPr/>
          <p:nvPr/>
        </p:nvPicPr>
        <p:blipFill>
          <a:blip r:embed="rId2"/>
          <a:stretch/>
        </p:blipFill>
        <p:spPr>
          <a:xfrm>
            <a:off x="6736320" y="3854880"/>
            <a:ext cx="3522240" cy="4603680"/>
          </a:xfrm>
          <a:prstGeom prst="rect">
            <a:avLst/>
          </a:prstGeom>
          <a:ln w="0">
            <a:noFill/>
          </a:ln>
        </p:spPr>
      </p:pic>
      <p:sp>
        <p:nvSpPr>
          <p:cNvPr id="254" name="CustomShape 56"/>
          <p:cNvSpPr/>
          <p:nvPr/>
        </p:nvSpPr>
        <p:spPr>
          <a:xfrm>
            <a:off x="7816320" y="8807760"/>
            <a:ext cx="2380320" cy="37080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IN" sz="1500" spc="-1" strike="noStrike">
                <a:solidFill>
                  <a:srgbClr val="000000"/>
                </a:solidFill>
                <a:latin typeface="Arial"/>
                <a:ea typeface="DejaVu Sans"/>
              </a:rPr>
              <a:t>Henrietta Swan Leavitt</a:t>
            </a:r>
            <a:endParaRPr b="0" lang="en-IN" sz="1500" spc="-1" strike="noStrike">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55" name="" descr=""/>
          <p:cNvPicPr/>
          <p:nvPr/>
        </p:nvPicPr>
        <p:blipFill>
          <a:blip r:embed="rId1"/>
          <a:stretch/>
        </p:blipFill>
        <p:spPr>
          <a:xfrm>
            <a:off x="5838840" y="254520"/>
            <a:ext cx="6899400" cy="7299720"/>
          </a:xfrm>
          <a:prstGeom prst="rect">
            <a:avLst/>
          </a:prstGeom>
          <a:ln w="0">
            <a:noFill/>
          </a:ln>
        </p:spPr>
      </p:pic>
      <p:sp>
        <p:nvSpPr>
          <p:cNvPr id="256" name="CustomShape 57"/>
          <p:cNvSpPr/>
          <p:nvPr/>
        </p:nvSpPr>
        <p:spPr>
          <a:xfrm>
            <a:off x="5760000" y="7572240"/>
            <a:ext cx="7014240" cy="206172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buNone/>
            </a:pPr>
            <a:r>
              <a:rPr b="0" lang="en-IN" sz="2000" spc="-1" strike="noStrike">
                <a:solidFill>
                  <a:srgbClr val="000000"/>
                </a:solidFill>
                <a:latin typeface="Arial"/>
                <a:ea typeface="DejaVu Sans"/>
              </a:rPr>
              <a:t>Plot from a paper by </a:t>
            </a:r>
            <a:r>
              <a:rPr b="1" i="1" lang="en-IN" sz="2000" spc="-1" strike="noStrike">
                <a:solidFill>
                  <a:srgbClr val="000000"/>
                </a:solidFill>
                <a:latin typeface="Arial"/>
                <a:ea typeface="DejaVu Sans"/>
              </a:rPr>
              <a:t>Leavitt in 1912.</a:t>
            </a:r>
            <a:endParaRPr b="0" lang="en-IN" sz="2000" spc="-1" strike="noStrike">
              <a:latin typeface="Arial"/>
            </a:endParaRPr>
          </a:p>
          <a:p>
            <a:pPr algn="just">
              <a:lnSpc>
                <a:spcPct val="100000"/>
              </a:lnSpc>
              <a:buNone/>
            </a:pPr>
            <a:r>
              <a:rPr b="0" lang="en-IN" sz="2000" spc="-1" strike="noStrike">
                <a:solidFill>
                  <a:srgbClr val="000000"/>
                </a:solidFill>
                <a:latin typeface="Arial"/>
                <a:ea typeface="DejaVu Sans"/>
              </a:rPr>
              <a:t>The horizontal axis is the logarithm of the </a:t>
            </a:r>
            <a:r>
              <a:rPr b="1" lang="en-IN" sz="2000" spc="-1" strike="noStrike">
                <a:solidFill>
                  <a:srgbClr val="000000"/>
                </a:solidFill>
                <a:latin typeface="Arial"/>
                <a:ea typeface="DejaVu Sans"/>
              </a:rPr>
              <a:t>period </a:t>
            </a:r>
            <a:r>
              <a:rPr b="0" lang="en-IN" sz="2000" spc="-1" strike="noStrike">
                <a:solidFill>
                  <a:srgbClr val="000000"/>
                </a:solidFill>
                <a:latin typeface="Arial"/>
                <a:ea typeface="DejaVu Sans"/>
              </a:rPr>
              <a:t>of the corresponding Cepheid, and the vertical axis is its </a:t>
            </a:r>
            <a:r>
              <a:rPr b="1" lang="en-IN" sz="2000" spc="-1" strike="noStrike">
                <a:solidFill>
                  <a:srgbClr val="000000"/>
                </a:solidFill>
                <a:latin typeface="Arial"/>
                <a:ea typeface="DejaVu Sans"/>
              </a:rPr>
              <a:t>magnitude.</a:t>
            </a:r>
            <a:r>
              <a:rPr b="0" lang="en-IN" sz="2000" spc="-1" strike="noStrike">
                <a:solidFill>
                  <a:srgbClr val="000000"/>
                </a:solidFill>
                <a:latin typeface="Arial"/>
                <a:ea typeface="DejaVu Sans"/>
              </a:rPr>
              <a:t> The lines connect points corresponding to the stars' minimum and maximum brightness. Credit: Leavitt and Pickering; via Wikipedia.</a:t>
            </a:r>
            <a:endParaRPr b="0" lang="en-IN" sz="2000" spc="-1" strike="noStrike">
              <a:latin typeface="Arial"/>
            </a:endParaRPr>
          </a:p>
        </p:txBody>
      </p:sp>
      <p:pic>
        <p:nvPicPr>
          <p:cNvPr id="257" name="" descr=""/>
          <p:cNvPicPr/>
          <p:nvPr/>
        </p:nvPicPr>
        <p:blipFill>
          <a:blip r:embed="rId2"/>
          <a:stretch/>
        </p:blipFill>
        <p:spPr>
          <a:xfrm>
            <a:off x="504000" y="792000"/>
            <a:ext cx="5041080" cy="6586560"/>
          </a:xfrm>
          <a:prstGeom prst="rect">
            <a:avLst/>
          </a:prstGeom>
          <a:ln w="0">
            <a:noFill/>
          </a:ln>
        </p:spPr>
      </p:pic>
      <p:sp>
        <p:nvSpPr>
          <p:cNvPr id="258" name=""/>
          <p:cNvSpPr/>
          <p:nvPr/>
        </p:nvSpPr>
        <p:spPr>
          <a:xfrm>
            <a:off x="288000" y="7849800"/>
            <a:ext cx="5397120" cy="151452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buNone/>
            </a:pPr>
            <a:r>
              <a:rPr b="0" lang="en-IN" sz="2100" spc="-1" strike="noStrike">
                <a:solidFill>
                  <a:srgbClr val="000000"/>
                </a:solidFill>
                <a:latin typeface="Arial"/>
                <a:ea typeface="DejaVu Sans"/>
              </a:rPr>
              <a:t>In 1908 she published her results in the Annals of the Astronomical Observatory of Harvard College, noting that the brighter variables had the longer period</a:t>
            </a:r>
            <a:endParaRPr b="0" lang="en-IN" sz="2100" spc="-1" strike="noStrike">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59" name="" descr=""/>
          <p:cNvPicPr/>
          <p:nvPr/>
        </p:nvPicPr>
        <p:blipFill>
          <a:blip r:embed="rId1"/>
          <a:stretch/>
        </p:blipFill>
        <p:spPr>
          <a:xfrm>
            <a:off x="1368000" y="1296000"/>
            <a:ext cx="10471320" cy="5280120"/>
          </a:xfrm>
          <a:prstGeom prst="rect">
            <a:avLst/>
          </a:prstGeom>
          <a:ln w="0">
            <a:noFill/>
          </a:ln>
        </p:spPr>
      </p:pic>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60" name="" descr=""/>
          <p:cNvPicPr/>
          <p:nvPr/>
        </p:nvPicPr>
        <p:blipFill>
          <a:blip r:embed="rId1"/>
          <a:stretch/>
        </p:blipFill>
        <p:spPr>
          <a:xfrm>
            <a:off x="1620000" y="4500000"/>
            <a:ext cx="5038200" cy="4893840"/>
          </a:xfrm>
          <a:prstGeom prst="rect">
            <a:avLst/>
          </a:prstGeom>
          <a:ln w="0">
            <a:noFill/>
          </a:ln>
        </p:spPr>
      </p:pic>
      <p:sp>
        <p:nvSpPr>
          <p:cNvPr id="261" name="CustomShape 58"/>
          <p:cNvSpPr/>
          <p:nvPr/>
        </p:nvSpPr>
        <p:spPr>
          <a:xfrm>
            <a:off x="7200000" y="6190920"/>
            <a:ext cx="5250240" cy="208764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IN" sz="1800" spc="-1" strike="noStrike">
                <a:solidFill>
                  <a:srgbClr val="000000"/>
                </a:solidFill>
                <a:latin typeface="Arial"/>
                <a:ea typeface="DejaVu Sans"/>
              </a:rPr>
              <a:t>Relative distance between two galaxy clusters from TF-relation; </a:t>
            </a:r>
            <a:endParaRPr b="0" lang="en-IN" sz="1800" spc="-1" strike="noStrike">
              <a:latin typeface="Arial"/>
            </a:endParaRPr>
          </a:p>
          <a:p>
            <a:pPr>
              <a:lnSpc>
                <a:spcPct val="100000"/>
              </a:lnSpc>
              <a:buNone/>
            </a:pPr>
            <a:endParaRPr b="0" lang="en-IN" sz="1800" spc="-1" strike="noStrike">
              <a:latin typeface="Arial"/>
            </a:endParaRPr>
          </a:p>
          <a:p>
            <a:pPr>
              <a:lnSpc>
                <a:spcPct val="100000"/>
              </a:lnSpc>
              <a:buNone/>
            </a:pPr>
            <a:r>
              <a:rPr b="0" lang="en-IN" sz="1800" spc="-1" strike="noStrike">
                <a:solidFill>
                  <a:srgbClr val="000000"/>
                </a:solidFill>
                <a:latin typeface="Arial"/>
                <a:ea typeface="DejaVu Sans"/>
              </a:rPr>
              <a:t>Abel1367 (lower) and Fornax (upper).</a:t>
            </a:r>
            <a:endParaRPr b="0" lang="en-IN" sz="1800" spc="-1" strike="noStrike">
              <a:latin typeface="Arial"/>
            </a:endParaRPr>
          </a:p>
          <a:p>
            <a:pPr>
              <a:lnSpc>
                <a:spcPct val="100000"/>
              </a:lnSpc>
              <a:buNone/>
            </a:pPr>
            <a:endParaRPr b="0" lang="en-IN" sz="1800" spc="-1" strike="noStrike">
              <a:latin typeface="Arial"/>
            </a:endParaRPr>
          </a:p>
          <a:p>
            <a:pPr>
              <a:lnSpc>
                <a:spcPct val="100000"/>
              </a:lnSpc>
              <a:buNone/>
            </a:pPr>
            <a:r>
              <a:rPr b="0" lang="en-IN" sz="1800" spc="-1" strike="noStrike">
                <a:solidFill>
                  <a:srgbClr val="000000"/>
                </a:solidFill>
                <a:latin typeface="Arial"/>
                <a:ea typeface="DejaVu Sans"/>
              </a:rPr>
              <a:t>(source noao.edu)</a:t>
            </a:r>
            <a:endParaRPr b="0" lang="en-IN" sz="1800" spc="-1" strike="noStrike">
              <a:latin typeface="Arial"/>
            </a:endParaRPr>
          </a:p>
        </p:txBody>
      </p:sp>
      <p:sp>
        <p:nvSpPr>
          <p:cNvPr id="262" name=""/>
          <p:cNvSpPr/>
          <p:nvPr/>
        </p:nvSpPr>
        <p:spPr>
          <a:xfrm>
            <a:off x="2028960" y="266400"/>
            <a:ext cx="7869600" cy="40521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1" lang="en-IN" sz="2800" spc="-1" strike="noStrike">
                <a:solidFill>
                  <a:srgbClr val="000000"/>
                </a:solidFill>
                <a:latin typeface="Arial"/>
                <a:ea typeface="DejaVu Sans"/>
              </a:rPr>
              <a:t>Tully–Fisher Relation (Spiral Galaxies)</a:t>
            </a:r>
            <a:endParaRPr b="0" lang="en-IN" sz="28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DejaVu Sans"/>
              </a:rPr>
              <a:t>Links luminosity of a spiral galaxy to its rotation velocity (from spectral line width).</a:t>
            </a:r>
            <a:endParaRPr b="0" lang="en-IN" sz="24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Noto Sans CJK SC"/>
              </a:rPr>
              <a:t>Empirical relation: L∝V</a:t>
            </a:r>
            <a:r>
              <a:rPr b="0" lang="en-IN" sz="2400" spc="-1" strike="noStrike" baseline="33000">
                <a:solidFill>
                  <a:srgbClr val="000000"/>
                </a:solidFill>
                <a:latin typeface="Arial"/>
                <a:ea typeface="Noto Sans CJK SC"/>
              </a:rPr>
              <a:t>α</a:t>
            </a:r>
            <a:r>
              <a:rPr b="0" lang="en-IN" sz="2400" spc="-1" strike="noStrike" baseline="-8000">
                <a:solidFill>
                  <a:srgbClr val="000000"/>
                </a:solidFill>
                <a:latin typeface="Arial"/>
                <a:ea typeface="Noto Sans CJK SC"/>
              </a:rPr>
              <a:t>rot</a:t>
            </a:r>
            <a:endParaRPr b="0" lang="en-IN" sz="24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Noto Sans CJK SC"/>
              </a:rPr>
              <a:t>More luminous → faster is its rotation</a:t>
            </a:r>
            <a:endParaRPr b="0" lang="en-IN" sz="24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Noto Sans CJK SC"/>
              </a:rPr>
              <a:t>Used as a standard candle to measure inter-galactic distances (since 1977).</a:t>
            </a:r>
            <a:endParaRPr b="0" lang="en-IN" sz="2400" spc="-1" strike="noStrike">
              <a:latin typeface="Arial"/>
            </a:endParaRPr>
          </a:p>
          <a:p>
            <a:pPr>
              <a:lnSpc>
                <a:spcPct val="100000"/>
              </a:lnSpc>
              <a:buNone/>
            </a:pPr>
            <a:endParaRPr b="0" lang="en-IN" sz="1000" spc="-1" strike="noStrike">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63" name="" descr=""/>
          <p:cNvPicPr/>
          <p:nvPr/>
        </p:nvPicPr>
        <p:blipFill>
          <a:blip r:embed="rId1"/>
          <a:stretch/>
        </p:blipFill>
        <p:spPr>
          <a:xfrm>
            <a:off x="1069920" y="288000"/>
            <a:ext cx="9652320" cy="4241880"/>
          </a:xfrm>
          <a:prstGeom prst="rect">
            <a:avLst/>
          </a:prstGeom>
          <a:ln w="0">
            <a:noFill/>
          </a:ln>
        </p:spPr>
      </p:pic>
      <p:sp>
        <p:nvSpPr>
          <p:cNvPr id="264" name=""/>
          <p:cNvSpPr/>
          <p:nvPr/>
        </p:nvSpPr>
        <p:spPr>
          <a:xfrm>
            <a:off x="468000" y="4824000"/>
            <a:ext cx="12115440" cy="457920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1" lang="en-IN" sz="2800" spc="-1" strike="noStrike">
                <a:solidFill>
                  <a:srgbClr val="000000"/>
                </a:solidFill>
                <a:latin typeface="Arial"/>
                <a:ea typeface="DejaVu Sans"/>
              </a:rPr>
              <a:t>Type Ia Supernova (Standard Candle)</a:t>
            </a:r>
            <a:endParaRPr b="0" lang="en-IN" sz="28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DejaVu Sans"/>
              </a:rPr>
              <a:t>Type Ia supernova: core collapse/explosion of a white dwarf in a binary system.</a:t>
            </a:r>
            <a:endParaRPr b="0" lang="en-IN" sz="24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1" i="1" lang="en-IN" sz="2200" spc="-1" strike="noStrike">
                <a:solidFill>
                  <a:srgbClr val="000000"/>
                </a:solidFill>
                <a:latin typeface="Arial"/>
                <a:ea typeface="DejaVu Sans"/>
              </a:rPr>
              <a:t>Produces a consistent peak luminosity linked to the Chandrasekhar limit ≈1.4 M</a:t>
            </a:r>
            <a:r>
              <a:rPr b="1" i="1" lang="en-IN" sz="2200" spc="-1" strike="noStrike" baseline="-8000">
                <a:solidFill>
                  <a:srgbClr val="000000"/>
                </a:solidFill>
                <a:latin typeface="Arial"/>
                <a:ea typeface="DejaVu Sans"/>
              </a:rPr>
              <a:t>⊙</a:t>
            </a:r>
            <a:r>
              <a:rPr b="1" i="1" lang="en-IN" sz="2200" spc="-1" strike="noStrike">
                <a:solidFill>
                  <a:srgbClr val="000000"/>
                </a:solidFill>
                <a:latin typeface="Arial"/>
                <a:ea typeface="DejaVu Sans"/>
              </a:rPr>
              <a:t>.</a:t>
            </a:r>
            <a:endParaRPr b="0" lang="en-IN" sz="22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DejaVu Sans"/>
              </a:rPr>
              <a:t>Chandrasekhar limit: above this mass the white dwarf reignites → triggers supernova.</a:t>
            </a:r>
            <a:endParaRPr b="0" lang="en-IN" sz="24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DejaVu Sans"/>
              </a:rPr>
              <a:t>Observed light curve gives accurate peak luminosity → distance via m−M=5log⁡(d)−5</a:t>
            </a:r>
            <a:endParaRPr b="0" lang="en-IN" sz="24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DejaVu Sans"/>
              </a:rPr>
              <a:t>Advantage: visible to extremely large distances∼10</a:t>
            </a:r>
            <a:r>
              <a:rPr b="0" lang="en-IN" sz="2400" spc="-1" strike="noStrike" baseline="33000">
                <a:solidFill>
                  <a:srgbClr val="000000"/>
                </a:solidFill>
                <a:latin typeface="Arial"/>
                <a:ea typeface="DejaVu Sans"/>
              </a:rPr>
              <a:t>10</a:t>
            </a:r>
            <a:r>
              <a:rPr b="0" lang="en-IN" sz="2400" spc="-1" strike="noStrike">
                <a:solidFill>
                  <a:srgbClr val="000000"/>
                </a:solidFill>
                <a:latin typeface="Arial"/>
                <a:ea typeface="DejaVu Sans"/>
              </a:rPr>
              <a:t> ly ≈3000 Mpc.</a:t>
            </a:r>
            <a:endParaRPr b="0" lang="en-IN" sz="24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DejaVu Sans"/>
              </a:rPr>
              <a:t>Limitation: transient events → must be caught when they go off.</a:t>
            </a:r>
            <a:endParaRPr b="0" lang="en-IN" sz="2400" spc="-1" strike="noStrike">
              <a:latin typeface="Arial"/>
            </a:endParaRPr>
          </a:p>
          <a:p>
            <a:pPr>
              <a:lnSpc>
                <a:spcPct val="100000"/>
              </a:lnSpc>
              <a:buNone/>
            </a:pPr>
            <a:endParaRPr b="0" lang="en-IN" sz="1000" spc="-1" strike="noStrike">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65" name="" descr=""/>
          <p:cNvPicPr/>
          <p:nvPr/>
        </p:nvPicPr>
        <p:blipFill>
          <a:blip r:embed="rId1"/>
          <a:stretch/>
        </p:blipFill>
        <p:spPr>
          <a:xfrm>
            <a:off x="540000" y="180000"/>
            <a:ext cx="6186600" cy="4498560"/>
          </a:xfrm>
          <a:prstGeom prst="rect">
            <a:avLst/>
          </a:prstGeom>
          <a:ln w="0">
            <a:noFill/>
          </a:ln>
        </p:spPr>
      </p:pic>
      <p:pic>
        <p:nvPicPr>
          <p:cNvPr id="266" name="" descr=""/>
          <p:cNvPicPr/>
          <p:nvPr/>
        </p:nvPicPr>
        <p:blipFill>
          <a:blip r:embed="rId2"/>
          <a:stretch/>
        </p:blipFill>
        <p:spPr>
          <a:xfrm>
            <a:off x="7200000" y="360000"/>
            <a:ext cx="5397480" cy="3958560"/>
          </a:xfrm>
          <a:prstGeom prst="rect">
            <a:avLst/>
          </a:prstGeom>
          <a:ln w="0">
            <a:noFill/>
          </a:ln>
        </p:spPr>
      </p:pic>
      <p:sp>
        <p:nvSpPr>
          <p:cNvPr id="267" name=""/>
          <p:cNvSpPr/>
          <p:nvPr/>
        </p:nvSpPr>
        <p:spPr>
          <a:xfrm>
            <a:off x="6660000" y="6810120"/>
            <a:ext cx="5763240" cy="110844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spcBef>
                <a:spcPts val="1191"/>
              </a:spcBef>
              <a:spcAft>
                <a:spcPts val="992"/>
              </a:spcAft>
              <a:buNone/>
            </a:pPr>
            <a:r>
              <a:rPr b="0" lang="en-IN" sz="2400" spc="-1" strike="noStrike">
                <a:solidFill>
                  <a:srgbClr val="000000"/>
                </a:solidFill>
                <a:latin typeface="Arial"/>
                <a:ea typeface="DejaVu Sans"/>
              </a:rPr>
              <a:t>Observing the redshifts of galaxies has been critical to understanding the expansion of the universe.</a:t>
            </a:r>
            <a:endParaRPr b="0" lang="en-IN" sz="2400" spc="-1" strike="noStrike">
              <a:latin typeface="Arial"/>
            </a:endParaRPr>
          </a:p>
        </p:txBody>
      </p:sp>
      <p:pic>
        <p:nvPicPr>
          <p:cNvPr id="268" name="" descr=""/>
          <p:cNvPicPr/>
          <p:nvPr/>
        </p:nvPicPr>
        <p:blipFill>
          <a:blip r:embed="rId3"/>
          <a:stretch/>
        </p:blipFill>
        <p:spPr>
          <a:xfrm>
            <a:off x="1260000" y="5286240"/>
            <a:ext cx="3058560" cy="560520"/>
          </a:xfrm>
          <a:prstGeom prst="rect">
            <a:avLst/>
          </a:prstGeom>
          <a:ln w="0">
            <a:noFill/>
          </a:ln>
        </p:spPr>
      </p:pic>
      <p:pic>
        <p:nvPicPr>
          <p:cNvPr id="269" name="" descr=""/>
          <p:cNvPicPr/>
          <p:nvPr/>
        </p:nvPicPr>
        <p:blipFill>
          <a:blip r:embed="rId4"/>
          <a:stretch/>
        </p:blipFill>
        <p:spPr>
          <a:xfrm>
            <a:off x="720000" y="6120000"/>
            <a:ext cx="4846320" cy="1618560"/>
          </a:xfrm>
          <a:prstGeom prst="rect">
            <a:avLst/>
          </a:prstGeom>
          <a:ln w="0">
            <a:noFill/>
          </a:ln>
        </p:spPr>
      </p:pic>
      <p:pic>
        <p:nvPicPr>
          <p:cNvPr id="270" name="" descr=""/>
          <p:cNvPicPr/>
          <p:nvPr/>
        </p:nvPicPr>
        <p:blipFill>
          <a:blip r:embed="rId5"/>
          <a:stretch/>
        </p:blipFill>
        <p:spPr>
          <a:xfrm>
            <a:off x="1620000" y="8258400"/>
            <a:ext cx="2592720" cy="920160"/>
          </a:xfrm>
          <a:prstGeom prst="rect">
            <a:avLst/>
          </a:prstGeom>
          <a:ln w="0">
            <a:noFill/>
          </a:ln>
        </p:spPr>
      </p:pic>
      <p:pic>
        <p:nvPicPr>
          <p:cNvPr id="271" name="" descr=""/>
          <p:cNvPicPr/>
          <p:nvPr/>
        </p:nvPicPr>
        <p:blipFill>
          <a:blip r:embed="rId6"/>
          <a:stretch/>
        </p:blipFill>
        <p:spPr>
          <a:xfrm>
            <a:off x="540000" y="7020000"/>
            <a:ext cx="5215320" cy="965160"/>
          </a:xfrm>
          <a:prstGeom prst="rect">
            <a:avLst/>
          </a:prstGeom>
          <a:ln w="0">
            <a:noFill/>
          </a:ln>
        </p:spPr>
      </p:pic>
      <p:pic>
        <p:nvPicPr>
          <p:cNvPr id="272" name="" descr=""/>
          <p:cNvPicPr/>
          <p:nvPr/>
        </p:nvPicPr>
        <p:blipFill>
          <a:blip r:embed="rId7"/>
          <a:stretch/>
        </p:blipFill>
        <p:spPr>
          <a:xfrm>
            <a:off x="1836000" y="8228160"/>
            <a:ext cx="2268720" cy="1073520"/>
          </a:xfrm>
          <a:prstGeom prst="rect">
            <a:avLst/>
          </a:prstGeom>
          <a:ln w="0">
            <a:noFill/>
          </a:ln>
        </p:spPr>
      </p:pic>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 name="CustomShape 59"/>
          <p:cNvSpPr/>
          <p:nvPr/>
        </p:nvSpPr>
        <p:spPr>
          <a:xfrm>
            <a:off x="2088000" y="201600"/>
            <a:ext cx="8632440" cy="64980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1" lang="en-IN" sz="3600" spc="-1" strike="noStrike">
                <a:solidFill>
                  <a:srgbClr val="000000"/>
                </a:solidFill>
                <a:latin typeface="AnjaliOldLipi"/>
                <a:ea typeface="DejaVu Sans"/>
              </a:rPr>
              <a:t>Discovery of the Expanding Universe</a:t>
            </a:r>
            <a:endParaRPr b="0" lang="en-IN" sz="3600" spc="-1" strike="noStrike">
              <a:latin typeface="Arial"/>
            </a:endParaRPr>
          </a:p>
        </p:txBody>
      </p:sp>
      <p:pic>
        <p:nvPicPr>
          <p:cNvPr id="274" name="" descr=""/>
          <p:cNvPicPr/>
          <p:nvPr/>
        </p:nvPicPr>
        <p:blipFill>
          <a:blip r:embed="rId1"/>
          <a:stretch/>
        </p:blipFill>
        <p:spPr>
          <a:xfrm>
            <a:off x="556200" y="1166760"/>
            <a:ext cx="2676240" cy="3628800"/>
          </a:xfrm>
          <a:prstGeom prst="rect">
            <a:avLst/>
          </a:prstGeom>
          <a:ln w="0">
            <a:noFill/>
          </a:ln>
        </p:spPr>
      </p:pic>
      <p:sp>
        <p:nvSpPr>
          <p:cNvPr id="275" name="CustomShape 60"/>
          <p:cNvSpPr/>
          <p:nvPr/>
        </p:nvSpPr>
        <p:spPr>
          <a:xfrm>
            <a:off x="3420000" y="1260000"/>
            <a:ext cx="9280440" cy="206460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spcBef>
                <a:spcPts val="1191"/>
              </a:spcBef>
              <a:spcAft>
                <a:spcPts val="992"/>
              </a:spcAft>
              <a:buNone/>
            </a:pPr>
            <a:r>
              <a:rPr b="1" lang="en-IN" sz="2800" spc="-1" strike="noStrike">
                <a:solidFill>
                  <a:srgbClr val="000000"/>
                </a:solidFill>
                <a:latin typeface="AnjaliOldLipi"/>
                <a:ea typeface="DejaVu Sans"/>
              </a:rPr>
              <a:t>Vesto M. Slipher</a:t>
            </a:r>
            <a:r>
              <a:rPr b="0" lang="en-IN" sz="2800" spc="-1" strike="noStrike">
                <a:solidFill>
                  <a:srgbClr val="f44336"/>
                </a:solidFill>
                <a:latin typeface="AnjaliOldLipi"/>
                <a:ea typeface="DejaVu Sans"/>
              </a:rPr>
              <a:t> </a:t>
            </a:r>
            <a:r>
              <a:rPr b="0" lang="en-IN" sz="2800" spc="-1" strike="noStrike">
                <a:solidFill>
                  <a:srgbClr val="000000"/>
                </a:solidFill>
                <a:latin typeface="AnjaliOldLipi"/>
                <a:ea typeface="DejaVu Sans"/>
              </a:rPr>
              <a:t>at the Lowell Observatory in Arizona,</a:t>
            </a:r>
            <a:r>
              <a:rPr b="0" lang="en-IN" sz="2800" spc="-1" strike="noStrike">
                <a:solidFill>
                  <a:srgbClr val="f44336"/>
                </a:solidFill>
                <a:latin typeface="AnjaliOldLipi"/>
                <a:ea typeface="DejaVu Sans"/>
              </a:rPr>
              <a:t> </a:t>
            </a:r>
            <a:r>
              <a:rPr b="0" lang="en-IN" sz="2800" spc="-1" strike="noStrike">
                <a:solidFill>
                  <a:srgbClr val="000000"/>
                </a:solidFill>
                <a:latin typeface="AnjaliOldLipi"/>
                <a:ea typeface="DejaVu Sans"/>
              </a:rPr>
              <a:t>measured the spectrum of the Andromeda galaxy in 1912, and by around 1925 he had </a:t>
            </a:r>
            <a:r>
              <a:rPr b="1" i="1" lang="en-IN" sz="2800" spc="-1" strike="noStrike">
                <a:solidFill>
                  <a:srgbClr val="000000"/>
                </a:solidFill>
                <a:latin typeface="AnjaliOldLipi"/>
                <a:ea typeface="DejaVu Sans"/>
              </a:rPr>
              <a:t>measured 45 of these spectra. </a:t>
            </a:r>
            <a:endParaRPr b="0" lang="en-IN" sz="2800" spc="-1" strike="noStrike">
              <a:latin typeface="Arial"/>
            </a:endParaRPr>
          </a:p>
        </p:txBody>
      </p:sp>
      <p:sp>
        <p:nvSpPr>
          <p:cNvPr id="276" name="CustomShape 61"/>
          <p:cNvSpPr/>
          <p:nvPr/>
        </p:nvSpPr>
        <p:spPr>
          <a:xfrm>
            <a:off x="3492000" y="3580200"/>
            <a:ext cx="9064440" cy="166824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spcBef>
                <a:spcPts val="1191"/>
              </a:spcBef>
              <a:spcAft>
                <a:spcPts val="992"/>
              </a:spcAft>
              <a:buNone/>
            </a:pPr>
            <a:r>
              <a:rPr b="0" lang="en-IN" sz="2800" spc="-1" strike="noStrike">
                <a:solidFill>
                  <a:srgbClr val="000000"/>
                </a:solidFill>
                <a:latin typeface="AnjaliOldLipi"/>
                <a:ea typeface="DejaVu Sans"/>
              </a:rPr>
              <a:t>Vesto discovered something very intriguing in these spectra, when </a:t>
            </a:r>
            <a:r>
              <a:rPr b="1" i="1" lang="en-IN" sz="2800" spc="-1" strike="noStrike">
                <a:solidFill>
                  <a:srgbClr val="ff0000"/>
                </a:solidFill>
                <a:latin typeface="AnjaliOldLipi"/>
                <a:ea typeface="DejaVu Sans"/>
              </a:rPr>
              <a:t>he measured the red shift to find radial velocities.</a:t>
            </a:r>
            <a:r>
              <a:rPr b="0" lang="en-IN" sz="2800" spc="-1" strike="noStrike">
                <a:solidFill>
                  <a:srgbClr val="000000"/>
                </a:solidFill>
                <a:latin typeface="AnjaliOldLipi"/>
                <a:ea typeface="DejaVu Sans"/>
              </a:rPr>
              <a:t> With the exception of the Andromeda Galaxy they were all moving away from us.</a:t>
            </a:r>
            <a:endParaRPr b="0" lang="en-IN" sz="2800" spc="-1" strike="noStrike">
              <a:latin typeface="Arial"/>
            </a:endParaRPr>
          </a:p>
        </p:txBody>
      </p:sp>
      <p:sp>
        <p:nvSpPr>
          <p:cNvPr id="277" name="CustomShape 62"/>
          <p:cNvSpPr/>
          <p:nvPr/>
        </p:nvSpPr>
        <p:spPr>
          <a:xfrm>
            <a:off x="402120" y="4800600"/>
            <a:ext cx="3190320" cy="8506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IN" sz="1800" spc="-1" strike="noStrike">
                <a:solidFill>
                  <a:srgbClr val="000000"/>
                </a:solidFill>
                <a:latin typeface="Arial"/>
                <a:ea typeface="DejaVu Sans"/>
              </a:rPr>
              <a:t>Vesto Melvin Slipher: Source: Warwick Centre for Fusion, Space and Astrophysics</a:t>
            </a:r>
            <a:endParaRPr b="0" lang="en-IN" sz="1800" spc="-1" strike="noStrike">
              <a:latin typeface="Arial"/>
            </a:endParaRPr>
          </a:p>
        </p:txBody>
      </p:sp>
      <p:pic>
        <p:nvPicPr>
          <p:cNvPr id="278" name="" descr=""/>
          <p:cNvPicPr/>
          <p:nvPr/>
        </p:nvPicPr>
        <p:blipFill>
          <a:blip r:embed="rId2"/>
          <a:stretch/>
        </p:blipFill>
        <p:spPr>
          <a:xfrm>
            <a:off x="9772200" y="5040000"/>
            <a:ext cx="2532240" cy="3166920"/>
          </a:xfrm>
          <a:prstGeom prst="rect">
            <a:avLst/>
          </a:prstGeom>
          <a:ln w="0">
            <a:noFill/>
          </a:ln>
        </p:spPr>
      </p:pic>
      <p:sp>
        <p:nvSpPr>
          <p:cNvPr id="279" name="CustomShape 63"/>
          <p:cNvSpPr/>
          <p:nvPr/>
        </p:nvSpPr>
        <p:spPr>
          <a:xfrm>
            <a:off x="432000" y="6264000"/>
            <a:ext cx="8992440" cy="285732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spcBef>
                <a:spcPts val="1191"/>
              </a:spcBef>
              <a:spcAft>
                <a:spcPts val="992"/>
              </a:spcAft>
              <a:buNone/>
            </a:pPr>
            <a:r>
              <a:rPr b="1" lang="en-IN" sz="2800" spc="-1" strike="noStrike">
                <a:solidFill>
                  <a:srgbClr val="000000"/>
                </a:solidFill>
                <a:latin typeface="AnjaliOldLipi"/>
                <a:ea typeface="DejaVu Sans"/>
              </a:rPr>
              <a:t>Edwin Hubble</a:t>
            </a:r>
            <a:r>
              <a:rPr b="0" lang="en-IN" sz="2800" spc="-1" strike="noStrike">
                <a:solidFill>
                  <a:srgbClr val="000000"/>
                </a:solidFill>
                <a:latin typeface="AnjaliOldLipi"/>
                <a:ea typeface="DejaVu Sans"/>
              </a:rPr>
              <a:t>, at the Carnegie Observatories in Pasadena, California,</a:t>
            </a:r>
            <a:r>
              <a:rPr b="0" lang="en-IN" sz="2800" spc="-1" strike="noStrike">
                <a:solidFill>
                  <a:srgbClr val="e91e63"/>
                </a:solidFill>
                <a:latin typeface="AnjaliOldLipi"/>
                <a:ea typeface="DejaVu Sans"/>
              </a:rPr>
              <a:t> </a:t>
            </a:r>
            <a:r>
              <a:rPr b="0" lang="en-IN" sz="2800" spc="-1" strike="noStrike">
                <a:solidFill>
                  <a:srgbClr val="000000"/>
                </a:solidFill>
                <a:latin typeface="AnjaliOldLipi"/>
                <a:ea typeface="DejaVu Sans"/>
              </a:rPr>
              <a:t>made observations of </a:t>
            </a:r>
            <a:r>
              <a:rPr b="1" i="1" lang="en-IN" sz="2800" spc="-1" strike="noStrike">
                <a:solidFill>
                  <a:srgbClr val="000000"/>
                </a:solidFill>
                <a:latin typeface="AnjaliOldLipi"/>
                <a:ea typeface="DejaVu Sans"/>
              </a:rPr>
              <a:t>Cepheid variable stars</a:t>
            </a:r>
            <a:r>
              <a:rPr b="0" lang="en-IN" sz="2800" spc="-1" strike="noStrike">
                <a:solidFill>
                  <a:srgbClr val="000000"/>
                </a:solidFill>
                <a:latin typeface="AnjaliOldLipi"/>
                <a:ea typeface="DejaVu Sans"/>
              </a:rPr>
              <a:t> in various spiral galaxies/nebulae in 1922 and 1923, and proved that these objects were outside the Milky Way galaxy based on </a:t>
            </a:r>
            <a:r>
              <a:rPr b="1" lang="en-IN" sz="2800" spc="-1" strike="noStrike">
                <a:solidFill>
                  <a:srgbClr val="000000"/>
                </a:solidFill>
                <a:latin typeface="AnjaliOldLipi"/>
                <a:ea typeface="DejaVu Sans"/>
              </a:rPr>
              <a:t>their distances, </a:t>
            </a:r>
            <a:r>
              <a:rPr b="0" lang="en-IN" sz="2800" spc="-1" strike="noStrike">
                <a:solidFill>
                  <a:srgbClr val="000000"/>
                </a:solidFill>
                <a:latin typeface="AnjaliOldLipi"/>
                <a:ea typeface="DejaVu Sans"/>
              </a:rPr>
              <a:t>using</a:t>
            </a:r>
            <a:r>
              <a:rPr b="1" lang="en-IN" sz="2800" spc="-1" strike="noStrike">
                <a:solidFill>
                  <a:srgbClr val="000000"/>
                </a:solidFill>
                <a:latin typeface="AnjaliOldLipi"/>
                <a:ea typeface="DejaVu Sans"/>
              </a:rPr>
              <a:t> Henrietta Swan Leavitt's period-luminosity relationship for Cepheids.</a:t>
            </a:r>
            <a:endParaRPr b="0" lang="en-IN" sz="2800" spc="-1" strike="noStrike">
              <a:latin typeface="Arial"/>
            </a:endParaRPr>
          </a:p>
        </p:txBody>
      </p:sp>
      <p:sp>
        <p:nvSpPr>
          <p:cNvPr id="280" name="CustomShape 64"/>
          <p:cNvSpPr/>
          <p:nvPr/>
        </p:nvSpPr>
        <p:spPr>
          <a:xfrm>
            <a:off x="9720000" y="8281080"/>
            <a:ext cx="2800440" cy="7833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IN" sz="1500" spc="-1" strike="noStrike">
                <a:solidFill>
                  <a:srgbClr val="000000"/>
                </a:solidFill>
                <a:latin typeface="Arial"/>
                <a:ea typeface="DejaVu Sans"/>
              </a:rPr>
              <a:t>Edwin Hubble</a:t>
            </a:r>
            <a:endParaRPr b="0" lang="en-IN" sz="1500" spc="-1" strike="noStrike">
              <a:latin typeface="Arial"/>
            </a:endParaRPr>
          </a:p>
          <a:p>
            <a:pPr>
              <a:lnSpc>
                <a:spcPct val="100000"/>
              </a:lnSpc>
              <a:buNone/>
            </a:pPr>
            <a:r>
              <a:rPr b="0" lang="en-IN" sz="1500" spc="-1" strike="noStrike">
                <a:solidFill>
                  <a:srgbClr val="000000"/>
                </a:solidFill>
                <a:latin typeface="Arial"/>
                <a:ea typeface="DejaVu Sans"/>
              </a:rPr>
              <a:t>Source: The Franklin Institute</a:t>
            </a:r>
            <a:endParaRPr b="0" lang="en-IN" sz="1500" spc="-1" strike="noStrike">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CustomShape 65"/>
          <p:cNvSpPr/>
          <p:nvPr/>
        </p:nvSpPr>
        <p:spPr>
          <a:xfrm>
            <a:off x="10008000" y="3601080"/>
            <a:ext cx="2800440" cy="64404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IN" sz="1500" spc="-1" strike="noStrike">
                <a:solidFill>
                  <a:srgbClr val="000000"/>
                </a:solidFill>
                <a:latin typeface="Arial"/>
                <a:ea typeface="DejaVu Sans"/>
              </a:rPr>
              <a:t>Edwin Hubble; Source: The Franklin Institute</a:t>
            </a:r>
            <a:endParaRPr b="0" lang="en-IN" sz="1500" spc="-1" strike="noStrike">
              <a:latin typeface="Arial"/>
            </a:endParaRPr>
          </a:p>
        </p:txBody>
      </p:sp>
      <p:pic>
        <p:nvPicPr>
          <p:cNvPr id="282" name="" descr=""/>
          <p:cNvPicPr/>
          <p:nvPr/>
        </p:nvPicPr>
        <p:blipFill>
          <a:blip r:embed="rId1"/>
          <a:stretch/>
        </p:blipFill>
        <p:spPr>
          <a:xfrm>
            <a:off x="10060200" y="288000"/>
            <a:ext cx="2532240" cy="3166920"/>
          </a:xfrm>
          <a:prstGeom prst="rect">
            <a:avLst/>
          </a:prstGeom>
          <a:ln w="0">
            <a:noFill/>
          </a:ln>
        </p:spPr>
      </p:pic>
      <p:pic>
        <p:nvPicPr>
          <p:cNvPr id="283" name="" descr=""/>
          <p:cNvPicPr/>
          <p:nvPr/>
        </p:nvPicPr>
        <p:blipFill>
          <a:blip r:embed="rId2"/>
          <a:stretch/>
        </p:blipFill>
        <p:spPr>
          <a:xfrm>
            <a:off x="720000" y="360000"/>
            <a:ext cx="2532240" cy="3344760"/>
          </a:xfrm>
          <a:prstGeom prst="rect">
            <a:avLst/>
          </a:prstGeom>
          <a:ln w="0">
            <a:noFill/>
          </a:ln>
        </p:spPr>
      </p:pic>
      <p:sp>
        <p:nvSpPr>
          <p:cNvPr id="284" name="CustomShape 66"/>
          <p:cNvSpPr/>
          <p:nvPr/>
        </p:nvSpPr>
        <p:spPr>
          <a:xfrm>
            <a:off x="432000" y="3812400"/>
            <a:ext cx="2926800" cy="93204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IN" sz="1600" spc="-1" strike="noStrike">
                <a:solidFill>
                  <a:srgbClr val="000000"/>
                </a:solidFill>
                <a:latin typeface="Arial"/>
                <a:ea typeface="DejaVu Sans"/>
              </a:rPr>
              <a:t>Milton L Humason: Source Library www.ira.cnr.it</a:t>
            </a:r>
            <a:endParaRPr b="0" lang="en-IN" sz="1600" spc="-1" strike="noStrike">
              <a:latin typeface="Arial"/>
            </a:endParaRPr>
          </a:p>
        </p:txBody>
      </p:sp>
      <p:pic>
        <p:nvPicPr>
          <p:cNvPr id="285" name="" descr=""/>
          <p:cNvPicPr/>
          <p:nvPr/>
        </p:nvPicPr>
        <p:blipFill>
          <a:blip r:embed="rId3"/>
          <a:stretch/>
        </p:blipFill>
        <p:spPr>
          <a:xfrm>
            <a:off x="381600" y="4824000"/>
            <a:ext cx="4074840" cy="3952440"/>
          </a:xfrm>
          <a:prstGeom prst="rect">
            <a:avLst/>
          </a:prstGeom>
          <a:ln w="0">
            <a:noFill/>
          </a:ln>
        </p:spPr>
      </p:pic>
      <p:sp>
        <p:nvSpPr>
          <p:cNvPr id="286" name="CustomShape 67"/>
          <p:cNvSpPr/>
          <p:nvPr/>
        </p:nvSpPr>
        <p:spPr>
          <a:xfrm>
            <a:off x="1015920" y="8888400"/>
            <a:ext cx="2000520" cy="64404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IN" sz="1000" spc="-1" strike="noStrike">
                <a:solidFill>
                  <a:srgbClr val="000000"/>
                </a:solidFill>
                <a:latin typeface="Arial"/>
                <a:ea typeface="DejaVu Sans"/>
              </a:rPr>
              <a:t>Hubble's Law.</a:t>
            </a:r>
            <a:endParaRPr b="0" lang="en-IN" sz="1000" spc="-1" strike="noStrike">
              <a:latin typeface="Arial"/>
            </a:endParaRPr>
          </a:p>
          <a:p>
            <a:pPr>
              <a:lnSpc>
                <a:spcPct val="100000"/>
              </a:lnSpc>
              <a:buNone/>
            </a:pPr>
            <a:r>
              <a:rPr b="0" lang="en-IN" sz="1000" spc="-1" strike="noStrike">
                <a:solidFill>
                  <a:srgbClr val="000000"/>
                </a:solidFill>
                <a:latin typeface="Arial"/>
                <a:ea typeface="DejaVu Sans"/>
              </a:rPr>
              <a:t>Source: ircamera.as.arizona.edu</a:t>
            </a:r>
            <a:endParaRPr b="0" lang="en-IN" sz="1000" spc="-1" strike="noStrike">
              <a:latin typeface="Arial"/>
            </a:endParaRPr>
          </a:p>
        </p:txBody>
      </p:sp>
      <p:sp>
        <p:nvSpPr>
          <p:cNvPr id="287" name=""/>
          <p:cNvSpPr/>
          <p:nvPr/>
        </p:nvSpPr>
        <p:spPr>
          <a:xfrm>
            <a:off x="3420000" y="150840"/>
            <a:ext cx="7018560" cy="46126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1" lang="en-IN" sz="2400" spc="-1" strike="noStrike">
                <a:solidFill>
                  <a:srgbClr val="000000"/>
                </a:solidFill>
                <a:latin typeface="Arial"/>
                <a:ea typeface="DejaVu Sans"/>
              </a:rPr>
              <a:t>Hubble &amp; Humason – Redshift–Distance Law (1929)</a:t>
            </a:r>
            <a:endParaRPr b="0" lang="en-IN" sz="24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DejaVu Sans"/>
              </a:rPr>
              <a:t>Combined 45 galaxy distances with Slipher’s redshift data</a:t>
            </a:r>
            <a:endParaRPr b="0" lang="en-IN" sz="24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DejaVu Sans"/>
              </a:rPr>
              <a:t>Found distance ∝ redshift (receding velocity)</a:t>
            </a:r>
            <a:endParaRPr b="0" lang="en-IN" sz="24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DejaVu Sans"/>
              </a:rPr>
              <a:t>Farther galaxies move away faster</a:t>
            </a:r>
            <a:endParaRPr b="0" lang="en-IN" sz="24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DejaVu Sans"/>
              </a:rPr>
              <a:t>Formulated Hubble’s Law (1929)</a:t>
            </a:r>
            <a:endParaRPr b="0" lang="en-IN" sz="2400" spc="-1" strike="noStrike">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IN" sz="2400" spc="-1" strike="noStrike">
                <a:solidFill>
                  <a:srgbClr val="000000"/>
                </a:solidFill>
                <a:latin typeface="Arial"/>
                <a:ea typeface="DejaVu Sans"/>
              </a:rPr>
              <a:t>Disproved the idea of a static universe</a:t>
            </a:r>
            <a:endParaRPr b="0" lang="en-IN" sz="2400" spc="-1" strike="noStrike">
              <a:latin typeface="Arial"/>
            </a:endParaRPr>
          </a:p>
          <a:p>
            <a:pPr>
              <a:lnSpc>
                <a:spcPct val="100000"/>
              </a:lnSpc>
              <a:buNone/>
            </a:pPr>
            <a:endParaRPr b="0" lang="en-IN" sz="1000" spc="-1" strike="noStrike">
              <a:latin typeface="Arial"/>
            </a:endParaRPr>
          </a:p>
        </p:txBody>
      </p:sp>
      <p:sp>
        <p:nvSpPr>
          <p:cNvPr id="288" name="CustomShape 68"/>
          <p:cNvSpPr/>
          <p:nvPr/>
        </p:nvSpPr>
        <p:spPr>
          <a:xfrm>
            <a:off x="5478120" y="6120000"/>
            <a:ext cx="6040440" cy="98784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IN" sz="3200" spc="-1" strike="noStrike">
                <a:solidFill>
                  <a:srgbClr val="000000"/>
                </a:solidFill>
                <a:latin typeface="AnjaliOldLipi"/>
                <a:ea typeface="DejaVu Sans"/>
              </a:rPr>
              <a:t>Hubble estimated a value of about 500 km/s/Mpc </a:t>
            </a:r>
            <a:endParaRPr b="0" lang="en-IN" sz="3200" spc="-1" strike="noStrike">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CustomShape 69"/>
          <p:cNvSpPr/>
          <p:nvPr/>
        </p:nvSpPr>
        <p:spPr>
          <a:xfrm>
            <a:off x="432000" y="100440"/>
            <a:ext cx="12016440" cy="417600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spcBef>
                <a:spcPts val="1191"/>
              </a:spcBef>
              <a:spcAft>
                <a:spcPts val="992"/>
              </a:spcAft>
              <a:buNone/>
            </a:pPr>
            <a:r>
              <a:rPr b="0" lang="en-IN" sz="2800" spc="-1" strike="noStrike">
                <a:solidFill>
                  <a:srgbClr val="000000"/>
                </a:solidFill>
                <a:latin typeface="AnjaliOldLipi"/>
                <a:ea typeface="DejaVu Sans"/>
              </a:rPr>
              <a:t>In cosmology, the Hubble parameter is a time-dependent quantity that basically describes the rate of expansion over time. The Hubble constant is its value at the present cosmological time. </a:t>
            </a:r>
            <a:endParaRPr b="0" lang="en-IN" sz="2800" spc="-1" strike="noStrike">
              <a:latin typeface="Arial"/>
            </a:endParaRPr>
          </a:p>
          <a:p>
            <a:pPr algn="just">
              <a:lnSpc>
                <a:spcPct val="100000"/>
              </a:lnSpc>
              <a:spcBef>
                <a:spcPts val="1191"/>
              </a:spcBef>
              <a:spcAft>
                <a:spcPts val="992"/>
              </a:spcAft>
              <a:buNone/>
            </a:pPr>
            <a:r>
              <a:rPr b="0" lang="en-IN" sz="2800" spc="-1" strike="noStrike">
                <a:solidFill>
                  <a:srgbClr val="000000"/>
                </a:solidFill>
                <a:latin typeface="AnjaliOldLipi"/>
                <a:ea typeface="DejaVu Sans"/>
              </a:rPr>
              <a:t>The Hubbe H</a:t>
            </a:r>
            <a:r>
              <a:rPr b="0" lang="en-IN" sz="2800" spc="-1" strike="noStrike" baseline="-33000">
                <a:solidFill>
                  <a:srgbClr val="000000"/>
                </a:solidFill>
                <a:latin typeface="AnjaliOldLipi"/>
                <a:ea typeface="DejaVu Sans"/>
              </a:rPr>
              <a:t>0</a:t>
            </a:r>
            <a:r>
              <a:rPr b="0" lang="en-IN" sz="2800" spc="-1" strike="noStrike">
                <a:solidFill>
                  <a:srgbClr val="000000"/>
                </a:solidFill>
                <a:latin typeface="AnjaliOldLipi"/>
                <a:ea typeface="DejaVu Sans"/>
              </a:rPr>
              <a:t> Key Project concluded in 2001 on a value of the Hubble constant of </a:t>
            </a:r>
            <a:r>
              <a:rPr b="0" lang="en-IN" sz="2800" spc="-1" strike="noStrike">
                <a:solidFill>
                  <a:srgbClr val="e91e63"/>
                </a:solidFill>
                <a:latin typeface="AnjaliOldLipi"/>
                <a:ea typeface="DejaVu Sans"/>
              </a:rPr>
              <a:t>H</a:t>
            </a:r>
            <a:r>
              <a:rPr b="0" lang="en-IN" sz="2800" spc="-1" strike="noStrike" baseline="-33000">
                <a:solidFill>
                  <a:srgbClr val="e91e63"/>
                </a:solidFill>
                <a:latin typeface="AnjaliOldLipi"/>
                <a:ea typeface="DejaVu Sans"/>
              </a:rPr>
              <a:t>0 </a:t>
            </a:r>
            <a:r>
              <a:rPr b="0" lang="en-IN" sz="2800" spc="-1" strike="noStrike">
                <a:solidFill>
                  <a:srgbClr val="e91e63"/>
                </a:solidFill>
                <a:latin typeface="AnjaliOldLipi"/>
                <a:ea typeface="DejaVu Sans"/>
              </a:rPr>
              <a:t>= 72 ± 8 km/sec/Mpc. </a:t>
            </a:r>
            <a:r>
              <a:rPr b="0" lang="en-IN" sz="2800" spc="-1" strike="noStrike">
                <a:solidFill>
                  <a:srgbClr val="000000"/>
                </a:solidFill>
                <a:latin typeface="AnjaliOldLipi"/>
                <a:ea typeface="DejaVu Sans"/>
              </a:rPr>
              <a:t>The uncertainties in the determination of the Hubble constant with distance ladder techniques are still dominated by the uncertainty in the calibration of the Cepheid method of distance measurement.</a:t>
            </a:r>
            <a:endParaRPr b="0" lang="en-IN" sz="2800" spc="-1" strike="noStrike">
              <a:latin typeface="Arial"/>
            </a:endParaRPr>
          </a:p>
        </p:txBody>
      </p:sp>
      <p:pic>
        <p:nvPicPr>
          <p:cNvPr id="290" name="" descr=""/>
          <p:cNvPicPr/>
          <p:nvPr/>
        </p:nvPicPr>
        <p:blipFill>
          <a:blip r:embed="rId1"/>
          <a:stretch/>
        </p:blipFill>
        <p:spPr>
          <a:xfrm>
            <a:off x="720000" y="4161960"/>
            <a:ext cx="5176800" cy="5339160"/>
          </a:xfrm>
          <a:prstGeom prst="rect">
            <a:avLst/>
          </a:prstGeom>
          <a:ln w="0">
            <a:noFill/>
          </a:ln>
        </p:spPr>
      </p:pic>
      <p:sp>
        <p:nvSpPr>
          <p:cNvPr id="291" name="CustomShape 70"/>
          <p:cNvSpPr/>
          <p:nvPr/>
        </p:nvSpPr>
        <p:spPr>
          <a:xfrm>
            <a:off x="1512000" y="9936000"/>
            <a:ext cx="5653080" cy="1072800"/>
          </a:xfrm>
          <a:prstGeom prst="rect">
            <a:avLst/>
          </a:prstGeom>
          <a:noFill/>
          <a:ln w="0">
            <a:noFill/>
          </a:ln>
        </p:spPr>
        <p:style>
          <a:lnRef idx="0"/>
          <a:fillRef idx="0"/>
          <a:effectRef idx="0"/>
          <a:fontRef idx="minor"/>
        </p:style>
      </p:sp>
      <p:sp>
        <p:nvSpPr>
          <p:cNvPr id="292" name="CustomShape 71"/>
          <p:cNvSpPr/>
          <p:nvPr/>
        </p:nvSpPr>
        <p:spPr>
          <a:xfrm>
            <a:off x="6480000" y="3971880"/>
            <a:ext cx="6328800" cy="538092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IN" sz="2800" spc="-1" strike="noStrike">
                <a:solidFill>
                  <a:srgbClr val="000000"/>
                </a:solidFill>
                <a:latin typeface="AnjaliOldLipi"/>
                <a:ea typeface="DejaVu Sans"/>
              </a:rPr>
              <a:t>Hubble’s constant and law</a:t>
            </a:r>
            <a:endParaRPr b="0" lang="en-IN" sz="2800" spc="-1" strike="noStrike">
              <a:latin typeface="Arial"/>
            </a:endParaRPr>
          </a:p>
          <a:p>
            <a:pPr>
              <a:lnSpc>
                <a:spcPct val="100000"/>
              </a:lnSpc>
              <a:buNone/>
            </a:pPr>
            <a:r>
              <a:rPr b="1" lang="en-IN" sz="2800" spc="-1" strike="noStrike">
                <a:solidFill>
                  <a:srgbClr val="e91e63"/>
                </a:solidFill>
                <a:latin typeface="AnjaliOldLipi"/>
                <a:ea typeface="DejaVu Sans"/>
              </a:rPr>
              <a:t>v = H</a:t>
            </a:r>
            <a:r>
              <a:rPr b="1" lang="en-IN" sz="2600" spc="-1" strike="noStrike" baseline="-8000">
                <a:solidFill>
                  <a:srgbClr val="e91e63"/>
                </a:solidFill>
                <a:latin typeface="AnjaliOldLipi"/>
                <a:ea typeface="DejaVu Sans"/>
              </a:rPr>
              <a:t>0</a:t>
            </a:r>
            <a:r>
              <a:rPr b="1" lang="en-IN" sz="2800" spc="-1" strike="noStrike">
                <a:solidFill>
                  <a:srgbClr val="e91e63"/>
                </a:solidFill>
                <a:latin typeface="AnjaliOldLipi"/>
                <a:ea typeface="DejaVu Sans"/>
              </a:rPr>
              <a:t>D</a:t>
            </a:r>
            <a:endParaRPr b="0" lang="en-IN" sz="2800" spc="-1" strike="noStrike">
              <a:latin typeface="Arial"/>
            </a:endParaRPr>
          </a:p>
          <a:p>
            <a:pPr>
              <a:lnSpc>
                <a:spcPct val="100000"/>
              </a:lnSpc>
              <a:buNone/>
            </a:pPr>
            <a:r>
              <a:rPr b="0" lang="en-IN" sz="2800" spc="-1" strike="noStrike">
                <a:solidFill>
                  <a:srgbClr val="000000"/>
                </a:solidFill>
                <a:latin typeface="AnjaliOldLipi"/>
                <a:ea typeface="DejaVu Sans"/>
              </a:rPr>
              <a:t>Distance: </a:t>
            </a:r>
            <a:r>
              <a:rPr b="1" lang="en-IN" sz="2800" spc="-1" strike="noStrike">
                <a:solidFill>
                  <a:srgbClr val="e91e63"/>
                </a:solidFill>
                <a:latin typeface="AnjaliOldLipi"/>
                <a:ea typeface="DejaVu Sans"/>
              </a:rPr>
              <a:t>D = v/H</a:t>
            </a:r>
            <a:r>
              <a:rPr b="1" lang="en-IN" sz="2800" spc="-1" strike="noStrike" baseline="-33000">
                <a:solidFill>
                  <a:srgbClr val="e91e63"/>
                </a:solidFill>
                <a:latin typeface="AnjaliOldLipi"/>
                <a:ea typeface="DejaVu Sans"/>
              </a:rPr>
              <a:t>0</a:t>
            </a:r>
            <a:endParaRPr b="0" lang="en-IN" sz="2800" spc="-1" strike="noStrike">
              <a:latin typeface="Arial"/>
            </a:endParaRPr>
          </a:p>
          <a:p>
            <a:pPr>
              <a:lnSpc>
                <a:spcPct val="100000"/>
              </a:lnSpc>
              <a:buNone/>
            </a:pPr>
            <a:r>
              <a:rPr b="1" lang="en-IN" sz="2400" spc="-1" strike="noStrike">
                <a:solidFill>
                  <a:srgbClr val="0000ff"/>
                </a:solidFill>
                <a:latin typeface="AnjaliOldLipi"/>
                <a:ea typeface="DejaVu Sans"/>
              </a:rPr>
              <a:t>V = recessional velocity of galaxy in km/s</a:t>
            </a:r>
            <a:endParaRPr b="0" lang="en-IN" sz="2400" spc="-1" strike="noStrike">
              <a:latin typeface="Arial"/>
            </a:endParaRPr>
          </a:p>
          <a:p>
            <a:pPr>
              <a:lnSpc>
                <a:spcPct val="100000"/>
              </a:lnSpc>
              <a:buNone/>
            </a:pPr>
            <a:r>
              <a:rPr b="1" lang="en-IN" sz="2400" spc="-1" strike="noStrike">
                <a:solidFill>
                  <a:srgbClr val="0000ff"/>
                </a:solidFill>
                <a:latin typeface="AnjaliOldLipi"/>
                <a:ea typeface="DejaVu Sans"/>
              </a:rPr>
              <a:t>H</a:t>
            </a:r>
            <a:r>
              <a:rPr b="1" lang="en-IN" sz="2400" spc="-1" strike="noStrike" baseline="-33000">
                <a:solidFill>
                  <a:srgbClr val="0000ff"/>
                </a:solidFill>
                <a:latin typeface="AnjaliOldLipi"/>
                <a:ea typeface="DejaVu Sans"/>
              </a:rPr>
              <a:t>0</a:t>
            </a:r>
            <a:r>
              <a:rPr b="1" lang="en-IN" sz="2400" spc="-1" strike="noStrike">
                <a:solidFill>
                  <a:srgbClr val="0000ff"/>
                </a:solidFill>
                <a:latin typeface="AnjaliOldLipi"/>
                <a:ea typeface="DejaVu Sans"/>
              </a:rPr>
              <a:t> = Hubble’s constant in km/s/Mpc</a:t>
            </a:r>
            <a:endParaRPr b="0" lang="en-IN" sz="2400" spc="-1" strike="noStrike">
              <a:latin typeface="Arial"/>
            </a:endParaRPr>
          </a:p>
          <a:p>
            <a:pPr>
              <a:lnSpc>
                <a:spcPct val="100000"/>
              </a:lnSpc>
              <a:buNone/>
            </a:pPr>
            <a:r>
              <a:rPr b="1" lang="en-IN" sz="2400" spc="-1" strike="noStrike">
                <a:solidFill>
                  <a:srgbClr val="0000ff"/>
                </a:solidFill>
                <a:latin typeface="AnjaliOldLipi"/>
                <a:ea typeface="DejaVu Sans"/>
              </a:rPr>
              <a:t>D = Distance of the galaxy in Mpc</a:t>
            </a:r>
            <a:endParaRPr b="0" lang="en-IN" sz="2400" spc="-1" strike="noStrike">
              <a:latin typeface="Arial"/>
            </a:endParaRPr>
          </a:p>
          <a:p>
            <a:pPr>
              <a:lnSpc>
                <a:spcPct val="100000"/>
              </a:lnSpc>
              <a:buNone/>
            </a:pPr>
            <a:endParaRPr b="0" lang="en-IN" sz="2800" spc="-1" strike="noStrike">
              <a:latin typeface="Arial"/>
            </a:endParaRPr>
          </a:p>
          <a:p>
            <a:pPr>
              <a:lnSpc>
                <a:spcPct val="100000"/>
              </a:lnSpc>
              <a:buNone/>
            </a:pPr>
            <a:r>
              <a:rPr b="0" lang="en-IN" sz="2800" spc="-1" strike="noStrike">
                <a:solidFill>
                  <a:srgbClr val="000000"/>
                </a:solidFill>
                <a:latin typeface="AnjaliOldLipi"/>
                <a:ea typeface="DejaVu Sans"/>
              </a:rPr>
              <a:t>Relation between redshift and velocity: </a:t>
            </a:r>
            <a:endParaRPr b="0" lang="en-IN" sz="2800" spc="-1" strike="noStrike">
              <a:latin typeface="Arial"/>
            </a:endParaRPr>
          </a:p>
          <a:p>
            <a:pPr>
              <a:lnSpc>
                <a:spcPct val="100000"/>
              </a:lnSpc>
              <a:buNone/>
            </a:pPr>
            <a:r>
              <a:rPr b="0" lang="en-IN" sz="2800" spc="-1" strike="noStrike">
                <a:solidFill>
                  <a:srgbClr val="000000"/>
                </a:solidFill>
                <a:latin typeface="AnjaliOldLipi"/>
                <a:ea typeface="utkal"/>
              </a:rPr>
              <a:t>    </a:t>
            </a:r>
            <a:r>
              <a:rPr b="0" lang="en-IN" sz="2800" spc="-1" strike="noStrike">
                <a:solidFill>
                  <a:srgbClr val="e91e63"/>
                </a:solidFill>
                <a:latin typeface="AnjaliOldLipi"/>
                <a:ea typeface="utkal"/>
              </a:rPr>
              <a:t>Δ</a:t>
            </a:r>
            <a:r>
              <a:rPr b="0" lang="en-IN" sz="2800" spc="-1" strike="noStrike">
                <a:solidFill>
                  <a:srgbClr val="e91e63"/>
                </a:solidFill>
                <a:latin typeface="AnjaliOldLipi"/>
                <a:ea typeface="DejaVu Sans"/>
              </a:rPr>
              <a:t>λ/λ = v/c  </a:t>
            </a:r>
            <a:endParaRPr b="0" lang="en-IN" sz="2800" spc="-1" strike="noStrike">
              <a:latin typeface="Arial"/>
            </a:endParaRPr>
          </a:p>
          <a:p>
            <a:pPr>
              <a:lnSpc>
                <a:spcPct val="100000"/>
              </a:lnSpc>
              <a:buNone/>
            </a:pPr>
            <a:r>
              <a:rPr b="0" lang="en-IN" sz="2800" spc="-1" strike="noStrike">
                <a:solidFill>
                  <a:srgbClr val="f5f5f5"/>
                </a:solidFill>
                <a:latin typeface="AnjaliOldLipi"/>
                <a:ea typeface="DejaVu Sans"/>
              </a:rPr>
              <a:t>           </a:t>
            </a:r>
            <a:r>
              <a:rPr b="0" lang="en-IN" sz="2800" spc="-1" strike="noStrike">
                <a:solidFill>
                  <a:srgbClr val="f5f5f5"/>
                </a:solidFill>
                <a:latin typeface="AnjaliOldLipi"/>
                <a:ea typeface="DejaVu Sans"/>
              </a:rPr>
              <a:t>. </a:t>
            </a:r>
            <a:r>
              <a:rPr b="0" lang="en-IN" sz="2800" spc="-1" strike="noStrike">
                <a:solidFill>
                  <a:srgbClr val="e91e63"/>
                </a:solidFill>
                <a:latin typeface="AnjaliOldLipi"/>
                <a:ea typeface="DejaVu Sans"/>
              </a:rPr>
              <a:t>z = v/c</a:t>
            </a:r>
            <a:endParaRPr b="0" lang="en-IN" sz="2800" spc="-1" strike="noStrike">
              <a:latin typeface="Arial"/>
            </a:endParaRPr>
          </a:p>
          <a:p>
            <a:pPr>
              <a:lnSpc>
                <a:spcPct val="100000"/>
              </a:lnSpc>
              <a:buNone/>
            </a:pPr>
            <a:r>
              <a:rPr b="0" lang="en-IN" sz="2800" spc="-1" strike="noStrike">
                <a:solidFill>
                  <a:srgbClr val="e91e63"/>
                </a:solidFill>
                <a:latin typeface="AnjaliOldLipi"/>
                <a:ea typeface="DejaVu Sans"/>
              </a:rPr>
              <a:t>            </a:t>
            </a:r>
            <a:r>
              <a:rPr b="0" lang="en-IN" sz="2800" spc="-1" strike="noStrike">
                <a:solidFill>
                  <a:srgbClr val="fafafa"/>
                </a:solidFill>
                <a:latin typeface="AnjaliOldLipi"/>
                <a:ea typeface="DejaVu Sans"/>
              </a:rPr>
              <a:t> </a:t>
            </a:r>
            <a:r>
              <a:rPr b="0" lang="en-IN" sz="2800" spc="-1" strike="noStrike">
                <a:solidFill>
                  <a:srgbClr val="fafafa"/>
                </a:solidFill>
                <a:latin typeface="AnjaliOldLipi"/>
                <a:ea typeface="DejaVu Sans"/>
              </a:rPr>
              <a:t>.</a:t>
            </a:r>
            <a:r>
              <a:rPr b="0" lang="en-IN" sz="2800" spc="-1" strike="noStrike">
                <a:solidFill>
                  <a:srgbClr val="e91e63"/>
                </a:solidFill>
                <a:latin typeface="AnjaliOldLipi"/>
                <a:ea typeface="DejaVu Sans"/>
              </a:rPr>
              <a:t>v = zc</a:t>
            </a:r>
            <a:endParaRPr b="0" lang="en-IN" sz="2800" spc="-1" strike="noStrike">
              <a:latin typeface="Arial"/>
            </a:endParaRPr>
          </a:p>
          <a:p>
            <a:pPr>
              <a:lnSpc>
                <a:spcPct val="100000"/>
              </a:lnSpc>
              <a:buNone/>
            </a:pPr>
            <a:endParaRPr b="0" lang="en-IN" sz="2800" spc="-1" strike="noStrike">
              <a:latin typeface="Arial"/>
            </a:endParaRPr>
          </a:p>
          <a:p>
            <a:pPr>
              <a:lnSpc>
                <a:spcPct val="100000"/>
              </a:lnSpc>
              <a:buNone/>
            </a:pPr>
            <a:r>
              <a:rPr b="0" lang="en-IN" sz="2600" spc="-1" strike="noStrike">
                <a:solidFill>
                  <a:srgbClr val="00b000"/>
                </a:solidFill>
                <a:highlight>
                  <a:srgbClr val="000000"/>
                </a:highlight>
                <a:latin typeface="AnjaliOldLipi"/>
                <a:ea typeface="DejaVu Sans"/>
              </a:rPr>
              <a:t>Realize the importance of Supernovae Ia</a:t>
            </a:r>
            <a:endParaRPr b="0" lang="en-IN" sz="2600" spc="-1" strike="noStrike">
              <a:latin typeface="Arial"/>
            </a:endParaRPr>
          </a:p>
        </p:txBody>
      </p:sp>
      <p:sp>
        <p:nvSpPr>
          <p:cNvPr id="293" name="CustomShape 72"/>
          <p:cNvSpPr/>
          <p:nvPr/>
        </p:nvSpPr>
        <p:spPr>
          <a:xfrm>
            <a:off x="936000" y="9144000"/>
            <a:ext cx="5062680" cy="34092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IN" sz="1400" spc="-1" strike="noStrike">
                <a:solidFill>
                  <a:srgbClr val="000000"/>
                </a:solidFill>
                <a:latin typeface="Arial"/>
                <a:ea typeface="DejaVu Sans"/>
              </a:rPr>
              <a:t>Main results from the H</a:t>
            </a:r>
            <a:r>
              <a:rPr b="0" lang="en-IN" sz="1400" spc="-1" strike="noStrike" baseline="-33000">
                <a:solidFill>
                  <a:srgbClr val="000000"/>
                </a:solidFill>
                <a:latin typeface="Arial"/>
                <a:ea typeface="DejaVu Sans"/>
              </a:rPr>
              <a:t>0  </a:t>
            </a:r>
            <a:r>
              <a:rPr b="0" lang="en-IN" sz="1400" spc="-1" strike="noStrike">
                <a:solidFill>
                  <a:srgbClr val="000000"/>
                </a:solidFill>
                <a:latin typeface="Arial"/>
                <a:ea typeface="DejaVu Sans"/>
              </a:rPr>
              <a:t>Key project. Credit CfA, Harvard.</a:t>
            </a:r>
            <a:endParaRPr b="0" lang="en-IN" sz="1400" spc="-1" strike="noStrike">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4" name="" descr=""/>
          <p:cNvPicPr/>
          <p:nvPr/>
        </p:nvPicPr>
        <p:blipFill>
          <a:blip r:embed="rId1"/>
          <a:stretch/>
        </p:blipFill>
        <p:spPr>
          <a:xfrm>
            <a:off x="3722760" y="4500000"/>
            <a:ext cx="5455080" cy="540000"/>
          </a:xfrm>
          <a:prstGeom prst="rect">
            <a:avLst/>
          </a:prstGeom>
          <a:ln w="0">
            <a:noFill/>
          </a:ln>
        </p:spPr>
      </p:pic>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 name=""/>
          <p:cNvSpPr/>
          <p:nvPr/>
        </p:nvSpPr>
        <p:spPr>
          <a:xfrm>
            <a:off x="540000" y="761760"/>
            <a:ext cx="12237840" cy="724392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1" lang="en-IN" sz="4000" spc="-1" strike="noStrike">
                <a:solidFill>
                  <a:srgbClr val="000000"/>
                </a:solidFill>
                <a:latin typeface="Arial"/>
                <a:ea typeface="DejaVu Sans"/>
              </a:rPr>
              <a:t>For the 1</a:t>
            </a:r>
            <a:r>
              <a:rPr b="1" lang="en-IN" sz="4000" spc="-1" strike="noStrike" baseline="33000">
                <a:solidFill>
                  <a:srgbClr val="000000"/>
                </a:solidFill>
                <a:latin typeface="Arial"/>
                <a:ea typeface="DejaVu Sans"/>
              </a:rPr>
              <a:t>st</a:t>
            </a:r>
            <a:r>
              <a:rPr b="1" lang="en-IN" sz="4000" spc="-1" strike="noStrike">
                <a:solidFill>
                  <a:srgbClr val="000000"/>
                </a:solidFill>
                <a:latin typeface="Arial"/>
                <a:ea typeface="DejaVu Sans"/>
              </a:rPr>
              <a:t> Galaxy: </a:t>
            </a:r>
            <a:r>
              <a:rPr b="1" i="1" lang="en-IN" sz="4000" spc="-1" strike="noStrike">
                <a:solidFill>
                  <a:srgbClr val="1232e2"/>
                </a:solidFill>
                <a:latin typeface="Arial"/>
                <a:ea typeface="DejaVu Sans"/>
              </a:rPr>
              <a:t>SDSS J100043.13+020637.2</a:t>
            </a:r>
            <a:endParaRPr b="0" lang="en-IN" sz="4000" spc="-1" strike="noStrike">
              <a:latin typeface="Arial"/>
            </a:endParaRPr>
          </a:p>
          <a:p>
            <a:pPr>
              <a:lnSpc>
                <a:spcPct val="100000"/>
              </a:lnSpc>
              <a:buNone/>
            </a:pPr>
            <a:endParaRPr b="0" lang="en-IN" sz="4000" spc="-1" strike="noStrike">
              <a:latin typeface="Arial"/>
            </a:endParaRPr>
          </a:p>
          <a:p>
            <a:pPr>
              <a:lnSpc>
                <a:spcPct val="100000"/>
              </a:lnSpc>
              <a:buNone/>
            </a:pPr>
            <a:r>
              <a:rPr b="0" lang="en-IN" sz="2600" spc="-1" strike="noStrike">
                <a:solidFill>
                  <a:srgbClr val="000000"/>
                </a:solidFill>
                <a:latin typeface="Arial"/>
                <a:ea typeface="DejaVu Sans"/>
              </a:rPr>
              <a:t>--------------------------------------------------------------------------------------------------------</a:t>
            </a:r>
            <a:endParaRPr b="0" lang="en-IN" sz="2600" spc="-1" strike="noStrike">
              <a:latin typeface="Arial"/>
            </a:endParaRPr>
          </a:p>
          <a:p>
            <a:pPr>
              <a:lnSpc>
                <a:spcPct val="100000"/>
              </a:lnSpc>
              <a:buNone/>
            </a:pPr>
            <a:r>
              <a:rPr b="0" lang="en-IN" sz="2600" spc="-1" strike="noStrike">
                <a:solidFill>
                  <a:srgbClr val="000000"/>
                </a:solidFill>
                <a:latin typeface="Arial"/>
                <a:ea typeface="DejaVu Sans"/>
              </a:rPr>
              <a:t> </a:t>
            </a:r>
            <a:r>
              <a:rPr b="0" lang="en-IN" sz="2600" spc="-1" strike="noStrike">
                <a:solidFill>
                  <a:srgbClr val="000000"/>
                </a:solidFill>
                <a:latin typeface="Arial"/>
                <a:ea typeface="DejaVu Sans"/>
              </a:rPr>
              <a:t>Line            Obs (A)        Rest (A)    Lambda_Shift (A)  V (km/s)            z</a:t>
            </a:r>
            <a:endParaRPr b="0" lang="en-IN" sz="2600" spc="-1" strike="noStrike">
              <a:latin typeface="Arial"/>
            </a:endParaRPr>
          </a:p>
          <a:p>
            <a:pPr>
              <a:lnSpc>
                <a:spcPct val="100000"/>
              </a:lnSpc>
              <a:buNone/>
            </a:pPr>
            <a:r>
              <a:rPr b="0" lang="en-IN" sz="2600" spc="-1" strike="noStrike">
                <a:solidFill>
                  <a:srgbClr val="000000"/>
                </a:solidFill>
                <a:latin typeface="Arial"/>
                <a:ea typeface="DejaVu Sans"/>
              </a:rPr>
              <a:t>--------------------------------------------------------------------------------------------------------</a:t>
            </a:r>
            <a:endParaRPr b="0" lang="en-IN" sz="2600" spc="-1" strike="noStrike">
              <a:latin typeface="Arial"/>
            </a:endParaRPr>
          </a:p>
          <a:p>
            <a:pPr>
              <a:lnSpc>
                <a:spcPct val="100000"/>
              </a:lnSpc>
              <a:buNone/>
            </a:pPr>
            <a:r>
              <a:rPr b="0" lang="en-IN" sz="2600" spc="-1" strike="noStrike">
                <a:solidFill>
                  <a:srgbClr val="000000"/>
                </a:solidFill>
                <a:latin typeface="Arial"/>
                <a:ea typeface="DejaVu Sans"/>
              </a:rPr>
              <a:t>Halpha      8928.1911      6562.70       2365.4909       108133.43      0.36044475</a:t>
            </a:r>
            <a:endParaRPr b="0" lang="en-IN" sz="2600" spc="-1" strike="noStrike">
              <a:latin typeface="Arial"/>
            </a:endParaRPr>
          </a:p>
          <a:p>
            <a:pPr>
              <a:lnSpc>
                <a:spcPct val="100000"/>
              </a:lnSpc>
              <a:buNone/>
            </a:pPr>
            <a:r>
              <a:rPr b="0" lang="en-IN" sz="2600" spc="-1" strike="noStrike">
                <a:solidFill>
                  <a:srgbClr val="000000"/>
                </a:solidFill>
                <a:latin typeface="Arial"/>
                <a:ea typeface="DejaVu Sans"/>
              </a:rPr>
              <a:t>Hbeta        6614.3906      4861.30       1753.0908       108186.55      0.36062183</a:t>
            </a:r>
            <a:endParaRPr b="0" lang="en-IN" sz="2600" spc="-1" strike="noStrike">
              <a:latin typeface="Arial"/>
            </a:endParaRPr>
          </a:p>
          <a:p>
            <a:pPr>
              <a:lnSpc>
                <a:spcPct val="100000"/>
              </a:lnSpc>
              <a:buNone/>
            </a:pPr>
            <a:r>
              <a:rPr b="0" lang="en-IN" sz="2600" spc="-1" strike="noStrike">
                <a:solidFill>
                  <a:srgbClr val="000000"/>
                </a:solidFill>
                <a:latin typeface="Arial"/>
                <a:ea typeface="DejaVu Sans"/>
              </a:rPr>
              <a:t>NeIII          5261.6012      3869.00       1392.6012       107981.49      0.35993829</a:t>
            </a:r>
            <a:endParaRPr b="0" lang="en-IN" sz="2600" spc="-1" strike="noStrike">
              <a:latin typeface="Arial"/>
            </a:endParaRPr>
          </a:p>
          <a:p>
            <a:pPr>
              <a:lnSpc>
                <a:spcPct val="100000"/>
              </a:lnSpc>
              <a:buNone/>
            </a:pPr>
            <a:r>
              <a:rPr b="0" lang="en-IN" sz="2600" spc="-1" strike="noStrike">
                <a:solidFill>
                  <a:srgbClr val="000000"/>
                </a:solidFill>
                <a:latin typeface="Arial"/>
                <a:ea typeface="DejaVu Sans"/>
              </a:rPr>
              <a:t>OII             5069.6945     3727.30        1342.3945       108045.59      0.36015198</a:t>
            </a:r>
            <a:br>
              <a:rPr sz="2600"/>
            </a:br>
            <a:r>
              <a:rPr b="0" lang="en-IN" sz="2600" spc="-1" strike="noStrike">
                <a:solidFill>
                  <a:srgbClr val="000000"/>
                </a:solidFill>
                <a:latin typeface="Arial"/>
                <a:ea typeface="DejaVu Sans"/>
              </a:rPr>
              <a:t>OIII1          6745.0095      4959.00       1786.0095       108046.55      0.36015518</a:t>
            </a:r>
            <a:endParaRPr b="0" lang="en-IN" sz="2600" spc="-1" strike="noStrike">
              <a:latin typeface="Arial"/>
            </a:endParaRPr>
          </a:p>
          <a:p>
            <a:pPr>
              <a:lnSpc>
                <a:spcPct val="100000"/>
              </a:lnSpc>
              <a:buNone/>
            </a:pPr>
            <a:r>
              <a:rPr b="0" lang="en-IN" sz="2600" spc="-1" strike="noStrike">
                <a:solidFill>
                  <a:srgbClr val="000000"/>
                </a:solidFill>
                <a:latin typeface="Arial"/>
                <a:ea typeface="DejaVu Sans"/>
              </a:rPr>
              <a:t>OIII2          6810.3696      5007.00       1803.3696       108050.90      0.36016967</a:t>
            </a:r>
            <a:endParaRPr b="0" lang="en-IN" sz="2600" spc="-1" strike="noStrike">
              <a:latin typeface="Arial"/>
            </a:endParaRPr>
          </a:p>
          <a:p>
            <a:pPr>
              <a:lnSpc>
                <a:spcPct val="100000"/>
              </a:lnSpc>
              <a:buNone/>
            </a:pPr>
            <a:r>
              <a:rPr b="0" lang="en-IN" sz="2600" spc="-1" strike="noStrike">
                <a:solidFill>
                  <a:srgbClr val="000000"/>
                </a:solidFill>
                <a:latin typeface="Arial"/>
                <a:ea typeface="DejaVu Sans"/>
              </a:rPr>
              <a:t>----------------------------------------------------------------------------------------------------------</a:t>
            </a:r>
            <a:endParaRPr b="0" lang="en-IN" sz="2600" spc="-1" strike="noStrike">
              <a:latin typeface="Arial"/>
            </a:endParaRPr>
          </a:p>
          <a:p>
            <a:pPr>
              <a:lnSpc>
                <a:spcPct val="100000"/>
              </a:lnSpc>
              <a:buNone/>
            </a:pPr>
            <a:endParaRPr b="0" lang="en-IN" sz="1800" spc="-1" strike="noStrike">
              <a:latin typeface="Arial"/>
            </a:endParaRPr>
          </a:p>
          <a:p>
            <a:pPr>
              <a:lnSpc>
                <a:spcPct val="100000"/>
              </a:lnSpc>
              <a:buNone/>
            </a:pPr>
            <a:r>
              <a:rPr b="1" lang="en-IN" sz="2600" spc="-1" strike="noStrike">
                <a:solidFill>
                  <a:srgbClr val="000000"/>
                </a:solidFill>
                <a:latin typeface="Arial"/>
                <a:ea typeface="DejaVu Sans"/>
              </a:rPr>
              <a:t>Mean+/stdev Velocity  108074   +/-  73  km/s</a:t>
            </a:r>
            <a:endParaRPr b="0" lang="en-IN" sz="2600" spc="-1" strike="noStrike">
              <a:latin typeface="Arial"/>
            </a:endParaRPr>
          </a:p>
          <a:p>
            <a:pPr>
              <a:lnSpc>
                <a:spcPct val="100000"/>
              </a:lnSpc>
              <a:buNone/>
            </a:pPr>
            <a:r>
              <a:rPr b="1" lang="en-IN" sz="2600" spc="-1" strike="noStrike">
                <a:solidFill>
                  <a:srgbClr val="000000"/>
                </a:solidFill>
                <a:latin typeface="Arial"/>
                <a:ea typeface="DejaVu Sans"/>
              </a:rPr>
              <a:t>Mean+/-stdev z             0.3602    +/-  0.0002</a:t>
            </a:r>
            <a:endParaRPr b="0" lang="en-IN" sz="2600" spc="-1" strike="noStrike">
              <a:latin typeface="Arial"/>
            </a:endParaRPr>
          </a:p>
          <a:p>
            <a:pPr>
              <a:lnSpc>
                <a:spcPct val="100000"/>
              </a:lnSpc>
              <a:buNone/>
            </a:pPr>
            <a:r>
              <a:rPr b="0" lang="en-IN" sz="2600" spc="-1" strike="noStrike">
                <a:solidFill>
                  <a:srgbClr val="000000"/>
                </a:solidFill>
                <a:latin typeface="Arial"/>
                <a:ea typeface="DejaVu Sans"/>
              </a:rPr>
              <a:t>----------------------------------------------------------------------------------------------------------</a:t>
            </a:r>
            <a:endParaRPr b="0" lang="en-IN" sz="2600" spc="-1" strike="noStrike">
              <a:latin typeface="Arial"/>
            </a:endParaRPr>
          </a:p>
          <a:p>
            <a:pPr>
              <a:lnSpc>
                <a:spcPct val="100000"/>
              </a:lnSpc>
              <a:buNone/>
            </a:pPr>
            <a:endParaRPr b="0" lang="en-IN" sz="1800" spc="-1" strike="noStrike">
              <a:latin typeface="Arial"/>
            </a:endParaRPr>
          </a:p>
          <a:p>
            <a:pPr>
              <a:lnSpc>
                <a:spcPct val="100000"/>
              </a:lnSpc>
              <a:buNone/>
            </a:pPr>
            <a:endParaRPr b="0" lang="en-IN" sz="1800" spc="-1" strike="noStrike">
              <a:latin typeface="Arial"/>
            </a:endParaRPr>
          </a:p>
          <a:p>
            <a:pPr>
              <a:lnSpc>
                <a:spcPct val="100000"/>
              </a:lnSpc>
              <a:buNone/>
            </a:pPr>
            <a:endParaRPr b="0" lang="en-IN" sz="1800" spc="-1" strike="noStrike">
              <a:latin typeface="Arial"/>
            </a:endParaRPr>
          </a:p>
          <a:p>
            <a:pPr>
              <a:lnSpc>
                <a:spcPct val="100000"/>
              </a:lnSpc>
              <a:buNone/>
            </a:pPr>
            <a:endParaRPr b="0" lang="en-IN" sz="1800" spc="-1" strike="noStrike">
              <a:latin typeface="Arial"/>
            </a:endParaRPr>
          </a:p>
          <a:p>
            <a:pPr>
              <a:lnSpc>
                <a:spcPct val="100000"/>
              </a:lnSpc>
              <a:buNone/>
            </a:pPr>
            <a:endParaRPr b="0" lang="en-IN" sz="1800" spc="-1" strike="noStrike">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6" name="" descr=""/>
          <p:cNvPicPr/>
          <p:nvPr/>
        </p:nvPicPr>
        <p:blipFill>
          <a:blip r:embed="rId1"/>
          <a:stretch/>
        </p:blipFill>
        <p:spPr>
          <a:xfrm>
            <a:off x="1530720" y="180000"/>
            <a:ext cx="9267840" cy="8998560"/>
          </a:xfrm>
          <a:prstGeom prst="rect">
            <a:avLst/>
          </a:prstGeom>
          <a:ln w="0">
            <a:noFill/>
          </a:ln>
        </p:spPr>
      </p:pic>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7" name="" descr=""/>
          <p:cNvPicPr/>
          <p:nvPr/>
        </p:nvPicPr>
        <p:blipFill>
          <a:blip r:embed="rId1"/>
          <a:stretch/>
        </p:blipFill>
        <p:spPr>
          <a:xfrm>
            <a:off x="2340000" y="180000"/>
            <a:ext cx="7378560" cy="7386840"/>
          </a:xfrm>
          <a:prstGeom prst="rect">
            <a:avLst/>
          </a:prstGeom>
          <a:ln w="0">
            <a:noFill/>
          </a:ln>
        </p:spPr>
      </p:pic>
      <p:sp>
        <p:nvSpPr>
          <p:cNvPr id="298" name=""/>
          <p:cNvSpPr/>
          <p:nvPr/>
        </p:nvSpPr>
        <p:spPr>
          <a:xfrm>
            <a:off x="3600000" y="7920000"/>
            <a:ext cx="5938560" cy="110844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1" lang="en-IN" sz="2400" spc="-1" strike="noStrike">
                <a:solidFill>
                  <a:srgbClr val="000000"/>
                </a:solidFill>
                <a:latin typeface="Arial"/>
                <a:ea typeface="DejaVu Sans"/>
              </a:rPr>
              <a:t>------linear fit (without weights)--------</a:t>
            </a:r>
            <a:endParaRPr b="0" lang="en-IN" sz="2400" spc="-1" strike="noStrike">
              <a:latin typeface="Arial"/>
            </a:endParaRPr>
          </a:p>
          <a:p>
            <a:pPr>
              <a:lnSpc>
                <a:spcPct val="100000"/>
              </a:lnSpc>
              <a:buNone/>
            </a:pPr>
            <a:r>
              <a:rPr b="0" lang="en-IN" sz="2400" spc="-1" strike="noStrike">
                <a:solidFill>
                  <a:srgbClr val="000000"/>
                </a:solidFill>
                <a:latin typeface="Arial"/>
                <a:ea typeface="DejaVu Sans"/>
              </a:rPr>
              <a:t>intercept and slope      -307      </a:t>
            </a:r>
            <a:r>
              <a:rPr b="1" lang="en-IN" sz="2400" spc="-1" strike="noStrike">
                <a:solidFill>
                  <a:srgbClr val="000000"/>
                </a:solidFill>
                <a:latin typeface="Arial"/>
                <a:ea typeface="DejaVu Sans"/>
              </a:rPr>
              <a:t> 67.84</a:t>
            </a:r>
            <a:endParaRPr b="0" lang="en-IN" sz="2400" spc="-1" strike="noStrike">
              <a:latin typeface="Arial"/>
            </a:endParaRPr>
          </a:p>
          <a:p>
            <a:pPr>
              <a:lnSpc>
                <a:spcPct val="100000"/>
              </a:lnSpc>
              <a:buNone/>
            </a:pPr>
            <a:r>
              <a:rPr b="0" lang="en-IN" sz="2400" spc="-1" strike="noStrike">
                <a:solidFill>
                  <a:srgbClr val="000000"/>
                </a:solidFill>
                <a:latin typeface="Arial"/>
                <a:ea typeface="DejaVu Sans"/>
              </a:rPr>
              <a:t>Fit errors                       202      </a:t>
            </a:r>
            <a:r>
              <a:rPr b="1" lang="en-IN" sz="2400" spc="-1" strike="noStrike">
                <a:solidFill>
                  <a:srgbClr val="000000"/>
                </a:solidFill>
                <a:latin typeface="Arial"/>
                <a:ea typeface="DejaVu Sans"/>
              </a:rPr>
              <a:t>  0.04</a:t>
            </a:r>
            <a:endParaRPr b="0" lang="en-IN" sz="2400" spc="-1" strike="noStrike">
              <a:latin typeface="Arial"/>
            </a:endParaRPr>
          </a:p>
        </p:txBody>
      </p:sp>
      <p:sp>
        <p:nvSpPr>
          <p:cNvPr id="299" name=""/>
          <p:cNvSpPr/>
          <p:nvPr/>
        </p:nvSpPr>
        <p:spPr>
          <a:xfrm>
            <a:off x="7711200" y="5613840"/>
            <a:ext cx="1647360" cy="68472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IN" sz="4200" spc="-1" strike="noStrike">
                <a:solidFill>
                  <a:srgbClr val="000000"/>
                </a:solidFill>
                <a:latin typeface="Arial"/>
                <a:ea typeface="DejaVu Sans"/>
              </a:rPr>
              <a:t>v=H</a:t>
            </a:r>
            <a:r>
              <a:rPr b="0" lang="en-IN" sz="4200" spc="-1" strike="noStrike" baseline="-8000">
                <a:solidFill>
                  <a:srgbClr val="000000"/>
                </a:solidFill>
                <a:latin typeface="Arial"/>
                <a:ea typeface="DejaVu Sans"/>
              </a:rPr>
              <a:t>0</a:t>
            </a:r>
            <a:r>
              <a:rPr b="0" lang="en-IN" sz="4200" spc="-1" strike="noStrike">
                <a:solidFill>
                  <a:srgbClr val="000000"/>
                </a:solidFill>
                <a:latin typeface="Arial"/>
                <a:ea typeface="DejaVu Sans"/>
              </a:rPr>
              <a:t>d</a:t>
            </a:r>
            <a:endParaRPr b="0" lang="en-IN" sz="4200" spc="-1" strike="noStrike">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00" name="" descr=""/>
          <p:cNvPicPr/>
          <p:nvPr/>
        </p:nvPicPr>
        <p:blipFill>
          <a:blip r:embed="rId1"/>
          <a:stretch/>
        </p:blipFill>
        <p:spPr>
          <a:xfrm>
            <a:off x="2700000" y="324000"/>
            <a:ext cx="7198560" cy="7206840"/>
          </a:xfrm>
          <a:prstGeom prst="rect">
            <a:avLst/>
          </a:prstGeom>
          <a:ln w="0">
            <a:noFill/>
          </a:ln>
        </p:spPr>
      </p:pic>
      <p:sp>
        <p:nvSpPr>
          <p:cNvPr id="301" name=""/>
          <p:cNvSpPr/>
          <p:nvPr/>
        </p:nvSpPr>
        <p:spPr>
          <a:xfrm>
            <a:off x="3960000" y="7920360"/>
            <a:ext cx="5938560" cy="110844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1" lang="en-IN" sz="2400" spc="-1" strike="noStrike">
                <a:solidFill>
                  <a:srgbClr val="000000"/>
                </a:solidFill>
                <a:latin typeface="Arial"/>
                <a:ea typeface="DejaVu Sans"/>
              </a:rPr>
              <a:t>-----linear fit (with weights)-----</a:t>
            </a:r>
            <a:endParaRPr b="0" lang="en-IN" sz="2400" spc="-1" strike="noStrike">
              <a:latin typeface="Arial"/>
            </a:endParaRPr>
          </a:p>
          <a:p>
            <a:pPr>
              <a:lnSpc>
                <a:spcPct val="100000"/>
              </a:lnSpc>
              <a:buNone/>
            </a:pPr>
            <a:r>
              <a:rPr b="0" lang="en-IN" sz="2400" spc="-1" strike="noStrike">
                <a:solidFill>
                  <a:srgbClr val="000000"/>
                </a:solidFill>
                <a:latin typeface="Arial"/>
                <a:ea typeface="DejaVu Sans"/>
              </a:rPr>
              <a:t>intercept and slope      -49      </a:t>
            </a:r>
            <a:r>
              <a:rPr b="1" lang="en-IN" sz="2400" spc="-1" strike="noStrike">
                <a:solidFill>
                  <a:srgbClr val="000000"/>
                </a:solidFill>
                <a:latin typeface="Arial"/>
                <a:ea typeface="DejaVu Sans"/>
              </a:rPr>
              <a:t> 68</a:t>
            </a:r>
            <a:endParaRPr b="0" lang="en-IN" sz="2400" spc="-1" strike="noStrike">
              <a:latin typeface="Arial"/>
            </a:endParaRPr>
          </a:p>
          <a:p>
            <a:pPr>
              <a:lnSpc>
                <a:spcPct val="100000"/>
              </a:lnSpc>
              <a:buNone/>
            </a:pPr>
            <a:r>
              <a:rPr b="0" lang="en-IN" sz="2400" spc="-1" strike="noStrike">
                <a:solidFill>
                  <a:srgbClr val="000000"/>
                </a:solidFill>
                <a:latin typeface="Arial"/>
                <a:ea typeface="DejaVu Sans"/>
              </a:rPr>
              <a:t>Fit errors                    9828      </a:t>
            </a:r>
            <a:r>
              <a:rPr b="1" lang="en-IN" sz="2400" spc="-1" strike="noStrike">
                <a:solidFill>
                  <a:srgbClr val="000000"/>
                </a:solidFill>
                <a:latin typeface="Arial"/>
                <a:ea typeface="DejaVu Sans"/>
              </a:rPr>
              <a:t>  2</a:t>
            </a:r>
            <a:endParaRPr b="0" lang="en-IN" sz="2400" spc="-1" strike="noStrike">
              <a:latin typeface="Arial"/>
            </a:endParaRPr>
          </a:p>
          <a:p>
            <a:pPr>
              <a:lnSpc>
                <a:spcPct val="100000"/>
              </a:lnSpc>
              <a:buNone/>
            </a:pPr>
            <a:r>
              <a:rPr b="1" lang="en-IN" sz="2400" spc="-1" strike="noStrike">
                <a:solidFill>
                  <a:srgbClr val="000000"/>
                </a:solidFill>
                <a:latin typeface="Arial"/>
                <a:ea typeface="DejaVu Sans"/>
              </a:rPr>
              <a:t>--------------------------------------------</a:t>
            </a:r>
            <a:endParaRPr b="0" lang="en-IN" sz="2400" spc="-1" strike="noStrike">
              <a:latin typeface="Arial"/>
            </a:endParaRPr>
          </a:p>
        </p:txBody>
      </p:sp>
      <p:sp>
        <p:nvSpPr>
          <p:cNvPr id="302" name=""/>
          <p:cNvSpPr/>
          <p:nvPr/>
        </p:nvSpPr>
        <p:spPr>
          <a:xfrm>
            <a:off x="8100000" y="5793840"/>
            <a:ext cx="1647360" cy="68472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IN" sz="4200" spc="-1" strike="noStrike">
                <a:solidFill>
                  <a:srgbClr val="000000"/>
                </a:solidFill>
                <a:latin typeface="Arial"/>
                <a:ea typeface="DejaVu Sans"/>
              </a:rPr>
              <a:t>v=H</a:t>
            </a:r>
            <a:r>
              <a:rPr b="0" lang="en-IN" sz="4200" spc="-1" strike="noStrike" baseline="-8000">
                <a:solidFill>
                  <a:srgbClr val="000000"/>
                </a:solidFill>
                <a:latin typeface="Arial"/>
                <a:ea typeface="DejaVu Sans"/>
              </a:rPr>
              <a:t>0</a:t>
            </a:r>
            <a:r>
              <a:rPr b="0" lang="en-IN" sz="4200" spc="-1" strike="noStrike">
                <a:solidFill>
                  <a:srgbClr val="000000"/>
                </a:solidFill>
                <a:latin typeface="Arial"/>
                <a:ea typeface="DejaVu Sans"/>
              </a:rPr>
              <a:t>d</a:t>
            </a:r>
            <a:endParaRPr b="0" lang="en-IN" sz="4200" spc="-1" strike="noStrike">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03" name="" descr=""/>
          <p:cNvPicPr/>
          <p:nvPr/>
        </p:nvPicPr>
        <p:blipFill>
          <a:blip r:embed="rId1"/>
          <a:stretch/>
        </p:blipFill>
        <p:spPr>
          <a:xfrm>
            <a:off x="7452000" y="4320000"/>
            <a:ext cx="3313800" cy="510840"/>
          </a:xfrm>
          <a:prstGeom prst="rect">
            <a:avLst/>
          </a:prstGeom>
          <a:ln w="0">
            <a:noFill/>
          </a:ln>
        </p:spPr>
      </p:pic>
      <p:pic>
        <p:nvPicPr>
          <p:cNvPr id="304" name="" descr=""/>
          <p:cNvPicPr/>
          <p:nvPr/>
        </p:nvPicPr>
        <p:blipFill>
          <a:blip r:embed="rId2"/>
          <a:stretch/>
        </p:blipFill>
        <p:spPr>
          <a:xfrm>
            <a:off x="1512000" y="3205800"/>
            <a:ext cx="6010560" cy="2947320"/>
          </a:xfrm>
          <a:prstGeom prst="rect">
            <a:avLst/>
          </a:prstGeom>
          <a:ln w="0">
            <a:noFill/>
          </a:ln>
        </p:spPr>
      </p:pic>
      <p:pic>
        <p:nvPicPr>
          <p:cNvPr id="305" name="" descr=""/>
          <p:cNvPicPr/>
          <p:nvPr/>
        </p:nvPicPr>
        <p:blipFill>
          <a:blip r:embed="rId3"/>
          <a:stretch/>
        </p:blipFill>
        <p:spPr>
          <a:xfrm>
            <a:off x="6014880" y="6228000"/>
            <a:ext cx="6697800" cy="3452040"/>
          </a:xfrm>
          <a:prstGeom prst="rect">
            <a:avLst/>
          </a:prstGeom>
          <a:ln w="0">
            <a:noFill/>
          </a:ln>
        </p:spPr>
      </p:pic>
      <p:pic>
        <p:nvPicPr>
          <p:cNvPr id="306" name="" descr=""/>
          <p:cNvPicPr/>
          <p:nvPr/>
        </p:nvPicPr>
        <p:blipFill>
          <a:blip r:embed="rId4"/>
          <a:stretch/>
        </p:blipFill>
        <p:spPr>
          <a:xfrm>
            <a:off x="108000" y="91080"/>
            <a:ext cx="5506560" cy="3075480"/>
          </a:xfrm>
          <a:prstGeom prst="rect">
            <a:avLst/>
          </a:prstGeom>
          <a:ln w="0">
            <a:noFill/>
          </a:ln>
        </p:spPr>
      </p:pic>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7" name=""/>
          <p:cNvSpPr/>
          <p:nvPr/>
        </p:nvSpPr>
        <p:spPr>
          <a:xfrm>
            <a:off x="720000" y="540000"/>
            <a:ext cx="11699640" cy="78843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1" lang="en-IN" sz="3200" spc="-1" strike="noStrike">
                <a:latin typeface="Arial"/>
              </a:rPr>
              <a:t>Relative Photometry</a:t>
            </a:r>
            <a:endParaRPr b="0" lang="en-IN" sz="3200" spc="-1" strike="noStrike">
              <a:latin typeface="Arial"/>
            </a:endParaRPr>
          </a:p>
          <a:p>
            <a:pPr>
              <a:lnSpc>
                <a:spcPct val="100000"/>
              </a:lnSpc>
              <a:buNone/>
            </a:pPr>
            <a:r>
              <a:rPr b="0" lang="en-IN" sz="2600" spc="-1" strike="noStrike">
                <a:latin typeface="Arial"/>
              </a:rPr>
              <a:t>• </a:t>
            </a:r>
            <a:r>
              <a:rPr b="0" lang="en-IN" sz="2600" spc="-1" strike="noStrike">
                <a:latin typeface="Arial"/>
              </a:rPr>
              <a:t>Definition: Brightness of one star measured relative to another star.</a:t>
            </a:r>
            <a:endParaRPr b="0" lang="en-IN" sz="2600" spc="-1" strike="noStrike">
              <a:latin typeface="Arial"/>
            </a:endParaRPr>
          </a:p>
          <a:p>
            <a:pPr>
              <a:lnSpc>
                <a:spcPct val="100000"/>
              </a:lnSpc>
              <a:buNone/>
            </a:pPr>
            <a:r>
              <a:rPr b="0" lang="en-IN" sz="2600" spc="-1" strike="noStrike">
                <a:latin typeface="Arial"/>
              </a:rPr>
              <a:t>• </a:t>
            </a:r>
            <a:r>
              <a:rPr b="0" lang="en-IN" sz="2600" spc="-1" strike="noStrike">
                <a:latin typeface="Arial"/>
              </a:rPr>
              <a:t>Why use it? Atmospheric variations &amp; instrument response make absolute flux difficult, but flux ratios are more precise.</a:t>
            </a:r>
            <a:endParaRPr b="0" lang="en-IN" sz="2600" spc="-1" strike="noStrike">
              <a:latin typeface="Arial"/>
            </a:endParaRPr>
          </a:p>
          <a:p>
            <a:pPr>
              <a:lnSpc>
                <a:spcPct val="100000"/>
              </a:lnSpc>
              <a:buNone/>
            </a:pPr>
            <a:r>
              <a:rPr b="0" lang="en-IN" sz="2600" spc="-1" strike="noStrike">
                <a:latin typeface="Arial"/>
              </a:rPr>
              <a:t>• </a:t>
            </a:r>
            <a:r>
              <a:rPr b="0" lang="en-IN" sz="2600" spc="-1" strike="noStrike">
                <a:latin typeface="Arial"/>
              </a:rPr>
              <a:t>Pogson magnitude scale: Δm = 5 → brightness ratio = 100</a:t>
            </a:r>
            <a:endParaRPr b="0" lang="en-IN" sz="2600" spc="-1" strike="noStrike">
              <a:latin typeface="Arial"/>
            </a:endParaRPr>
          </a:p>
          <a:p>
            <a:pPr>
              <a:lnSpc>
                <a:spcPct val="100000"/>
              </a:lnSpc>
              <a:buNone/>
            </a:pPr>
            <a:r>
              <a:rPr b="0" lang="en-IN" sz="2600" spc="-1" strike="noStrike">
                <a:latin typeface="Arial"/>
              </a:rPr>
              <a:t>• </a:t>
            </a:r>
            <a:r>
              <a:rPr b="0" lang="en-IN" sz="2600" spc="-1" strike="noStrike">
                <a:latin typeface="Arial"/>
              </a:rPr>
              <a:t>Magnitude step factor: 100</a:t>
            </a:r>
            <a:r>
              <a:rPr b="0" lang="en-IN" sz="2600" spc="-1" strike="noStrike" baseline="33000">
                <a:latin typeface="Arial"/>
              </a:rPr>
              <a:t>1/5</a:t>
            </a:r>
            <a:r>
              <a:rPr b="0" lang="en-IN" sz="2600" spc="-1" strike="noStrike">
                <a:latin typeface="Arial"/>
              </a:rPr>
              <a:t>=(2.512</a:t>
            </a:r>
            <a:r>
              <a:rPr b="0" lang="en-IN" sz="2600" spc="-1" strike="noStrike" baseline="33000">
                <a:latin typeface="Arial"/>
              </a:rPr>
              <a:t>5</a:t>
            </a:r>
            <a:r>
              <a:rPr b="0" lang="en-IN" sz="2600" spc="-1" strike="noStrike">
                <a:latin typeface="Arial"/>
              </a:rPr>
              <a:t>)</a:t>
            </a:r>
            <a:r>
              <a:rPr b="0" lang="en-IN" sz="2600" spc="-1" strike="noStrike" baseline="33000">
                <a:latin typeface="Arial"/>
              </a:rPr>
              <a:t>1/5</a:t>
            </a:r>
            <a:r>
              <a:rPr b="0" lang="en-IN" sz="2600" spc="-1" strike="noStrike">
                <a:latin typeface="Arial"/>
              </a:rPr>
              <a:t> =2.512</a:t>
            </a:r>
            <a:endParaRPr b="0" lang="en-IN" sz="2600" spc="-1" strike="noStrike">
              <a:latin typeface="Arial"/>
            </a:endParaRPr>
          </a:p>
          <a:p>
            <a:pPr>
              <a:lnSpc>
                <a:spcPct val="100000"/>
              </a:lnSpc>
              <a:buNone/>
            </a:pPr>
            <a:r>
              <a:rPr b="0" lang="en-IN" sz="2600" spc="-1" strike="noStrike">
                <a:latin typeface="Arial"/>
                <a:ea typeface="Noto Sans CJK SC"/>
              </a:rPr>
              <a:t>• </a:t>
            </a:r>
            <a:r>
              <a:rPr b="0" lang="en-IN" sz="2600" spc="-1" strike="noStrike">
                <a:latin typeface="Arial"/>
                <a:ea typeface="Noto Sans CJK SC"/>
              </a:rPr>
              <a:t>Flux–magnitude relation: f1/f2=2.512</a:t>
            </a:r>
            <a:r>
              <a:rPr b="0" lang="en-IN" sz="2600" spc="-1" strike="noStrike" baseline="33000">
                <a:latin typeface="Arial"/>
                <a:ea typeface="Noto Sans CJK SC"/>
              </a:rPr>
              <a:t>(m2−m1)</a:t>
            </a:r>
            <a:endParaRPr b="0" lang="en-IN" sz="2600" spc="-1" strike="noStrike">
              <a:latin typeface="Arial"/>
            </a:endParaRPr>
          </a:p>
          <a:p>
            <a:pPr>
              <a:lnSpc>
                <a:spcPct val="100000"/>
              </a:lnSpc>
              <a:buNone/>
            </a:pPr>
            <a:r>
              <a:rPr b="0" lang="en-IN" sz="2600" spc="-1" strike="noStrike">
                <a:latin typeface="Arial"/>
                <a:ea typeface="Noto Sans CJK SC"/>
              </a:rPr>
              <a:t>• </a:t>
            </a:r>
            <a:r>
              <a:rPr b="0" lang="en-IN" sz="2600" spc="-1" strike="noStrike">
                <a:latin typeface="Arial"/>
                <a:ea typeface="Noto Sans CJK SC"/>
              </a:rPr>
              <a:t>Logarithmic form: m1−m2=−2.5log⁡ ⁣(f1/f2)</a:t>
            </a:r>
            <a:endParaRPr b="0" lang="en-IN" sz="2600" spc="-1" strike="noStrike">
              <a:latin typeface="Arial"/>
            </a:endParaRPr>
          </a:p>
          <a:p>
            <a:pPr>
              <a:lnSpc>
                <a:spcPct val="100000"/>
              </a:lnSpc>
              <a:buNone/>
            </a:pPr>
            <a:r>
              <a:rPr b="0" lang="en-IN" sz="2600" spc="-1" strike="noStrike">
                <a:latin typeface="Arial"/>
                <a:ea typeface="Noto Sans CJK SC"/>
              </a:rPr>
              <a:t>• </a:t>
            </a:r>
            <a:r>
              <a:rPr b="0" lang="en-IN" sz="2600" spc="-1" strike="noStrike">
                <a:latin typeface="Arial"/>
                <a:ea typeface="Noto Sans CJK SC"/>
              </a:rPr>
              <a:t>Relative scale: These equations compare stars, so magnitudes represent relative brightness differences.</a:t>
            </a:r>
            <a:endParaRPr b="0" lang="en-IN" sz="2600" spc="-1" strike="noStrike">
              <a:latin typeface="Arial"/>
            </a:endParaRPr>
          </a:p>
          <a:p>
            <a:pPr>
              <a:lnSpc>
                <a:spcPct val="100000"/>
              </a:lnSpc>
              <a:buNone/>
            </a:pPr>
            <a:r>
              <a:rPr b="0" lang="en-IN" sz="2600" spc="-1" strike="noStrike">
                <a:latin typeface="Arial"/>
                <a:ea typeface="Noto Sans CJK SC"/>
              </a:rPr>
              <a:t>• </a:t>
            </a:r>
            <a:r>
              <a:rPr b="0" lang="en-IN" sz="2600" spc="-1" strike="noStrike">
                <a:latin typeface="Arial"/>
                <a:ea typeface="Noto Sans CJK SC"/>
              </a:rPr>
              <a:t>Relative photometry: If the magnitude zero-point is ignored, only brightness ratios (Δm) are used.</a:t>
            </a:r>
            <a:endParaRPr b="0" lang="en-IN" sz="2600" spc="-1" strike="noStrike">
              <a:latin typeface="Arial"/>
            </a:endParaRPr>
          </a:p>
          <a:p>
            <a:pPr>
              <a:lnSpc>
                <a:spcPct val="100000"/>
              </a:lnSpc>
              <a:buNone/>
            </a:pPr>
            <a:r>
              <a:rPr b="0" lang="en-IN" sz="2600" spc="-1" strike="noStrike">
                <a:latin typeface="Arial"/>
                <a:ea typeface="Noto Sans CJK SC"/>
              </a:rPr>
              <a:t>• </a:t>
            </a:r>
            <a:r>
              <a:rPr b="0" lang="en-IN" sz="2600" spc="-1" strike="noStrike">
                <a:latin typeface="Arial"/>
                <a:ea typeface="Noto Sans CJK SC"/>
              </a:rPr>
              <a:t>Common practice: Compare stars using standard reference stars.</a:t>
            </a:r>
            <a:endParaRPr b="0" lang="en-IN" sz="2600" spc="-1" strike="noStrike">
              <a:latin typeface="Arial"/>
            </a:endParaRPr>
          </a:p>
          <a:p>
            <a:pPr>
              <a:lnSpc>
                <a:spcPct val="100000"/>
              </a:lnSpc>
              <a:buNone/>
            </a:pPr>
            <a:endParaRPr b="0" lang="en-IN" sz="1000" spc="-1" strike="noStrike">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34888</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2026-03-16T08:32:19Z</dcterms:modified>
  <cp:revision>1197</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r8>0</vt:r8>
  </property>
  <property fmtid="{D5CDD505-2E9C-101B-9397-08002B2CF9AE}" pid="3" name="HyperlinksChanged">
    <vt:bool>0</vt:bool>
  </property>
  <property fmtid="{D5CDD505-2E9C-101B-9397-08002B2CF9AE}" pid="4" name="LinksUpToDate">
    <vt:bool>0</vt:bool>
  </property>
  <property fmtid="{D5CDD505-2E9C-101B-9397-08002B2CF9AE}" pid="5" name="MMClips">
    <vt:r8>0</vt:r8>
  </property>
  <property fmtid="{D5CDD505-2E9C-101B-9397-08002B2CF9AE}" pid="6" name="Notes">
    <vt:r8>0</vt:r8>
  </property>
  <property fmtid="{D5CDD505-2E9C-101B-9397-08002B2CF9AE}" pid="7" name="PresentationFormat">
    <vt:lpwstr>Custom</vt:lpwstr>
  </property>
  <property fmtid="{D5CDD505-2E9C-101B-9397-08002B2CF9AE}" pid="8" name="ScaleCrop">
    <vt:bool>0</vt:bool>
  </property>
  <property fmtid="{D5CDD505-2E9C-101B-9397-08002B2CF9AE}" pid="9" name="ShareDoc">
    <vt:bool>0</vt:bool>
  </property>
  <property fmtid="{D5CDD505-2E9C-101B-9397-08002B2CF9AE}" pid="10" name="Slides">
    <vt:r8>35</vt:r8>
  </property>
</Properties>
</file>